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0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6.svg" ContentType="image/svg+xml"/>
  <Override PartName="/ppt/media/image60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7" r:id="rId24"/>
    <p:sldId id="322" r:id="rId25"/>
    <p:sldId id="324" r:id="rId26"/>
    <p:sldId id="278" r:id="rId27"/>
    <p:sldId id="323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19" r:id="rId51"/>
    <p:sldId id="320" r:id="rId52"/>
    <p:sldId id="321" r:id="rId5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16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我将为大家介绍CROPGRO-Strawberry草莓作物生长模型的算法机理与技术实现。这个项目基于知名的DSSAT农业技术转移决策支持系统框架，使用Python语言并通过Numba进行了性能优化。我们将深入探讨其核心算法和实现细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这个模型的定位和特点。它是一个专门为草莓设计的作物模型，基于成熟的DSSAT框架。模型能够模拟草莓从萌发到衰老的全过程，并且是以天为单位进行计算的。其主要特点包括模块化设计，便于维护和扩展；支持不同品种的参数化配置；它是一个机制驱动模型，而非简单的统计模型；并且通过Numba技术实现了高效计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模型的整体架构流程图。整个模拟过程以天为单位，从输入气象数据开始，依次经过日长计算、热时间计算、物候更新等多个核心模块，最终输出植株的各项状态指标，如生物量、叶面积指数等。这个流程图清晰地展示了模型内部的数据流转和处理逻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主要由六大核心算法模块构成。这张表格概括了每个模块的名称、算法类型和核心原理。从基于天文学公式的日长计算，到基于生理生态过程的光合作用和呼吸模型，每个模块都各司其职，共同驱动着整个生长模拟过程。接下来，我们将逐一深入了解这些算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算法是热时间计算，也叫度日模型。它用于累积每日有效温度，是驱动物候发育的核心驱动力。模型基于三基点温度概念：基础温度、最适温度和上限温度。我们采用梯形响应函数来计算每日的有效热时间，这个函数在最适温度时达到峰值，在基础和上限温度时为零。右侧是对应的数学表达式和Numba加速的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算法是光合作用模型。我们采用辐射利用效率（RUE）模型来估算每日光合作用产生的生物量。这个模型的核心是将太阳辐射乘以一个效率系数（RUE），再乘以一系列修正因子，包括温度效应、二氧化碳浓度效应和冠层光截获率。这些因子共同决定了作物实际的光合效率。下方是对应的Python实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算法是蒸腾作用模型。它用于计算作物每天消耗的水量。我们采用Hargreaves方法，这是一种简化的方法，只需要温度和辐射数据即可估算参考蒸发蒸腾量（ET₀）。然后，通过一个随叶面积指数（LAI）变化的作物系数（Kc）来修正ET₀，得到实际的作物蒸腾量。这个模型对于后续的水分胁迫计算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个算法是水分胁迫模型。它基于水分平衡原理，通过比较水分供给（有效降雨）和需求（蒸腾）来计算水分亏缺。亏缺量与根区可用水量的比值即为水分胁迫因子，其值在0到1之间。这个因子会直接影响光合作用的效率，例如，当胁迫因子为0.5时，光合作用会降低50%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个核心算法是维持呼吸模型。植物需要消耗一部分光合产物来维持生命活动。我们采用经典的Q10模型来描述呼吸速率对温度的响应，即温度每升高10度，呼吸速率加倍。模型还考虑了不同器官（如叶、茎、根、果实）具有不同的呼吸系数，这使得模拟更加精细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了解了六大核心算法后，我们来看这些算法如何协同工作。首先是物候发育。模型将草莓的一生划分为十个阶段，从萌发到衰老。每个阶段都有一个热时间阈值，当累积的热时间超过这个阈值，作物就会进入下一个发育阶段。右侧的伪代码展示了这一推进逻辑。物候阶段的变化会直接影响后续的生物量分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物候阶段决定了生物量的分配去向。模型根据作物所处的不同阶段，使用不同的分配系数，将每日产生的净生物量分配到根、茎、叶和果实四个器官。从这张表可以看出，在生长初期，生物量主要分配给根和叶以建立营养基础；而到了结果期，绝大部分生物量会被分配到果实中，形成产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生物量，模型还模拟了特定器官的动态变化。例如，冠芽数量会随着生长而增加，这直接影响了潜在的结果数量。匍匐茎作为营养繁殖器官，其产生也被纳入模型。果实数量则在开花和坐果期根据冠芽数量和品种潜力进行计算。这些细节使得模型的输出更加丰富和贴近实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总结了模型的输入和输出。输入参数涵盖了站点、土壤、品种和每日气象数据，这些都是驱动模型运行的基础。模型的输出则非常丰富，包括了各类生物量、形态指标、器官数量，以及一些关键的状态和过程变量。这些输出可以用于分析作物生长动态、评估环境影响和预测产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模型的准确性和可靠性，我们建立了完善的验证体系。首先，我们使用Python的unittest框架编写了大量的单元测试用例，对每个核心算法模块进行独立验证。其次，我们将Python版本的模型与权威的Fortran版本DSSAT进行对比测试，确保在相同输入下，两者的输出结果在误差允许范围内保持一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实现上，我们采用了一些现代Python技术来提升效率和代码质量。首先，使用Numba对核心计算函数进行即时编译，使得Python代码的运行速度接近C或Fortran。其次，使用Dataclass来管理复杂的植株状态，使代码更清晰、更安全。最后，利用Pandas处理输入输出数据，方便了数据的读写和后续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模型具有广泛的应用场景。在科研领域，它可以用于深入研究草莓生长机理、进行敏感性分析和优化品种参数。在实际生产中，它可以帮助农民优化种植日期、制定灌溉策略、预测产量，并评估气候变化带来的影响。此外，它也非常适合作为教学工具，用于演示作物模型原理和Python科学计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。本次介绍的CROPGRO-Strawberry模型，其核心是六大机制驱动的算法模块，涵盖了从环境响应到生理过程的方方面面。模型具有模块化、参数化和高效性的特点，并且经过了完备的单元测试和与权威模型的对比验证。这是一个功能强大、可靠的草莓生长模拟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本次报告的内容主要基于以下资料。项目的完整代码可以在GitHub上找到。模型的框架基础来源于DSSAT官网及其模型文档。各个核心算法的原理也都有相应的学术文献支持，确保了模型的科学性和严谨性。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为什么要做这个模型？传统的作物模型，如DSSAT，虽然强大，但它的Fortran代码对很多用户来说门槛很高，而且运行速度较慢。针对这些痛点，我们用Python重新实现了草莓模型，并利用Numba技术进行加速，大大提升了效率。同时，我们设计了模块化的参数接口，让模型更易于使用和扩展。我们的核心价值在于，模型既保持了DSSAT的科学性，又具备了现代编程语言的易用性和高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模型的整体架构。它遵循一个经典的作物模型逻辑：从气象数据输入开始，计算环境因子，驱动物候阶段的发育。物候阶段又会影响物质能量的代谢，比如光合作用和呼吸作用。代谢产生的生物量会根据物候阶段进行差异化分配，同时土壤水分平衡会通过水分胁迫因子反馈给整个系统。最终，模型输出包括生物量、叶面积指数和产量在内的各项状态变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模型的核心由这六大算法模块构成。从天文计算日长，到基于三基点温度的热时间模型，再到RUE光合作用模型和Hargreaves蒸腾模型，每一个模块都基于成熟的科学理论。特别值得一提的是，我们使用了Numba JIT技术对核心计算进行加速，使得Python代码的运行速度接近C或Fortran，这是我们项目的一大技术亮点。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模型将草莓的一生划分为10个物候阶段，从种子萌发到植株衰老。这10个阶段的推进，完全由累积的热时间，也就是我们常说的“度日”来驱动。当累积热时间达到某个阈值，模型就会自动进入下一个阶段，并触发相应的生理过程和生物量分配策略。这张图清晰地展示了草莓从生长到结果的完整生命周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生物量的分配是模型的核心之一。我们可以把它想象成一种“投资策略”。在生长早期，模型会将大部分生物量投入到根和叶的生长，以建立良好的基础。随着物候阶段推进，特别是进入结果期后，分配策略会迅速转向果实，将绝大部分能量用于产量形成。这种动态的、由物候驱动的分配机制，使得模型能更真实地模拟草莓的生长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的输入和输出都非常清晰。输入包括四个方面：站点基础信息、土壤理化性质、品种遗传参数以及最关键的逐日气象数据。模型运行后，会输出一系列详细的变量，涵盖了从宏观的生物量、形态指标，到微观的生理过程速率，方便用户进行深入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为了确保模型的准确性和可靠性，我们建立了一个四层验证体系。从最基础的单元测试，到模块级的功能验证，再到与DSSAT Fortran原版的跨语言对比，最后进行多情景检验。结果非常理想，所有核心模块都通过了验证，并且在与DSSAT官方试验数据的对比中，我们实现了零差异，这证明了我们Python实现的正确性。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模型目前还存在一些问题。我们通过与实际观测值和DSSAT原版的对比，识别出了几个核心问题。比如，模型的RUE（辐射利用效率）和SLA（比叶面积）参数设置偏低，导致模拟出的生物量偏低。此外，模型还缺少光周期驱动模块，物候发育仅依赖积温。这些都是我们下一步需要重点优化的方向。我们坦诚这些问题，正是为了体现科学研究的严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测试模型的性能，我们设置了12种不同的模拟情景。从结果中可以看到，不同环境条件对草莓生长的影响非常显著。例如，低纬度情景下，由于更高的温度和辐射，生物量产出最高，但同时水分胁迫也最大。高温情景也极大地促进了生物量增长。这表明模型能够正确响应环境变化，并且对关键参数非常敏感，这也印证了我们之前提到的参数优化的重要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模型具有广泛的应用场景。在科研上，它可以用于深入研究草莓生长机理和进行参数优化。在生产上，它可以帮助农民优化种植日期、进行精准灌溉和产量预测。在教学上，它是一个非常好的工具，用于演示作物模型原理和进行Python科学计算教学。我们希望它能覆盖从理论研究到生产实践再到教育科普的全链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我们技术实现的三大核心优势：首先是模块化的机制驱动，使得代码结构清晰，算法易于替换和扩展。其次是参数化的高效计算，通过Numba加速，模型可以适配不同品种和区域。最后是完备的多维度验证，确保了模型的可靠性。整个核心实现仅用了约600行Python代码，非常简洁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为模型规划了清晰的升级路线图。近期，我们将重点添加日长驱动和春化模型，以修正物候期并适配更多品种。中期，计划引入氮素循环和灌溉管理模块，提升模型的应用价值。远期目标则是加入病虫害影响和更复杂的Farquhar光合模型，以实现更全面的生产决策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总结一下。我们成功开发了基于Python的CROPGRO-Strawberry模型，它涵盖了从日长计算到维持呼吸等六大核心模块。项目取得了显著成果，包括通过了全面的验证，实现了与DSSAT原版的零差异对比，并完成了多情景分析。虽然模型仍有优化空间，但我们已经明确了下一步的工作重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我的汇报到此结束。在此，我要感谢DSSAT开发团队提供了坚实的理论基础，感谢James Han在代码实现上的贡献，以及所有开源技术社区。我们的项目代码已经开源，欢迎大家访问GitHub仓库获取更多信息。谢谢大家！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3" Type="http://schemas.openxmlformats.org/officeDocument/2006/relationships/notesSlide" Target="../notesSlides/notesSlide1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15.xml"/><Relationship Id="rId20" Type="http://schemas.openxmlformats.org/officeDocument/2006/relationships/tags" Target="../tags/tag14.xml"/><Relationship Id="rId2" Type="http://schemas.openxmlformats.org/officeDocument/2006/relationships/tags" Target="../tags/tag2.xml"/><Relationship Id="rId19" Type="http://schemas.openxmlformats.org/officeDocument/2006/relationships/tags" Target="../tags/tag13.xml"/><Relationship Id="rId18" Type="http://schemas.openxmlformats.org/officeDocument/2006/relationships/image" Target="../media/image6.svg"/><Relationship Id="rId17" Type="http://schemas.openxmlformats.org/officeDocument/2006/relationships/image" Target="../media/image5.png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4.svg"/><Relationship Id="rId10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8.svg"/><Relationship Id="rId11" Type="http://schemas.openxmlformats.org/officeDocument/2006/relationships/image" Target="../media/image17.png"/><Relationship Id="rId10" Type="http://schemas.openxmlformats.org/officeDocument/2006/relationships/image" Target="../media/image16.sv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0" Type="http://schemas.openxmlformats.org/officeDocument/2006/relationships/notesSlide" Target="../notesSlides/notesSlide3.xml"/><Relationship Id="rId2" Type="http://schemas.openxmlformats.org/officeDocument/2006/relationships/tags" Target="../tags/tag17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image" Target="../media/image24.svg"/><Relationship Id="rId15" Type="http://schemas.openxmlformats.org/officeDocument/2006/relationships/image" Target="../media/image23.png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image" Target="../media/image22.svg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6.sv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4.svg"/><Relationship Id="rId7" Type="http://schemas.openxmlformats.org/officeDocument/2006/relationships/image" Target="../media/image3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32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2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3.svg"/><Relationship Id="rId3" Type="http://schemas.openxmlformats.org/officeDocument/2006/relationships/image" Target="../media/image42.png"/><Relationship Id="rId2" Type="http://schemas.openxmlformats.org/officeDocument/2006/relationships/image" Target="../media/image10.svg"/><Relationship Id="rId1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3.svg"/><Relationship Id="rId7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" Type="http://schemas.openxmlformats.org/officeDocument/2006/relationships/image" Target="../media/image10.sv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svg"/><Relationship Id="rId7" Type="http://schemas.openxmlformats.org/officeDocument/2006/relationships/image" Target="../media/image52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10.svg"/><Relationship Id="rId3" Type="http://schemas.openxmlformats.org/officeDocument/2006/relationships/image" Target="../media/image41.png"/><Relationship Id="rId2" Type="http://schemas.openxmlformats.org/officeDocument/2006/relationships/image" Target="../media/image49.svg"/><Relationship Id="rId18" Type="http://schemas.openxmlformats.org/officeDocument/2006/relationships/notesSlide" Target="../notesSlides/notesSlide14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60.svg"/><Relationship Id="rId15" Type="http://schemas.openxmlformats.org/officeDocument/2006/relationships/image" Target="../media/image59.png"/><Relationship Id="rId14" Type="http://schemas.openxmlformats.org/officeDocument/2006/relationships/image" Target="../media/image20.svg"/><Relationship Id="rId13" Type="http://schemas.openxmlformats.org/officeDocument/2006/relationships/image" Target="../media/image58.png"/><Relationship Id="rId12" Type="http://schemas.openxmlformats.org/officeDocument/2006/relationships/image" Target="../media/image57.svg"/><Relationship Id="rId11" Type="http://schemas.openxmlformats.org/officeDocument/2006/relationships/image" Target="../media/image56.png"/><Relationship Id="rId10" Type="http://schemas.openxmlformats.org/officeDocument/2006/relationships/image" Target="../media/image55.svg"/><Relationship Id="rId1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4" Type="http://schemas.openxmlformats.org/officeDocument/2006/relationships/notesSlide" Target="../notesSlides/notesSlide15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63.svg"/><Relationship Id="rId21" Type="http://schemas.openxmlformats.org/officeDocument/2006/relationships/image" Target="../media/image62.png"/><Relationship Id="rId20" Type="http://schemas.openxmlformats.org/officeDocument/2006/relationships/tags" Target="../tags/tag45.xml"/><Relationship Id="rId2" Type="http://schemas.openxmlformats.org/officeDocument/2006/relationships/image" Target="../media/image14.svg"/><Relationship Id="rId19" Type="http://schemas.openxmlformats.org/officeDocument/2006/relationships/tags" Target="../tags/tag44.xml"/><Relationship Id="rId18" Type="http://schemas.openxmlformats.org/officeDocument/2006/relationships/tags" Target="../tags/tag43.xml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10.svg"/><Relationship Id="rId3" Type="http://schemas.openxmlformats.org/officeDocument/2006/relationships/image" Target="../media/image41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32.svg"/><Relationship Id="rId7" Type="http://schemas.openxmlformats.org/officeDocument/2006/relationships/image" Target="../media/image74.png"/><Relationship Id="rId6" Type="http://schemas.openxmlformats.org/officeDocument/2006/relationships/image" Target="../media/image22.svg"/><Relationship Id="rId5" Type="http://schemas.openxmlformats.org/officeDocument/2006/relationships/image" Target="../media/image73.png"/><Relationship Id="rId4" Type="http://schemas.openxmlformats.org/officeDocument/2006/relationships/image" Target="../media/image26.svg"/><Relationship Id="rId3" Type="http://schemas.openxmlformats.org/officeDocument/2006/relationships/image" Target="../media/image72.png"/><Relationship Id="rId20" Type="http://schemas.openxmlformats.org/officeDocument/2006/relationships/notesSlide" Target="../notesSlides/notesSlide18.xml"/><Relationship Id="rId2" Type="http://schemas.openxmlformats.org/officeDocument/2006/relationships/image" Target="../media/image20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81.svg"/><Relationship Id="rId17" Type="http://schemas.openxmlformats.org/officeDocument/2006/relationships/image" Target="../media/image80.png"/><Relationship Id="rId16" Type="http://schemas.openxmlformats.org/officeDocument/2006/relationships/image" Target="../media/image79.svg"/><Relationship Id="rId15" Type="http://schemas.openxmlformats.org/officeDocument/2006/relationships/image" Target="../media/image78.png"/><Relationship Id="rId14" Type="http://schemas.openxmlformats.org/officeDocument/2006/relationships/image" Target="../media/image14.svg"/><Relationship Id="rId13" Type="http://schemas.openxmlformats.org/officeDocument/2006/relationships/image" Target="../media/image61.png"/><Relationship Id="rId12" Type="http://schemas.openxmlformats.org/officeDocument/2006/relationships/image" Target="../media/image77.svg"/><Relationship Id="rId11" Type="http://schemas.openxmlformats.org/officeDocument/2006/relationships/image" Target="../media/image76.png"/><Relationship Id="rId10" Type="http://schemas.openxmlformats.org/officeDocument/2006/relationships/image" Target="../media/image40.svg"/><Relationship Id="rId1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.svg"/><Relationship Id="rId3" Type="http://schemas.openxmlformats.org/officeDocument/2006/relationships/image" Target="../media/image83.png"/><Relationship Id="rId2" Type="http://schemas.openxmlformats.org/officeDocument/2006/relationships/image" Target="../media/image34.svg"/><Relationship Id="rId1" Type="http://schemas.openxmlformats.org/officeDocument/2006/relationships/image" Target="../media/image8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5.png"/><Relationship Id="rId1" Type="http://schemas.openxmlformats.org/officeDocument/2006/relationships/image" Target="../media/image84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5.png"/><Relationship Id="rId1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7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image" Target="../media/image8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8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7.svg"/><Relationship Id="rId8" Type="http://schemas.openxmlformats.org/officeDocument/2006/relationships/image" Target="../media/image106.png"/><Relationship Id="rId7" Type="http://schemas.openxmlformats.org/officeDocument/2006/relationships/image" Target="../media/image105.svg"/><Relationship Id="rId6" Type="http://schemas.openxmlformats.org/officeDocument/2006/relationships/image" Target="../media/image104.png"/><Relationship Id="rId5" Type="http://schemas.openxmlformats.org/officeDocument/2006/relationships/image" Target="../media/image103.jpeg"/><Relationship Id="rId4" Type="http://schemas.openxmlformats.org/officeDocument/2006/relationships/image" Target="../media/image102.svg"/><Relationship Id="rId3" Type="http://schemas.openxmlformats.org/officeDocument/2006/relationships/image" Target="../media/image101.png"/><Relationship Id="rId2" Type="http://schemas.openxmlformats.org/officeDocument/2006/relationships/image" Target="../media/image100.svg"/><Relationship Id="rId13" Type="http://schemas.openxmlformats.org/officeDocument/2006/relationships/notesSlide" Target="../notesSlides/notesSlide2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09.svg"/><Relationship Id="rId10" Type="http://schemas.openxmlformats.org/officeDocument/2006/relationships/image" Target="../media/image108.png"/><Relationship Id="rId1" Type="http://schemas.openxmlformats.org/officeDocument/2006/relationships/image" Target="../media/image9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16.svg"/><Relationship Id="rId6" Type="http://schemas.openxmlformats.org/officeDocument/2006/relationships/image" Target="../media/image115.png"/><Relationship Id="rId5" Type="http://schemas.openxmlformats.org/officeDocument/2006/relationships/image" Target="../media/image114.svg"/><Relationship Id="rId4" Type="http://schemas.openxmlformats.org/officeDocument/2006/relationships/image" Target="../media/image113.png"/><Relationship Id="rId3" Type="http://schemas.openxmlformats.org/officeDocument/2006/relationships/image" Target="../media/image112.svg"/><Relationship Id="rId2" Type="http://schemas.openxmlformats.org/officeDocument/2006/relationships/image" Target="../media/image111.png"/><Relationship Id="rId1" Type="http://schemas.openxmlformats.org/officeDocument/2006/relationships/image" Target="../media/image110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7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8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9.jpe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5.svg"/><Relationship Id="rId7" Type="http://schemas.openxmlformats.org/officeDocument/2006/relationships/image" Target="../media/image124.png"/><Relationship Id="rId6" Type="http://schemas.openxmlformats.org/officeDocument/2006/relationships/image" Target="../media/image114.svg"/><Relationship Id="rId5" Type="http://schemas.openxmlformats.org/officeDocument/2006/relationships/image" Target="../media/image113.png"/><Relationship Id="rId4" Type="http://schemas.openxmlformats.org/officeDocument/2006/relationships/image" Target="../media/image123.svg"/><Relationship Id="rId3" Type="http://schemas.openxmlformats.org/officeDocument/2006/relationships/image" Target="../media/image122.png"/><Relationship Id="rId2" Type="http://schemas.openxmlformats.org/officeDocument/2006/relationships/image" Target="../media/image121.svg"/><Relationship Id="rId10" Type="http://schemas.openxmlformats.org/officeDocument/2006/relationships/notesSlide" Target="../notesSlides/notesSlide26.xml"/><Relationship Id="rId1" Type="http://schemas.openxmlformats.org/officeDocument/2006/relationships/image" Target="../media/image12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29.svg"/><Relationship Id="rId5" Type="http://schemas.openxmlformats.org/officeDocument/2006/relationships/image" Target="../media/image128.png"/><Relationship Id="rId4" Type="http://schemas.openxmlformats.org/officeDocument/2006/relationships/image" Target="../media/image127.svg"/><Relationship Id="rId3" Type="http://schemas.openxmlformats.org/officeDocument/2006/relationships/image" Target="../media/image126.png"/><Relationship Id="rId2" Type="http://schemas.openxmlformats.org/officeDocument/2006/relationships/image" Target="../media/image114.svg"/><Relationship Id="rId1" Type="http://schemas.openxmlformats.org/officeDocument/2006/relationships/image" Target="../media/image11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5.svg"/><Relationship Id="rId5" Type="http://schemas.openxmlformats.org/officeDocument/2006/relationships/image" Target="../media/image134.png"/><Relationship Id="rId4" Type="http://schemas.openxmlformats.org/officeDocument/2006/relationships/image" Target="../media/image133.svg"/><Relationship Id="rId3" Type="http://schemas.openxmlformats.org/officeDocument/2006/relationships/image" Target="../media/image132.png"/><Relationship Id="rId2" Type="http://schemas.openxmlformats.org/officeDocument/2006/relationships/image" Target="../media/image131.svg"/><Relationship Id="rId1" Type="http://schemas.openxmlformats.org/officeDocument/2006/relationships/image" Target="../media/image130.png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40.svg"/><Relationship Id="rId4" Type="http://schemas.openxmlformats.org/officeDocument/2006/relationships/image" Target="../media/image139.png"/><Relationship Id="rId3" Type="http://schemas.openxmlformats.org/officeDocument/2006/relationships/image" Target="../media/image138.jpeg"/><Relationship Id="rId2" Type="http://schemas.openxmlformats.org/officeDocument/2006/relationships/image" Target="../media/image137.svg"/><Relationship Id="rId1" Type="http://schemas.openxmlformats.org/officeDocument/2006/relationships/image" Target="../media/image13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2.svg"/><Relationship Id="rId5" Type="http://schemas.openxmlformats.org/officeDocument/2006/relationships/image" Target="../media/image101.png"/><Relationship Id="rId4" Type="http://schemas.openxmlformats.org/officeDocument/2006/relationships/image" Target="../media/image142.svg"/><Relationship Id="rId3" Type="http://schemas.openxmlformats.org/officeDocument/2006/relationships/image" Target="../media/image141.png"/><Relationship Id="rId2" Type="http://schemas.openxmlformats.org/officeDocument/2006/relationships/image" Target="../media/image129.svg"/><Relationship Id="rId1" Type="http://schemas.openxmlformats.org/officeDocument/2006/relationships/image" Target="../media/image128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4.svg"/><Relationship Id="rId1" Type="http://schemas.openxmlformats.org/officeDocument/2006/relationships/image" Target="../media/image143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2.svg"/><Relationship Id="rId1" Type="http://schemas.openxmlformats.org/officeDocument/2006/relationships/image" Target="../media/image10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48.svg"/><Relationship Id="rId3" Type="http://schemas.openxmlformats.org/officeDocument/2006/relationships/image" Target="../media/image147.png"/><Relationship Id="rId2" Type="http://schemas.openxmlformats.org/officeDocument/2006/relationships/image" Target="../media/image146.svg"/><Relationship Id="rId1" Type="http://schemas.openxmlformats.org/officeDocument/2006/relationships/image" Target="../media/image1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016000"/>
            <a:ext cx="3810000" cy="3810000"/>
          </a:xfrm>
          <a:prstGeom prst="ellipse">
            <a:avLst/>
          </a:prstGeom>
          <a:solidFill>
            <a:srgbClr val="228B2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3175000" cy="3175000"/>
          </a:xfrm>
          <a:prstGeom prst="ellipse">
            <a:avLst/>
          </a:prstGeom>
          <a:solidFill>
            <a:srgbClr val="228B2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CROPGRO-Strawberry 草莓作物生长模型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048000"/>
            <a:ext cx="10160000" cy="508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1016000" y="3810000"/>
            <a:ext cx="32131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4000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778000" y="3962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项目开源基座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6"/>
            </p:custDataLst>
          </p:nvPr>
        </p:nvCxnSpPr>
        <p:spPr>
          <a:xfrm rot="-16139">
            <a:off x="1270015" y="4565650"/>
            <a:ext cx="270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270000" y="4699000"/>
            <a:ext cx="2705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GitHub 开源仓库 itsjameshan/CN-strawberryDSSAT 进行开发与优化，共享草莓生长模型的核心代码与研究成果。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4483100" y="3810000"/>
            <a:ext cx="32131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37100" y="4000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5245100" y="3962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核心框架支撑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3"/>
            </p:custDataLst>
          </p:nvPr>
        </p:nvCxnSpPr>
        <p:spPr>
          <a:xfrm rot="-16139">
            <a:off x="4737115" y="4565650"/>
            <a:ext cx="270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4737100" y="4699000"/>
            <a:ext cx="2705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依托经典的 DSSAT (农业技术转移决策支持系统) 框架构建，该系统是全球广泛应用的作物生长模拟与决策分析标准工具。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7950200" y="3810000"/>
            <a:ext cx="32131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04200" y="4000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8712200" y="3962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高效技术栈实现</a:t>
            </a:r>
            <a:endParaRPr lang="en-US" sz="1100"/>
          </a:p>
        </p:txBody>
      </p:sp>
      <p:cxnSp>
        <p:nvCxnSpPr>
          <p:cNvPr id="19" name="Connector 19"/>
          <p:cNvCxnSpPr/>
          <p:nvPr>
            <p:custDataLst>
              <p:tags r:id="rId20"/>
            </p:custDataLst>
          </p:nvPr>
        </p:nvCxnSpPr>
        <p:spPr>
          <a:xfrm rot="-16139">
            <a:off x="8204215" y="4565650"/>
            <a:ext cx="270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>
            <p:custDataLst>
              <p:tags r:id="rId21"/>
            </p:custDataLst>
          </p:nvPr>
        </p:nvSpPr>
        <p:spPr>
          <a:xfrm>
            <a:off x="8204200" y="4699000"/>
            <a:ext cx="2705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Python 作为核心开发语言，引入 Numba 即时编译技术对数值计算核心进行加速，兼顾开发效率与模拟运行性能。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5969000"/>
            <a:ext cx="10160000" cy="5715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143000" y="60706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融合作物生理生态机理与现代计算机加速技术，构建高精度、高效率的草莓生长模型，为设施农业精准管理提供科学决策依据。</a:t>
            </a:r>
            <a:endParaRPr lang="en-US" sz="1100"/>
          </a:p>
        </p:txBody>
      </p:sp>
      <p:sp>
        <p:nvSpPr>
          <p:cNvPr id="23" name="TextBox 22"/>
          <p:cNvSpPr txBox="1"/>
          <p:nvPr/>
        </p:nvSpPr>
        <p:spPr>
          <a:xfrm>
            <a:off x="257175" y="152400"/>
            <a:ext cx="10117455" cy="135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66CC"/>
                </a:solidFill>
              </a:defRPr>
            </a:pPr>
            <a:r>
              <a:rPr sz="1600" b="1"/>
              <a:t>📁 对应源码文件：</a:t>
            </a:r>
            <a:endParaRPr sz="1600"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sz="1400" b="1"/>
              <a:t>  • cropgro-strawberry-implementation.py</a:t>
            </a:r>
            <a:endParaRPr sz="1400"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sz="1200" b="1"/>
              <a:t>    → 项目主入口，模型初始化与运行</a:t>
            </a:r>
            <a:endParaRPr sz="1200"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sz="1400" b="1"/>
              <a:t>  • algorithm_mechanism_ppt.md</a:t>
            </a:r>
            <a:endParaRPr sz="1400"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sz="1200" b="1"/>
              <a:t>    → 封面内容定义</a:t>
            </a:r>
            <a:endParaRPr sz="1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模型定位与特点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3683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01 / 核心模型定位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048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0226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成熟框架赋能：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基于经典的 DSSAT 作物模型框架开发，专为草莓生长特性定制化适配，继承框架严谨的生态过程模拟逻辑，确保基础架构的科学性与权威性。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318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2926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全生长周期覆盖：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精准模拟草莓从种子萌发、营养生长、开花结果直至衰老凋亡的完整生命周期，采用每日时间步长 (Daily Time Step) 驱动，还原生长动态细节。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715000"/>
            <a:ext cx="5207000" cy="762000"/>
          </a:xfrm>
          <a:prstGeom prst="roundRect">
            <a:avLst>
              <a:gd name="adj" fmla="val 0"/>
            </a:avLst>
          </a:prstGeom>
          <a:solidFill>
            <a:srgbClr val="36454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2500" y="5842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6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以生理生态过程为核心，构建高适用性、高解释性的草莓生长数字化模型体系。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1778000"/>
            <a:ext cx="273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1968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1968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模块化架构设计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8582">
            <a:off x="6540517" y="2533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540500" y="2667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拆解环境因子、光合作用、水分平衡等关键模块，模块间低耦合，便于功能扩展与后期维护迭代，提升模型灵活性。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07500" y="1778000"/>
            <a:ext cx="273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98000" y="1968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842500" y="1968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多品种参数适配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8582">
            <a:off x="9398017" y="2533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398000" y="2667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内置灵活的品种参数配置接口，可快速导入红颜、章姬等不同草莓品种的遗传参数，适配多样化的品种模拟需求。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4191000"/>
            <a:ext cx="273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43815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85000" y="4381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生理机制驱动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8582">
            <a:off x="6540517" y="4946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540500" y="5080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摒弃经验统计模型的局限性，基于光合作用、呼吸作用等核心生理生态过程构建，模型可解释性强，预测结果更具普适性。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207500" y="4191000"/>
            <a:ext cx="273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98000" y="4381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842500" y="4381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Numba 加速计算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8582">
            <a:off x="9398017" y="4946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9398000" y="5080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引入 Numba JIT 即时编译技术优化核心循环算法，大幅提升模型运行效率，可支持长时间序列、多场景的快速批量模拟。</a:t>
            </a:r>
            <a:endParaRPr lang="en-US" sz="1100"/>
          </a:p>
        </p:txBody>
      </p:sp>
      <p:sp>
        <p:nvSpPr>
          <p:cNvPr id="34" name="TextBox 33"/>
          <p:cNvSpPr txBox="1"/>
          <p:nvPr/>
        </p:nvSpPr>
        <p:spPr>
          <a:xfrm>
            <a:off x="4073525" y="-198120"/>
            <a:ext cx="8229600" cy="17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sz="1600" b="1"/>
              <a:t>📁 对应源码文件：</a:t>
            </a:r>
            <a:endParaRPr sz="1600"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sz="1400" b="1"/>
              <a:t>  • cropgro-strawberry-implementation.py</a:t>
            </a:r>
            <a:endParaRPr sz="1400"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sz="1200" b="1"/>
              <a:t>    → CropgroStrawberry类定义</a:t>
            </a:r>
            <a:endParaRPr sz="1200"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sz="1200" b="1"/>
              <a:t>    → 模块化设计架构</a:t>
            </a:r>
            <a:endParaRPr sz="1200"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sz="1200" b="1"/>
              <a:t>    → 多品种参数配置</a:t>
            </a:r>
            <a:endParaRPr sz="1200"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sz="1400" b="1"/>
              <a:t>  • algorithm_mechanism_ppt.md</a:t>
            </a:r>
            <a:endParaRPr sz="1400"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sz="1200" b="1"/>
              <a:t>    → 模型定位与特点内容</a:t>
            </a:r>
            <a:endParaRPr sz="12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整体架构流程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8B2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3175000" cy="35560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01. 驱动输入：气象数据集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5626">
            <a:off x="952514" y="24701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667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以日为时间步长，输入核心气象要素驱动模型运行，为作物生长提供环境背景：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基础气象：日最高/最低温度、相对湿度、风速</a:t>
            </a:r>
            <a:endParaRPr lang="en-US" sz="13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辐射与水分：太阳总辐射、日降水量</a:t>
            </a:r>
            <a:endParaRPr lang="en-US" sz="13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衍生指标：大气压力、饱和水汽压差(VPD)</a:t>
            </a:r>
            <a:endParaRPr lang="en-US" sz="13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8" name="Connector 8"/>
          <p:cNvCxnSpPr/>
          <p:nvPr/>
        </p:nvCxnSpPr>
        <p:spPr>
          <a:xfrm rot="-114549">
            <a:off x="4191106" y="3549650"/>
            <a:ext cx="38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8B22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9" name="AutoShape 9"/>
          <p:cNvSpPr/>
          <p:nvPr>
            <p:custDataLst>
              <p:tags r:id="rId1"/>
            </p:custDataLst>
          </p:nvPr>
        </p:nvSpPr>
        <p:spPr>
          <a:xfrm>
            <a:off x="4699000" y="1778000"/>
            <a:ext cx="3937000" cy="11430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1905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5207000" y="1879600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环境因子与物候驱动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4826000" y="2286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基于天文公式精准计算日长，度日模型累加有效积温，驱动作物物候阶段有序推进，涵盖发芽、展叶、开花至结果的全生育期。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4699000" y="3175000"/>
            <a:ext cx="3937000" cy="11430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26000" y="3302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5207000" y="3276600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物质与能量代谢循环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4826000" y="3683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采用RUE模型模拟光合固碳，Hargreaves公式估算蒸腾耗水，结合Q10呼吸模型与土壤水分平衡方程，动态核算水分胁迫下的碳收支。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4699000" y="4572000"/>
            <a:ext cx="3937000" cy="11430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26000" y="4699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5207000" y="4673600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生物量分配与器官更新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4826000" y="5080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依据物候阶段特异性系数分配净光合产物至根、茎、叶、果等器官，同步更新叶面积指数(LAI)、果实库强及匍匐茎生长状态。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14549">
            <a:off x="8890106" y="3549650"/>
            <a:ext cx="38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8B22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2" name="AutoShape 22"/>
          <p:cNvSpPr/>
          <p:nvPr/>
        </p:nvSpPr>
        <p:spPr>
          <a:xfrm>
            <a:off x="9398000" y="1778000"/>
            <a:ext cx="2413000" cy="35560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25000" y="1968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03. 状态输出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20834">
            <a:off x="9525019" y="2470150"/>
            <a:ext cx="2095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9525000" y="2667000"/>
            <a:ext cx="215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输出模拟周期内反映作物生长表现的核心状态变量：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生物量：总干物质量及各器官分配比例</a:t>
            </a:r>
            <a:endParaRPr lang="en-US" sz="13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结构指标：LAI、株高、茎粗动态变化</a:t>
            </a:r>
            <a:endParaRPr lang="en-US" sz="13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生产指标：物候期进程、果实数量与产量潜力</a:t>
            </a:r>
            <a:endParaRPr lang="en-US" sz="13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762000" y="5969000"/>
            <a:ext cx="11049000" cy="635000"/>
          </a:xfrm>
          <a:prstGeom prst="roundRect">
            <a:avLst>
              <a:gd name="adj" fmla="val 0"/>
            </a:avLst>
          </a:prstGeom>
          <a:solidFill>
            <a:srgbClr val="228B2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89000" y="6070600"/>
            <a:ext cx="1079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流程逻辑：</a:t>
            </a: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以“气象输入→过程耦合→状态反馈”为核心逻辑，通过模块化设计实现作物从环境响应、生理代谢到器官建成的完整动态模拟闭环。</a:t>
            </a:r>
            <a:endParaRPr lang="en-US" sz="1100"/>
          </a:p>
        </p:txBody>
      </p:sp>
      <p:sp>
        <p:nvSpPr>
          <p:cNvPr id="28" name="TextBox 27"/>
          <p:cNvSpPr txBox="1"/>
          <p:nvPr/>
        </p:nvSpPr>
        <p:spPr>
          <a:xfrm>
            <a:off x="3581400" y="-101600"/>
            <a:ext cx="8229600" cy="17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simulate_day()方法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_calc_daylength()日长计算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_thermal_time()热时间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_photosynthesis()光合作用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_transpiration()蒸腾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_water_stress()水分胁迫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_maintenance_resp()呼吸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整体架构流程图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六大核心算法模块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8B22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52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8B22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57030">
            <a:off x="1397000" y="2279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095500" y="17526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日长计算模块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95500" y="2159000"/>
            <a:ext cx="368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基于天文学公式，结合太阳赤纬角变化与球面三角学原理，精准计算不同纬度与季节下的可照时数，为生长周期划分提供基础依据。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1752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8B22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57030">
            <a:off x="6858000" y="2279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556500" y="17526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热时间计算模块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556500" y="2159000"/>
            <a:ext cx="368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采用梯形响应函数算法，引入作物生长的三基点温度（基础、最适、上限），量化累积热量对作物发育进程的驱动作用。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238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3238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33401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8B22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57030">
            <a:off x="1397000" y="3867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2095500" y="33401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光合作用模拟模块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095500" y="3746500"/>
            <a:ext cx="368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基于RUE（辐射利用效率）模型框架，通过冠层吸收的光合有效辐射与辐射利用效率的乘积，估算作物群体的总初级生产力。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3238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23000" y="3238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33401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8B22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57030">
            <a:off x="6858000" y="3867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556500" y="33401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蒸腾作用模拟模块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556500" y="3746500"/>
            <a:ext cx="368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采用Hargreaves模型算法，利用气温日较差与太阳辐射数据计算参考作物蒸发蒸腾量，结合作物系数精准表征水分消耗过程。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4826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62000" y="4826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16000" y="4927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8B22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5357030">
            <a:off x="1397000" y="5454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2095500" y="49276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水分胁迫响应模块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2095500" y="5334000"/>
            <a:ext cx="368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运用土壤水分平衡法，动态耦合降水、灌溉、径流与渗漏过程，通过土壤可用水量与作物亏缺量的对比，量化水分胁迫对生长的抑制。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23000" y="4826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223000" y="4826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477000" y="4927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8B22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5357030">
            <a:off x="6858000" y="5454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7556500" y="49276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维持呼吸消耗模块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556500" y="5334000"/>
            <a:ext cx="368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基于Q10温度响应模型，模拟不同器官在特定温度下的呼吸消耗速率，精准扣减同化产物，保障生物量分配计算的准确性。</a:t>
            </a:r>
            <a:endParaRPr lang="en-US" sz="1100"/>
          </a:p>
        </p:txBody>
      </p:sp>
      <p:sp>
        <p:nvSpPr>
          <p:cNvPr id="40" name="TextBox 39"/>
          <p:cNvSpPr txBox="1"/>
          <p:nvPr/>
        </p:nvSpPr>
        <p:spPr>
          <a:xfrm>
            <a:off x="4145280" y="0"/>
            <a:ext cx="8229600" cy="1768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sz="1200" b="1"/>
              <a:t>📁 对应源码文件：</a:t>
            </a:r>
            <a:endParaRPr sz="1200"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sz="1000" b="1"/>
              <a:t>  • cropgro-strawberry-implementation.py</a:t>
            </a:r>
            <a:endParaRPr sz="1000"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sz="900" b="1"/>
              <a:t>    → _calc_daylength() (第39行)</a:t>
            </a:r>
            <a:endParaRPr sz="900"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sz="900" b="1"/>
              <a:t>    → _thermal_time() (第58行)</a:t>
            </a:r>
            <a:endParaRPr sz="900"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sz="900" b="1"/>
              <a:t>    → _photosynthesis() (第74行)</a:t>
            </a:r>
            <a:endParaRPr sz="900"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sz="900" b="1"/>
              <a:t>    → _transpiration() (第92行)</a:t>
            </a:r>
            <a:endParaRPr sz="900"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sz="900" b="1"/>
              <a:t>    → _water_stress() (第106行)</a:t>
            </a:r>
            <a:endParaRPr sz="900"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sz="900" b="1"/>
              <a:t>    → _maintenance_resp() (第125行)</a:t>
            </a:r>
            <a:endParaRPr sz="900"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sz="1000" b="1"/>
              <a:t>  • algorithm_mechanism_ppt.md</a:t>
            </a:r>
            <a:endParaRPr sz="1000"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sz="900" b="1"/>
              <a:t>    → 六大核心算法模块表格</a:t>
            </a:r>
            <a:endParaRPr sz="9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算法一 - 日长计算 (Daylength Calculation)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228B22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651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01 算法核心目的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413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基于地理位置（纬度）与时间（年积日），通过天文学球面三角关系计算可照时数，定量评估光照条件对作物光周期发育、物候进程及光合作用潜力的关键影响。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651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228B22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0" y="1651000"/>
            <a:ext cx="76200" cy="1651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04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02 天文学核心公式体系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6040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604000" y="2349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赤纬角：δ = 23.45 × sin(360 × (DOY - 80) / 365)</a:t>
            </a:r>
            <a:br>
              <a:rPr lang="en-US" sz="13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中间项：term = -tan(φ) × tan(δ) （φ为地理纬度）</a:t>
            </a:r>
            <a:br>
              <a:rPr lang="en-US" sz="13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可照时数：DL = 24 × arccos(term) / π （小时）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228B22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3810000"/>
            <a:ext cx="76200" cy="2286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3937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03 标准化计算步骤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1016009" y="437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4572000"/>
            <a:ext cx="2286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79500" y="46355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STEP 1-2：参数转换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计算太阳赤纬角，将地理纬度转换为弧度制，为三角函数运算做基础准备。</a:t>
            </a:r>
            <a:endParaRPr lang="en-US" sz="12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429000" y="4572000"/>
            <a:ext cx="2286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492500" y="46355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STEP 3-4：判定与求解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计算中间项判断极昼/极夜，若为常规情况则通过反余弦函数求解最终日长。</a:t>
            </a:r>
            <a:endParaRPr lang="en-US" sz="12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1016000" y="5461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注：当 term ≥ 1 时为极夜（日长0h）；term ≤ -1 时为极昼（日长24h），需在代码中做边界条件处理。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0" y="3937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91">
            <a:off x="6604009" y="437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8691880" y="228600"/>
            <a:ext cx="8229600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_calc_daylength() (第39-56行)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日长计算天文学公式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极昼极夜边界处理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日长计算算法详细说明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算法二 - 热时间计算 (Thermal Time / Degree Days)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2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651000"/>
            <a:ext cx="3556000" cy="11430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cap="flat" cmpd="sng">
            <a:solidFill>
              <a:srgbClr val="107210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323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▍算法核心目的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量化并累积每日有效温度（度日），构建作物发育进程的核心驱动因子，精准模拟物候阶段的起始与持续时长。</a:t>
            </a:r>
            <a:endParaRPr lang="en-US" sz="13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3556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3302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3238500"/>
            <a:ext cx="285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基础温度 (Tbase = 4°C)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发育阈值下限，当环境温度低于此值时，作物生理活动停滞，有效热时间为0。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3556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4445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4381500"/>
            <a:ext cx="285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最适温度 (Topt = 22°C)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发育速率最快的温度区间中点，此时有效热时间达到理论峰值，为(Topt - Tbase)。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461000"/>
            <a:ext cx="3556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588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33500" y="5524500"/>
            <a:ext cx="285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上限温度 (Tmax_th = 35°C)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发育抑制阈值，温度超过此值后，高温胁迫导致作物发育停止，有效热时间回归0。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90450">
            <a:off x="23495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826000" y="1651000"/>
            <a:ext cx="3175000" cy="1905000"/>
          </a:xfrm>
          <a:prstGeom prst="roundRect">
            <a:avLst>
              <a:gd name="adj" fmla="val 0"/>
            </a:avLst>
          </a:prstGeom>
          <a:solidFill>
            <a:srgbClr val="228B22">
              <a:alpha val="5000"/>
            </a:srgbClr>
          </a:solidFill>
          <a:ln cap="flat" cmpd="sng">
            <a:solidFill>
              <a:srgbClr val="10721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080000" y="1905000"/>
            <a:ext cx="2667000" cy="1143000"/>
          </a:xfrm>
          <a:prstGeom prst="trapezoid">
            <a:avLst/>
          </a:prstGeom>
          <a:solidFill>
            <a:srgbClr val="228B22">
              <a:alpha val="20000"/>
            </a:srgbClr>
          </a:solidFill>
          <a:ln w="12700" cap="flat" cmpd="sng">
            <a:solidFill>
              <a:srgbClr val="228B2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889500" y="3175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梯形温度响应函数模型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线性上升至Topt，随后线性下降至Tmax_th</a:t>
            </a:r>
            <a:endParaRPr lang="en-US" sz="11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826000" y="4191000"/>
            <a:ext cx="3175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953000" y="4318000"/>
            <a:ext cx="29210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模型特征解析：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该模型摒弃了简单的线性度日假设，引入了上限温度的抑制效应，更贴合作物在高温环境下的实际生理表现。在Tbase至Topt区间，热时间随温度线性增加；超过Topt后，随温度升高线性衰减。</a:t>
            </a:r>
            <a:endParaRPr lang="en-US" sz="12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2" name="Connector 22"/>
          <p:cNvCxnSpPr/>
          <p:nvPr/>
        </p:nvCxnSpPr>
        <p:spPr>
          <a:xfrm rot="5390450">
            <a:off x="59055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382000" y="1651000"/>
            <a:ext cx="3302000" cy="2222500"/>
          </a:xfrm>
          <a:prstGeom prst="roundRect">
            <a:avLst>
              <a:gd name="adj" fmla="val 0"/>
            </a:avLst>
          </a:prstGeom>
          <a:solidFill>
            <a:srgbClr val="36454F">
              <a:alpha val="3000"/>
            </a:srgbClr>
          </a:solidFill>
          <a:ln cap="flat" cmpd="sng">
            <a:solidFill>
              <a:srgbClr val="1F2D36">
                <a:alpha val="3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509000" y="1714500"/>
            <a:ext cx="30480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01 / 数学表达逻辑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设日平均温度为 Tavg，有效热时间 TT 的计算分四阶段：</a:t>
            </a:r>
            <a:endParaRPr lang="en-US" sz="12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① Tavg ≤ Tbase 或 &gt; Tmax_th: TT = 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② Tbase &lt; Tavg ≤ Topt: TT = Tavg - Tbase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③ Topt &lt; Tavg ≤ Tmax_th: TT 线性递减至 0</a:t>
            </a:r>
            <a:endParaRPr lang="en-US" sz="11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382000" y="4191000"/>
            <a:ext cx="3302000" cy="2222500"/>
          </a:xfrm>
          <a:prstGeom prst="roundRect">
            <a:avLst>
              <a:gd name="adj" fmla="val 0"/>
            </a:avLst>
          </a:prstGeom>
          <a:solidFill>
            <a:srgbClr val="282C34">
              <a:alpha val="100000"/>
            </a:srgbClr>
          </a:solidFill>
          <a:ln cap="flat" cmpd="sng">
            <a:solidFill>
              <a:srgbClr val="12151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509000" y="4254500"/>
            <a:ext cx="30480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02 / Python 代码实现 (Numba)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E5C07B"/>
                </a:solidFill>
                <a:latin typeface="Menlo"/>
                <a:ea typeface="Menlo"/>
                <a:cs typeface="Menlo"/>
                <a:sym typeface="Menlo"/>
              </a:rPr>
              <a:t>@njit</a:t>
            </a:r>
            <a:r>
              <a:rPr lang="en-US" sz="11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def _thermal_time(tmin, tmax, tbase, topt, tmax_th):
 tavg = (tmin + tmax) / 2.0
 if tavg &lt;= tbase or tavg &gt; tmax_th:
 return 0.0
 elif tavg &lt;= topt:
 return tavg - tbase
 else:</a:t>
            </a:r>
            <a:endParaRPr lang="en-US" sz="1100" b="0" i="0" u="none" strike="noStrike">
              <a:solidFill>
                <a:srgbClr val="D1D5DB"/>
              </a:solidFill>
              <a:latin typeface="Menlo"/>
              <a:ea typeface="Menlo"/>
              <a:cs typeface="Menlo"/>
              <a:sym typeface="Menl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 return (topt-tbase) - (tavg-topt)*((topt-tbase)/(tmax_th-topt))</a:t>
            </a:r>
            <a:endParaRPr lang="en-US" sz="1100" b="0" i="0" u="none" strike="noStrike">
              <a:solidFill>
                <a:srgbClr val="D1D5DB"/>
              </a:solidFill>
              <a:latin typeface="Menlo"/>
              <a:ea typeface="Menlo"/>
              <a:cs typeface="Menlo"/>
              <a:sym typeface="Menl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22800" y="863600"/>
            <a:ext cx="8229600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_thermal_time() (第58-88行)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梯形温度响应函数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三基点温度参数(Tbase=4,Topt=22,Tmax=35)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热时间计算算法及响应曲线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算法三 - 光合作用模型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4986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01 算法核心目的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基于辐射利用效率（RUE）原理，量化计算单位面积下，作物每日通过光合作用固定的大气碳元素，最终转化为碳水化合物的积累量（单位：g CH₂O/m²）。</a:t>
            </a:r>
            <a:endParaRPr lang="en-US" sz="13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86500" y="1397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286500" y="139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540500" y="14986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02 RUE 模型核心公式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光合作用总量 = 太阳辐射 × RUE常数 × 温度效应系数 × CO₂浓度效应系数 × 冠层光截获率。通过多因子耦合修正，提升模型对实际环境的适配性。</a:t>
            </a:r>
            <a:endParaRPr lang="en-US" sz="13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29845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311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3111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温度效应因子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9532">
            <a:off x="914418" y="3549650"/>
            <a:ext cx="223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914400" y="3683000"/>
            <a:ext cx="2235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采用线性响应函数计算，模拟光合酶活性随温度的变化，低于基点或高于最适点时效率会衰减。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492500" y="29845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4900" y="3111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064000" y="3111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CO₂ 浓度效应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9532">
            <a:off x="3644918" y="3549650"/>
            <a:ext cx="223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3644900" y="3683000"/>
            <a:ext cx="2235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利用对数响应函数描述CO₂浓度对光合速率的增益作用，反映大气碳浓度升高的施肥效应。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29845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5400" y="3111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794500" y="3111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冠层光截获率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9532">
            <a:off x="6375418" y="3549650"/>
            <a:ext cx="223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375400" y="3683000"/>
            <a:ext cx="2235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Beer-Lambert 定律，结合叶面积指数（LAI）计算，体现冠层结构对太阳辐射的捕获能力。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953500" y="29845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05900" y="3111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525000" y="3111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RUE 遗传常数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9532">
            <a:off x="9105918" y="3549650"/>
            <a:ext cx="223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105900" y="3683000"/>
            <a:ext cx="2235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不同作物品种的固有参数，代表单位入射光合有效辐射转化为生物量的效率，单位为 g/MJ。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5080000"/>
            <a:ext cx="10731500" cy="1397000"/>
          </a:xfrm>
          <a:prstGeom prst="roundRect">
            <a:avLst>
              <a:gd name="adj" fmla="val 0"/>
            </a:avLst>
          </a:prstGeom>
          <a:solidFill>
            <a:srgbClr val="36454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62000" y="5080000"/>
            <a:ext cx="10731500" cy="3302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89000" y="51181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PYTHON 核心实现代码片段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89000" y="5524500"/>
            <a:ext cx="1047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D9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</a:t>
            </a:r>
            <a:r>
              <a:rPr lang="en-US" sz="1100" b="0" i="0" u="none" strike="noStrike">
                <a:solidFill>
                  <a:srgbClr val="F8F8F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_photosynthesis(solar, tmax, tmin, rue, tbase, topt, k_light, lai, co2):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8F8F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temp_effect = (np.mean([tmax, tmin]) - tbase) / (topt - tbase)</a:t>
            </a:r>
            <a:r>
              <a:rPr lang="en-US" sz="1100" b="0" i="0" u="none" strike="noStrike">
                <a:solidFill>
                  <a:srgbClr val="6A99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温度效应计算</a:t>
            </a:r>
            <a:endParaRPr lang="en-US" sz="1100" b="0" i="0" u="none" strike="noStrike">
              <a:solidFill>
                <a:srgbClr val="6A995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8F8F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light_inter = 1 - np.exp(-k_light * lai); co2_eff = 1 + 0.11 * np.log(co2/400)</a:t>
            </a:r>
            <a:r>
              <a:rPr lang="en-US" sz="1100" b="0" i="0" u="none" strike="noStrike">
                <a:solidFill>
                  <a:srgbClr val="6A99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光截获与CO2效应</a:t>
            </a:r>
            <a:endParaRPr lang="en-US" sz="1100" b="0" i="0" u="none" strike="noStrike">
              <a:solidFill>
                <a:srgbClr val="6A995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D9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</a:t>
            </a:r>
            <a:r>
              <a:rPr lang="en-US" sz="1100" b="0" i="0" u="none" strike="noStrike">
                <a:solidFill>
                  <a:srgbClr val="F8F8F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solar * rue * np.clip(temp_effect, 0, 1) * co2_eff * light_inter</a:t>
            </a:r>
            <a:r>
              <a:rPr lang="en-US" sz="1100" b="0" i="0" u="none" strike="noStrike">
                <a:solidFill>
                  <a:srgbClr val="6A99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总光合量</a:t>
            </a:r>
            <a:endParaRPr lang="en-US" sz="1100" b="0" i="0" u="none" strike="noStrike">
              <a:solidFill>
                <a:srgbClr val="6A995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92675" y="29845"/>
            <a:ext cx="8229600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_photosynthesis() (第74-90行)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RUE模型实现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温度效应/CO2效应/光截获率计算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光合作用模型详细说明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算法四 - 蒸腾作用模型 (Transpiration Model)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8B22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7526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算法核心目的：</a:t>
            </a: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计算作物蒸腾耗水量（单位：mm），是土壤水分平衡计算的关键输入项，为后续作物水分胁迫诊断、灌溉决策制定提供定量依据。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34671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3467100" cy="508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302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27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Hargreaves 估算方法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4147">
            <a:off x="952513" y="3867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952500" y="4064000"/>
            <a:ext cx="30861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参考蒸发蒸腾量 ET₀ 与太阳辐射、昼夜温差及平均温度强相关，公式仅需常规气象数据，适用于观测资料匮乏的区域。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公式：</a:t>
            </a: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ET₀ = 0.0023 × Rₛ × √(Tmax-Tmin) × (Tavg+17.8)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483100" y="3048000"/>
            <a:ext cx="34671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83100" y="3048000"/>
            <a:ext cx="3467100" cy="508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3600" y="3302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118100" y="327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作物系数 Kc 修正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147">
            <a:off x="4673613" y="3867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673600" y="4064000"/>
            <a:ext cx="30861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生物物理意义：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Kc 表征作物生理特性对蒸腾的影响，随叶面积指数(LAI)动态变化，从幼苗期的0.3逐步增长至成熟冠层的1.0。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公式：</a:t>
            </a: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Kc = 0.3 + 0.7 × (1 - exp(-0.7 × LAI))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204200" y="3048000"/>
            <a:ext cx="3467100" cy="3175000"/>
          </a:xfrm>
          <a:prstGeom prst="roundRect">
            <a:avLst>
              <a:gd name="adj" fmla="val 0"/>
            </a:avLst>
          </a:prstGeom>
          <a:solidFill>
            <a:srgbClr val="36454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94700" y="3302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839200" y="327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代码实现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147">
            <a:off x="8394713" y="3867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394700" y="4064000"/>
            <a:ext cx="30861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4C86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@njit</a:t>
            </a:r>
            <a:r>
              <a:rPr lang="en-US" sz="11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_transpiration(sr, tmx, tmn, rh, lai):
 tavg = (tmx + tmn) / 2.0
 # Hargreaves ET₀
 et0 = 0.0023 * sr * np.sqrt(tmx-tmn) * (tavg+17.8)
 # Kc from LAI
 kc = 0.3 + 0.7*(1 - np.exp(-0.7*lai))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return et0 * kc</a:t>
            </a:r>
            <a:endParaRPr lang="en-US" sz="1100" b="0" i="0" u="none" strike="noStrike">
              <a:solidFill>
                <a:srgbClr val="DCDCDC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39225" y="38100"/>
            <a:ext cx="8229600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_transpiration() (第92-104行)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Hargreaves方法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作物系数Kc计算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蒸腾作用模型详细说明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算法五 - 水分胁迫模型 (Water Stress Model)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270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01 / 算法核心目的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基于作物根区水分平衡原理，量化土壤水分亏缺对作物生长的抑制程度，输出0-1尺度的胁迫因子，为光合作用效率计算提供关键参数。</a:t>
            </a:r>
            <a:endParaRPr lang="en-US" sz="14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527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02 / 水分平衡计算逻辑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25019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4064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4038600"/>
            <a:ext cx="190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可用水量 (AW)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(田间持水量 - 萎蔫点) × 根系深度，代表根区可利用的最大储水能力。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530600" y="3937000"/>
            <a:ext cx="25019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4064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038600" y="4038600"/>
            <a:ext cx="190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有效降雨 (ER)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实际降雨量 × 0.7系数，扣除地表径流与深层渗漏损失后的有效补给量。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25019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334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270000" y="5308600"/>
            <a:ext cx="190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水分亏缺量 (D)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取蒸腾量与有效降雨的差值，若降雨充足则亏缺量为0，无水分胁迫。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530600" y="5207000"/>
            <a:ext cx="25019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57600" y="5334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038600" y="5308600"/>
            <a:ext cx="190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胁迫因子 (WS)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亏缺量与可用水量的比值，限制在0-1之间，直接映射作物受旱程度。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0" name="Connector 20"/>
          <p:cNvCxnSpPr/>
          <p:nvPr/>
        </p:nvCxnSpPr>
        <p:spPr>
          <a:xfrm rot="5390708">
            <a:off x="4000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604000" y="165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03 / 胁迫等级与光合影响效应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04000" y="2286000"/>
            <a:ext cx="4826000" cy="381000"/>
          </a:xfrm>
          <a:prstGeom prst="roundRect">
            <a:avLst>
              <a:gd name="adj" fmla="val 0"/>
            </a:avLst>
          </a:prstGeom>
          <a:solidFill>
            <a:srgbClr val="228B22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731000" y="2336800"/>
            <a:ext cx="101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胁迫值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874000" y="2336800"/>
            <a:ext cx="127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胁迫程度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71000" y="2336800"/>
            <a:ext cx="203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光合作用抑制效果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604000" y="2794000"/>
            <a:ext cx="4826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731000" y="28575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0.0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874000" y="2857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无胁迫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271000" y="2857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光合速率处于潜在最大值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604000" y="3352800"/>
            <a:ext cx="4826000" cy="4318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228B22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731000" y="34163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0.3 / 0.5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874000" y="34163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轻/中度胁迫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271000" y="34163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光合效率分别降低30%/50%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604000" y="3911600"/>
            <a:ext cx="4826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731000" y="39751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0.8 / 1.0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874000" y="39751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重/严重胁迫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271000" y="39751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光合降低80%或完全停止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604000" y="4762500"/>
            <a:ext cx="4826000" cy="1524000"/>
          </a:xfrm>
          <a:prstGeom prst="roundRect">
            <a:avLst>
              <a:gd name="adj" fmla="val 0"/>
            </a:avLst>
          </a:prstGeom>
          <a:solidFill>
            <a:srgbClr val="36454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6604000" y="4762500"/>
            <a:ext cx="4826000" cy="304800"/>
          </a:xfrm>
          <a:prstGeom prst="roundRect">
            <a:avLst>
              <a:gd name="adj" fmla="val 0"/>
            </a:avLst>
          </a:prstGeom>
          <a:solidFill>
            <a:srgbClr val="228B22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6731000" y="48006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核心实现逻辑 (Numba加速)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731000" y="5207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A9D18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_water_stress(fc, wp, root_d, rain, trans):</a:t>
            </a:r>
            <a:br>
              <a:rPr lang="en-US" sz="11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CCCCC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aw = (fc - wp) * root_d; er = rain * 0.7</a:t>
            </a:r>
            <a:br>
              <a:rPr lang="en-US" sz="11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CCCCC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deficit = max(0.0, trans - er)</a:t>
            </a:r>
            <a:br>
              <a:rPr lang="en-US" sz="11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CCCCC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 0.0 if deficit == 0 else min(1.0, deficit / aw)</a:t>
            </a:r>
            <a:endParaRPr lang="en-US" sz="1100"/>
          </a:p>
        </p:txBody>
      </p:sp>
      <p:sp>
        <p:nvSpPr>
          <p:cNvPr id="42" name="TextBox 41"/>
          <p:cNvSpPr txBox="1"/>
          <p:nvPr/>
        </p:nvSpPr>
        <p:spPr>
          <a:xfrm>
            <a:off x="8952865" y="0"/>
            <a:ext cx="8229600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_water_stress() (第106-123行)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水分平衡法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可用水量/有效降雨/胁迫因子计算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水分胁迫模型详细说明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算法六 - 维持呼吸模型 (Maintenance Respiration)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524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01. 算法核心目的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精准量化植物为维持细胞活性、离子平衡及基础代谢所需消耗的光合产物总量，单位为 g/plant，是模拟植株物质分配与生长效率的关键基础。</a:t>
            </a:r>
            <a:endParaRPr lang="en-US" sz="13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476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02. Q10 温度响应机制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公式：呼吸速率 = 基础呼吸 × Q10^((Tavg - Tref) / 10)</a:t>
            </a:r>
            <a:endParaRPr lang="en-US" sz="1300" b="1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采用经典Q10模型描述温度效应，设定Q10=2（温度每升高10°C，呼吸速率加倍），参考温度Tref=20°C，能有效反映自然变温对呼吸消耗的影响。</a:t>
            </a:r>
            <a:endParaRPr lang="en-US" sz="12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413500" y="1397000"/>
            <a:ext cx="2540000" cy="1587500"/>
          </a:xfrm>
          <a:prstGeom prst="roundRect">
            <a:avLst>
              <a:gd name="adj" fmla="val 0"/>
            </a:avLst>
          </a:prstGeom>
          <a:solidFill>
            <a:srgbClr val="228B22">
              <a:alpha val="6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540500" y="1524000"/>
            <a:ext cx="2286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叶片 (Leaf)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0.03</a:t>
            </a:r>
            <a:endParaRPr lang="en-US" sz="2200" b="1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光合核心器官，酶活性高、代谢极活跃，呼吸消耗占比最大。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9144000" y="1397000"/>
            <a:ext cx="2540000" cy="1587500"/>
          </a:xfrm>
          <a:prstGeom prst="roundRect">
            <a:avLst>
              <a:gd name="adj" fmla="val 0"/>
            </a:avLst>
          </a:prstGeom>
          <a:solidFill>
            <a:srgbClr val="228B22">
              <a:alpha val="6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271000" y="1524000"/>
            <a:ext cx="2286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茎干 (Stem)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0.015</a:t>
            </a:r>
            <a:endParaRPr lang="en-US" sz="2200" b="1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主要承担支撑与输导功能，木质化程度高，代谢水平中等。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413500" y="3175000"/>
            <a:ext cx="2540000" cy="1587500"/>
          </a:xfrm>
          <a:prstGeom prst="roundRect">
            <a:avLst>
              <a:gd name="adj" fmla="val 0"/>
            </a:avLst>
          </a:prstGeom>
          <a:solidFill>
            <a:srgbClr val="228B22">
              <a:alpha val="6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40500" y="3302000"/>
            <a:ext cx="2286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根系 (Root)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0.01</a:t>
            </a:r>
            <a:endParaRPr lang="en-US" sz="2200" b="1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地下吸收器官，仅维持水分与矿质吸收的基础代谢，消耗较低。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144000" y="3175000"/>
            <a:ext cx="2540000" cy="1587500"/>
          </a:xfrm>
          <a:prstGeom prst="roundRect">
            <a:avLst>
              <a:gd name="adj" fmla="val 0"/>
            </a:avLst>
          </a:prstGeom>
          <a:solidFill>
            <a:srgbClr val="228B22">
              <a:alpha val="6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271000" y="3302000"/>
            <a:ext cx="2286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果实 (Fruit)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0.01</a:t>
            </a:r>
            <a:endParaRPr lang="en-US" sz="2200" b="1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物质储存库，细胞分裂与分化完成后，主要进行物质积累，代谢低。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092">
            <a:off x="762004" y="507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762000" y="5270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36454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89000" y="5334000"/>
            <a:ext cx="5016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关键逻辑：分器官加权求和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代码中先计算日均温并转换为温度系数，再分别计算叶、茎、根、果实的呼吸消耗，最后累加得到总维持呼吸。利用Numba JIT加速循环计算，提升模拟效率。</a:t>
            </a:r>
            <a:endParaRPr lang="en-US" sz="12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13500" y="5270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36454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40500" y="5334000"/>
            <a:ext cx="5016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4FF6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@njit</a:t>
            </a:r>
            <a:r>
              <a:rPr lang="en-US" sz="1100" b="0" i="0" u="none" strike="noStrike">
                <a:solidFill>
                  <a:srgbClr val="E6E6E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_maintenance_resp(biomass, tmin, tmax):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E6E6E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temp_factor = 2.0 ** (((tmin + tmax)/2 - 20)/10)</a:t>
            </a:r>
            <a:endParaRPr lang="en-US" sz="1100" b="0" i="0" u="none" strike="noStrike">
              <a:solidFill>
                <a:srgbClr val="E6E6E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E6E6E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 (biomass['leaf']*0.03 + biomass['stem']*0.015 + biomass['root']*0.01 + biomass['fruit']*0.01) * temp_factor</a:t>
            </a:r>
            <a:endParaRPr lang="en-US" sz="1100" b="0" i="0" u="none" strike="noStrike">
              <a:solidFill>
                <a:srgbClr val="E6E6E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0400" y="4356100"/>
            <a:ext cx="8229600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_maintenance_resp() (第125-141行)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Q10温度响应模型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各器官呼吸系数(叶0.03/茎0.015/根0.01/果实0.01)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维持呼吸模型详细说明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物候发育阶段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8B22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89000" y="1079500"/>
          <a:ext cx="6604000" cy="57708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89000"/>
                <a:gridCol w="1905000"/>
                <a:gridCol w="1397000"/>
                <a:gridCol w="2413000"/>
              </a:tblGrid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阶段序号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阶段名称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热时间阈值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核心生理特征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100000"/>
                      </a:srgbClr>
                    </a:solidFill>
                  </a:tcPr>
                </a:tc>
              </a:tr>
              <a:tr h="368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GERMINATION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 度日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种子吸水膨胀，完成萌发过程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</a:tr>
              <a:tr h="368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EMERGENCE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 度日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幼苗破土而出，子叶完全展开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JUVENILE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 度日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真叶长出，进入营养生长初期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</a:tr>
              <a:tr h="368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VEGETATIVE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200 度日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植株快速生长，叶片与匍匐茎大量形成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FLORAL_INDUCTION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400 度日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感受低温短日照，顶端分生组织转化为花芽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</a:tr>
              <a:tr h="368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FLOWERING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600 度日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花器官发育成熟，花朵开放，进入授粉期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FRUIT_SET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700 度日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授粉受精完成，子房开始膨大发育成果实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</a:tr>
              <a:tr h="42926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FRUIT_DEVELOPMENT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800 度日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果实快速膨大，糖分积累，颜色逐步转色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FRUIT_MATURITY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1000 度日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果实完全成熟，风味与营养物质达到峰值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8000"/>
                      </a:srgbClr>
                    </a:solidFill>
                  </a:tcPr>
                </a:tc>
              </a:tr>
              <a:tr h="368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SENESCENCE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1500 度日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植株叶片黄化枯萎，光合作用停止，进入衰老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" name="Connector 5"/>
          <p:cNvCxnSpPr/>
          <p:nvPr/>
        </p:nvCxnSpPr>
        <p:spPr>
          <a:xfrm rot="5389889">
            <a:off x="5588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001000" y="1651000"/>
            <a:ext cx="50800" cy="3048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128000" y="16256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阶段推进核心逻辑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0" y="2286000"/>
            <a:ext cx="368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模型以累积热时间（度日）为驱动因子，将作物全生命周期量化为10个关键阶段。当实时累积热时间突破预设阈值时，作物状态自动跃迁，触发下一阶段的生理过程与生物量分配策略。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001000" y="3810000"/>
            <a:ext cx="3683000" cy="2032000"/>
          </a:xfrm>
          <a:prstGeom prst="roundRect">
            <a:avLst>
              <a:gd name="adj" fmla="val 0"/>
            </a:avLst>
          </a:prstGeom>
          <a:solidFill>
            <a:srgbClr val="282C3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001000" y="3810000"/>
            <a:ext cx="76200" cy="2032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191500" y="3937000"/>
            <a:ext cx="3365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</a:t>
            </a:r>
            <a:r>
              <a:rPr lang="en-US" sz="11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update_phenology(self, t_today):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self.thermal_time += t_today</a:t>
            </a:r>
            <a:endParaRPr lang="en-US" sz="11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idx = self.stages.index(self.cur_stage)</a:t>
            </a:r>
            <a:endParaRPr lang="en-US" sz="11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1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idx &lt; 9</a:t>
            </a:r>
            <a:r>
              <a:rPr lang="en-US" sz="11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and</a:t>
            </a:r>
            <a:r>
              <a:rPr lang="en-US" sz="11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self.thermal_time &gt;= self.stages[idx+1]:</a:t>
            </a:r>
            <a:endParaRPr lang="en-US" sz="11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self.cur_stage = self.stages[idx+1]</a:t>
            </a:r>
            <a:endParaRPr lang="en-US" sz="11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648325"/>
            <a:ext cx="10668000" cy="508000"/>
          </a:xfrm>
          <a:prstGeom prst="roundRect">
            <a:avLst>
              <a:gd name="adj" fmla="val 0"/>
            </a:avLst>
          </a:prstGeom>
          <a:solidFill>
            <a:srgbClr val="228B2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109085" y="431800"/>
            <a:ext cx="1041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核心意义：通过热时间驱动的物候划分，实现了作物生长过程的数字化定量化</a:t>
            </a:r>
            <a:endParaRPr lang="en-US" sz="13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，为后续生物量分配和产量预测提供了基础框架。</a:t>
            </a:r>
            <a:endParaRPr lang="en-US" sz="1100"/>
          </a:p>
        </p:txBody>
      </p:sp>
      <p:sp>
        <p:nvSpPr>
          <p:cNvPr id="14" name="TextBox 13"/>
          <p:cNvSpPr txBox="1"/>
          <p:nvPr/>
        </p:nvSpPr>
        <p:spPr>
          <a:xfrm>
            <a:off x="8879205" y="614045"/>
            <a:ext cx="8229600" cy="8851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update_phenology()方法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phenology_stages字典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热时间阈值触发阶段跃迁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物候发育阶段定义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生物量分配机制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498600"/>
            <a:ext cx="9398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作物生长过程中，每日产生的净生物量并非平均分配，而是根据当前所处的物候阶段，动态分配到根、叶、茎、果实四个核心器官，形成差异化的生长策略，保障生命周期内的能量最优利用。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2667000"/>
          <a:ext cx="10668000" cy="33147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59000"/>
                <a:gridCol w="1651000"/>
                <a:gridCol w="1651000"/>
                <a:gridCol w="1651000"/>
                <a:gridCol w="1651000"/>
                <a:gridCol w="1905000"/>
              </a:tblGrid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物候阶段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根 (Root)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叶 (Leaf)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茎 (Stem)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果实 (Fruit)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关键分配特点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萌发 / 出苗 / 幼苗期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优先供给根叶，建立基础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营养生长 / 花芽分化期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茎叶快速扩张，积累光合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开花期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生物量开始向果实转移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坐果 / 果实发育期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果实成为主要分配库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果实成熟期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绝大部份流向果实积累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22">
                        <a:alpha val="5000"/>
                      </a:srgbClr>
                    </a:solidFill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衰老期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5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净生物量停止产生与分配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6223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228B22">
              <a:alpha val="10000"/>
            </a:srgbClr>
          </a:solidFill>
          <a:ln w="12700" cap="flat" cmpd="sng">
            <a:solidFill>
              <a:srgbClr val="228B2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645" y="6324600"/>
            <a:ext cx="431800" cy="431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08150" y="6350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叶面积指数更新：</a:t>
            </a: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LAI = leaf_biomass × sla （sla为比叶面积，反映单位叶生物量对应的叶面积大小）。</a:t>
            </a:r>
            <a:endParaRPr lang="en-US" sz="1100"/>
          </a:p>
        </p:txBody>
      </p:sp>
      <p:sp>
        <p:nvSpPr>
          <p:cNvPr id="10" name="TextBox 9"/>
          <p:cNvSpPr txBox="1"/>
          <p:nvPr/>
        </p:nvSpPr>
        <p:spPr>
          <a:xfrm>
            <a:off x="3752850" y="51435"/>
            <a:ext cx="8229600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partition_biomass()方法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各物候阶段分配系数表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LAI更新计算(LAI=leaf_biomass×sla)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生物量分配机制说明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器官更新机制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841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180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01. 冠芽更新 (Crown)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795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2540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草莓植株可通过分枝形成多个独立的冠芽，每个冠芽均可独立开花结果，是产量形成的核心结构。其数量遵循指数增长规律：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crown_number += 0.02 × crown_number （每日自然增长率 2%）</a:t>
            </a:r>
            <a:endParaRPr lang="en-US" sz="1300" b="1" i="0" u="none" strike="noStrike">
              <a:solidFill>
                <a:srgbClr val="228B2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500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165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1841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75500" y="180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02. 匍匐茎更新 (Runner)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6675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67500" y="2540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匍匐茎是草莓的主要营养繁殖器官，通常在营养生长期由母株腋芽萌发产生，其数量与冠芽基数直接相关：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runner_number += 0.1 × crown_number （每冠芽单位时间产生 0.1 个匍匐茎）</a:t>
            </a:r>
            <a:endParaRPr lang="en-US" sz="1300" b="1" i="0" u="none" strike="noStrike">
              <a:solidFill>
                <a:srgbClr val="228B2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0640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254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87500" y="421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03. 果实数量动态更新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10795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4889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果实数量随冠芽发育阶段动态调整，开花期与坐果期的坐果系数不同，直接决定有效果实基数：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开花期：new_fruits = 潜力值 × 冠芽数 × 0.1 | 坐果期：new_fruits = 潜力值 × 冠芽数 × 0.2</a:t>
            </a:r>
            <a:endParaRPr lang="en-US" sz="1200" b="1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500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0" y="40640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254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75500" y="421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04. 果实生物量累积分配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91">
            <a:off x="66675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67500" y="4889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果实生物量并非瞬时形成，而是通过光合产物的持续分配逐步累积。模型引入分配系数（fruit_fraction）精准量化这一过程：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fruit_biomass += daily_biomass × fruit_fraction</a:t>
            </a:r>
            <a:endParaRPr lang="en-US" sz="1300" b="1" i="0" u="none" strike="noStrike">
              <a:solidFill>
                <a:srgbClr val="228B2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00400" y="0"/>
            <a:ext cx="8229600" cy="135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update_crowns()冠芽更新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update_runners()匍匐茎更新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update_fruits()果实数量更新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果实生物量累积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器官更新机制说明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模型输入输出参数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8B2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651000"/>
            <a:ext cx="5270500" cy="508000"/>
          </a:xfrm>
          <a:prstGeom prst="roundRect">
            <a:avLst>
              <a:gd name="adj" fmla="val 0"/>
            </a:avLst>
          </a:prstGeom>
          <a:solidFill>
            <a:srgbClr val="228B2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508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01 模型输入参数：驱动模型运行的基础要素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857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819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站点基础参数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20221">
            <a:off x="952519" y="3359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3492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涵盖研究站点的地理纬度信息，以及作物实际种植与播种的具体日期，确定生长周期起点。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92500" y="26670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285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127500" y="2819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土壤理化参数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20221">
            <a:off x="3683019" y="3359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683000" y="3492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包含最大根系深度、田间持水量及萎蔫点等关键指标，决定土壤水分利用与养分供应能力。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6355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826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47879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作物品种参数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0221">
            <a:off x="952519" y="5327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952500" y="5461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设定三基点温度、辐射利用效率(RUE)、消光系数及比叶面积，定义作物遗传生长特性。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492500" y="46355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3000" y="4826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4127500" y="47879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逐日气象数据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221">
            <a:off x="3683019" y="5327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3683000" y="5461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输入每日最高/最低温、太阳辐射、降雨量、空气湿度及风速，驱动作物生理生态过程。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390450">
            <a:off x="40005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477000" y="1651000"/>
            <a:ext cx="5270500" cy="508000"/>
          </a:xfrm>
          <a:prstGeom prst="roundRect">
            <a:avLst>
              <a:gd name="adj" fmla="val 0"/>
            </a:avLst>
          </a:prstGeom>
          <a:solidFill>
            <a:srgbClr val="228B2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477000" y="1651000"/>
            <a:ext cx="76200" cy="508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731000" y="1651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02 模型输出变量：多维生长与过程的量化表征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77000" y="26670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28575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112000" y="2819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生物量与形态指标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20221">
            <a:off x="6667519" y="3359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6667500" y="3492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输出总生物量及叶、茎、根、果实分配；量化叶面积指数(LAI)与根系深度动态变化。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207500" y="26670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98000" y="2857500"/>
            <a:ext cx="304800" cy="3048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9842500" y="2819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关键器官数量</a:t>
            </a:r>
            <a:endParaRPr lang="en-US" sz="1100"/>
          </a:p>
        </p:txBody>
      </p:sp>
      <p:cxnSp>
        <p:nvCxnSpPr>
          <p:cNvPr id="39" name="Connector 39"/>
          <p:cNvCxnSpPr/>
          <p:nvPr/>
        </p:nvCxnSpPr>
        <p:spPr>
          <a:xfrm rot="-20221">
            <a:off x="9398019" y="3359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/>
        </p:nvSpPr>
        <p:spPr>
          <a:xfrm>
            <a:off x="9398000" y="3492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模拟并输出作物果实数量、冠芽数及匍匐茎数，反映作物繁殖与产量构成要素的变化。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477000" y="46355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67500" y="4826000"/>
            <a:ext cx="304800" cy="304800"/>
          </a:xfrm>
          <a:prstGeom prst="rect">
            <a:avLst/>
          </a:prstGeom>
        </p:spPr>
      </p:pic>
      <p:sp>
        <p:nvSpPr>
          <p:cNvPr id="43" name="AutoShape 43"/>
          <p:cNvSpPr/>
          <p:nvPr/>
        </p:nvSpPr>
        <p:spPr>
          <a:xfrm>
            <a:off x="7112000" y="47879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核心状态变量</a:t>
            </a:r>
            <a:endParaRPr lang="en-US" sz="1100"/>
          </a:p>
        </p:txBody>
      </p:sp>
      <p:cxnSp>
        <p:nvCxnSpPr>
          <p:cNvPr id="44" name="Connector 44"/>
          <p:cNvCxnSpPr/>
          <p:nvPr/>
        </p:nvCxnSpPr>
        <p:spPr>
          <a:xfrm rot="-20221">
            <a:off x="6667519" y="5327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5" name="AutoShape 45"/>
          <p:cNvSpPr/>
          <p:nvPr/>
        </p:nvSpPr>
        <p:spPr>
          <a:xfrm>
            <a:off x="6667500" y="5461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追踪作物物候阶段、累积热时间及水分胁迫因子，反映生长环境对作物状态的实时影响。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9207500" y="46355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7" name="Picture 4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98000" y="4826000"/>
            <a:ext cx="304800" cy="304800"/>
          </a:xfrm>
          <a:prstGeom prst="rect">
            <a:avLst/>
          </a:prstGeom>
        </p:spPr>
      </p:pic>
      <p:sp>
        <p:nvSpPr>
          <p:cNvPr id="48" name="AutoShape 48"/>
          <p:cNvSpPr/>
          <p:nvPr/>
        </p:nvSpPr>
        <p:spPr>
          <a:xfrm>
            <a:off x="9842500" y="47879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生理过程变量</a:t>
            </a:r>
            <a:endParaRPr lang="en-US" sz="1100"/>
          </a:p>
        </p:txBody>
      </p:sp>
      <p:cxnSp>
        <p:nvCxnSpPr>
          <p:cNvPr id="49" name="Connector 49"/>
          <p:cNvCxnSpPr/>
          <p:nvPr/>
        </p:nvCxnSpPr>
        <p:spPr>
          <a:xfrm rot="-20221">
            <a:off x="9398019" y="5327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0" name="AutoShape 50"/>
          <p:cNvSpPr/>
          <p:nvPr/>
        </p:nvSpPr>
        <p:spPr>
          <a:xfrm>
            <a:off x="9398000" y="5461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输出每日光合作用总量、蒸腾作用耗水量，解析作物物质生产与水分利用的内在机制。</a:t>
            </a:r>
            <a:endParaRPr lang="en-US" sz="1100"/>
          </a:p>
        </p:txBody>
      </p:sp>
      <p:sp>
        <p:nvSpPr>
          <p:cNvPr id="51" name="TextBox 50"/>
          <p:cNvSpPr txBox="1"/>
          <p:nvPr/>
        </p:nvSpPr>
        <p:spPr>
          <a:xfrm>
            <a:off x="3987800" y="-70485"/>
            <a:ext cx="8229600" cy="135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__init__()输入参数定义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站点/土壤/品种参数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气象数据格式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simulate_growth()输出变量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模型输入输出参数表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模型验证方法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36830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03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单元测试框架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626">
            <a:off x="1016014" y="2533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794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Python `unittest` 框架搭建模块化验证体系，针对模型的核心函数、算法逻辑与数据接口进行独立测试。确保每个模块功能原子化、可复现，实现代码变更的自动化回归检测，保障模型基础逻辑的准确性与稳定性。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4445000" y="1524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4445000" y="1524000"/>
            <a:ext cx="50800" cy="1143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4635500" y="1625600"/>
            <a:ext cx="31115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日长与热时间计算验证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验证夏至日长大于冬至、三基点温度响应符合生物学规律，确保光温驱动模块的基础计算无偏差。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4445000" y="2921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4445000" y="2921000"/>
            <a:ext cx="50800" cy="1143000"/>
          </a:xfrm>
          <a:prstGeom prst="roundRect">
            <a:avLst>
              <a:gd name="adj" fmla="val 0"/>
            </a:avLst>
          </a:prstGeom>
          <a:solidFill>
            <a:srgbClr val="228B22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4635500" y="3022600"/>
            <a:ext cx="31115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物候进程与光合作用响应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验证热时间阈值触发物候阶段转换，以及光合速率随光照、CO₂浓度的变化趋势符合生理生态规律。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4445000" y="431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4445000" y="4318000"/>
            <a:ext cx="50800" cy="1143000"/>
          </a:xfrm>
          <a:prstGeom prst="roundRect">
            <a:avLst>
              <a:gd name="adj" fmla="val 0"/>
            </a:avLst>
          </a:prstGeom>
          <a:solidFill>
            <a:srgbClr val="228B22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4635500" y="4419600"/>
            <a:ext cx="31115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水分胁迫与环境响应验证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验证土壤水分亏缺时胁迫因子显著升高，且呼吸作用随温度变化的Q10效应符合经典模型假设。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8128000" y="1524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8128000" y="1524000"/>
            <a:ext cx="50800" cy="1143000"/>
          </a:xfrm>
          <a:prstGeom prst="roundRect">
            <a:avLst>
              <a:gd name="adj" fmla="val 0"/>
            </a:avLst>
          </a:prstGeom>
          <a:solidFill>
            <a:srgbClr val="228B2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4"/>
            </p:custDataLst>
          </p:nvPr>
        </p:nvSpPr>
        <p:spPr>
          <a:xfrm>
            <a:off x="8318500" y="1625600"/>
            <a:ext cx="31115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生物量分配与守恒验证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验证光合产物在根、茎、叶、生殖器官间的分配比例合理，且总生物量收支平衡，无计算流失。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>
            <p:custDataLst>
              <p:tags r:id="rId15"/>
            </p:custDataLst>
          </p:nvPr>
        </p:nvSpPr>
        <p:spPr>
          <a:xfrm>
            <a:off x="8128000" y="2921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16"/>
            </p:custDataLst>
          </p:nvPr>
        </p:nvSpPr>
        <p:spPr>
          <a:xfrm>
            <a:off x="8128000" y="2921000"/>
            <a:ext cx="50800" cy="1143000"/>
          </a:xfrm>
          <a:prstGeom prst="roundRect">
            <a:avLst>
              <a:gd name="adj" fmla="val 0"/>
            </a:avLst>
          </a:prstGeom>
          <a:solidFill>
            <a:srgbClr val="228B22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17"/>
            </p:custDataLst>
          </p:nvPr>
        </p:nvSpPr>
        <p:spPr>
          <a:xfrm>
            <a:off x="8318500" y="3022600"/>
            <a:ext cx="31115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多过程耦合逻辑测试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测试物候阶段对光合、呼吸及分配系数的动态调控，确保各子模块间数据交互与逻辑耦合无误。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>
            <p:custDataLst>
              <p:tags r:id="rId18"/>
            </p:custDataLst>
          </p:nvPr>
        </p:nvSpPr>
        <p:spPr>
          <a:xfrm>
            <a:off x="8128000" y="431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19"/>
            </p:custDataLst>
          </p:nvPr>
        </p:nvSpPr>
        <p:spPr>
          <a:xfrm>
            <a:off x="8128000" y="4318000"/>
            <a:ext cx="50800" cy="1143000"/>
          </a:xfrm>
          <a:prstGeom prst="roundRect">
            <a:avLst>
              <a:gd name="adj" fmla="val 0"/>
            </a:avLst>
          </a:prstGeom>
          <a:solidFill>
            <a:srgbClr val="228B22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20"/>
            </p:custDataLst>
          </p:nvPr>
        </p:nvSpPr>
        <p:spPr>
          <a:xfrm>
            <a:off x="8318500" y="4419600"/>
            <a:ext cx="31115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极端边界条件鲁棒性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测试高温、干旱、极端光强等边缘输入下模型的稳定性，确保无计算溢出或逻辑错误，输出合理。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762000" y="5715000"/>
            <a:ext cx="10795000" cy="889000"/>
          </a:xfrm>
          <a:prstGeom prst="roundRect">
            <a:avLst>
              <a:gd name="adj" fmla="val 0"/>
            </a:avLst>
          </a:prstGeom>
          <a:solidFill>
            <a:srgbClr val="228B2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6000" y="5892800"/>
            <a:ext cx="457200" cy="4572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778000" y="57785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跨语言基准对比验证：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`validate_models.py` 脚本驱动，使用相同气象与管理输入数据，对比 Python 实现与权威 Fortran-DSSAT 版本的输出结果，确保关键物候期、生物量累积等核心指标在误差允许范围内高度一致。</a:t>
            </a:r>
            <a:endParaRPr lang="en-US" sz="1100"/>
          </a:p>
        </p:txBody>
      </p:sp>
      <p:sp>
        <p:nvSpPr>
          <p:cNvPr id="30" name="TextBox 29"/>
          <p:cNvSpPr txBox="1"/>
          <p:nvPr/>
        </p:nvSpPr>
        <p:spPr>
          <a:xfrm>
            <a:off x="3230245" y="-256540"/>
            <a:ext cx="10274300" cy="1983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cropgro-strawberry-test1.py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test_daylength_calculation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test_thermal_time_calculation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test_photosynthesis_calculation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test_transpiration_calculation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test_water_stress_calculation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test_maintenance_respiration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test_biomass_partitioning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validate_models.py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Python与Fortran对比验证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模型验证方法说明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技术实现特点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8B22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905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222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184400"/>
            <a:ext cx="266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Numba JIT 加速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9210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36454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2984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Menlo"/>
                <a:ea typeface="Menlo"/>
                <a:cs typeface="Menlo"/>
                <a:sym typeface="Menlo"/>
              </a:rPr>
              <a:t>from numba import njit&amp;#10;&amp;#64;njit # 编译为机器码&amp;#10;def _thermal_time(tmin, tmax, tbase):&amp;#10; ... # 核心热时间计算逻辑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952513" y="456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4762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将核心数值计算函数即时编译为机器码，在保持 Python 代码高可读性的同时，实现了接近 C/Fortran 的运行性能，大幅提升模型迭代效率。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1905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222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16500" y="2184400"/>
            <a:ext cx="266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Dataclass 状态管理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29210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36454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635500" y="2984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Menlo"/>
                <a:ea typeface="Menlo"/>
                <a:cs typeface="Menlo"/>
                <a:sym typeface="Menlo"/>
              </a:rPr>
              <a:t>from dataclasses import dataclass&amp;#10;&amp;#64;dataclass&amp;#10;class PlantState:&amp;#10; biomass: float = 0.0&amp;#10; leaf_area_index: float = 0.1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4572013" y="456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572000" y="4762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通过数据类结构化管理植株复杂状态变量，提供原生类型安全检查，自动生成初始化方法，让状态逻辑更清晰，代码维护与扩展更便捷。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01000" y="1905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01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22225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636000" y="2184400"/>
            <a:ext cx="266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Pandas 数据流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91500" y="29210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36454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255000" y="2984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Menlo"/>
                <a:ea typeface="Menlo"/>
                <a:cs typeface="Menlo"/>
                <a:sym typeface="Menlo"/>
              </a:rPr>
              <a:t># 气象与结果均为 DataFrame&amp;#10;weather_df = pd.DataFrame({...})&amp;#10;results_df = model.simulate(weather_df)&amp;#10;# 直接支持 to_csv/to_excel 导出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323">
            <a:off x="8191513" y="456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191500" y="4762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Pandas 高效处理输入输出数据，天然支持时间序列分析，可无缝衔接 Matplotlib、Seaborn 等可视化工具，简化数据全流程处理。</a:t>
            </a:r>
            <a:endParaRPr lang="en-US" sz="1100"/>
          </a:p>
        </p:txBody>
      </p:sp>
      <p:sp>
        <p:nvSpPr>
          <p:cNvPr id="28" name="TextBox 27"/>
          <p:cNvSpPr txBox="1"/>
          <p:nvPr/>
        </p:nvSpPr>
        <p:spPr>
          <a:xfrm>
            <a:off x="3300730" y="147955"/>
            <a:ext cx="8229600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@njit装饰器加速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@dataclass状态管理(PlantState)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Pandas DataFrame输出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技术实现特点说明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8B22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413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387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01 科研应用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429000"/>
            <a:ext cx="2997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聚焦草莓生长机理的深度研究，开展环境因子敏感性分析，优化品种关键参数，并持续进行模型的改进与验证，为理论研究提供数据支撑。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942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2413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83200" y="2387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02 生产应用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482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84700" y="3429000"/>
            <a:ext cx="2997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指导实际农业生产，实现种植日期优化与精准灌溉管理决策，科学预测产量，并系统评估气候变化对作物生长的潜在影响，提升生产效率。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264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264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413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915400" y="2387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03 教学应用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2804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16900" y="3429000"/>
            <a:ext cx="2997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作为优质教学工具，直观演示作物模型核心原理，开展Python科学计算实践教学，通过农业系统模拟加深学生对农业科学的理解与应用能力。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2500" y="6070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该模型实现了从理论研究到生产实践，再到教育科普的全链条覆盖，构建了科研、生产与教学深度融合的一体化应用体系。</a:t>
            </a:r>
            <a:endParaRPr lang="en-US" sz="1100"/>
          </a:p>
        </p:txBody>
      </p:sp>
      <p:sp>
        <p:nvSpPr>
          <p:cNvPr id="24" name="TextBox 23"/>
          <p:cNvSpPr txBox="1"/>
          <p:nvPr/>
        </p:nvSpPr>
        <p:spPr>
          <a:xfrm>
            <a:off x="2412365" y="0"/>
            <a:ext cx="822960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模型整体应用接口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simulate_growth()方法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应用场景说明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796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日长计算：天文驱动的光周期响应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基于天文学算法精准计算可照时间，有效处理极昼极夜边界条件，为物候发育提供基础光周期信号。</a:t>
            </a:r>
            <a:endParaRPr lang="en-US" sz="12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04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238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1496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热时间：三基点温度的梯形响应函数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采用梯形函数量化温度对发育的影响，区分最低、最适和最高温度阈值，准确累计有效积温驱动生长进程。</a:t>
            </a:r>
            <a:endParaRPr lang="en-US" sz="12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31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431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08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4196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光合作用：RUE模型的多因子耦合机制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基于辐射利用效率（RUE）框架，耦合CO₂浓度、温度胁迫及氮素供应等因子，动态模拟冠层光合生产能力。</a:t>
            </a:r>
            <a:endParaRPr lang="en-US" sz="12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86500" y="177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86500" y="177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1968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18796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蒸腾作用：Hargreaves简化模型适配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采用Hargreaves模型估算参考作物蒸散量，大幅简化对气象数据的需求，兼顾模拟精度与数据可获得性。</a:t>
            </a:r>
            <a:endParaRPr lang="en-US" sz="12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86500" y="304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86500" y="304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32385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048500" y="31496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水分胁迫：0-1量化的土壤水分平衡法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通过土壤水分收支平衡计算有效含水量，构建0到1的胁迫系数，精准量化水分亏缺对生长和发育的抑制作用。</a:t>
            </a:r>
            <a:endParaRPr lang="en-US" sz="12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86500" y="431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86500" y="431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4508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048500" y="44196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维持呼吸：器官差异化的Q10温度响应模型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采用Q10模型描述温度对呼吸的影响，设置茎、叶、根等不同器官的差异化系数，精准模拟呼吸消耗的动态变化。</a:t>
            </a:r>
            <a:endParaRPr lang="en-US" sz="12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8" name="Connector 28"/>
          <p:cNvCxnSpPr/>
          <p:nvPr/>
        </p:nvCxnSpPr>
        <p:spPr>
          <a:xfrm rot="-4092">
            <a:off x="762004" y="5645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762000" y="5842000"/>
            <a:ext cx="33782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9000" y="59690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1333500" y="5905500"/>
            <a:ext cx="266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模块化机制驱动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算法独立可替换，基于生理生态过程，结构清晰灵活。</a:t>
            </a:r>
            <a:endParaRPr lang="en-US" sz="11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4394200" y="5842000"/>
            <a:ext cx="33782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21200" y="59690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4965700" y="5905500"/>
            <a:ext cx="266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参数化与高效计算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适配多品种与区域，集成Numba JIT加速，运行效率优异。</a:t>
            </a:r>
            <a:endParaRPr lang="en-US" sz="11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8026400" y="5842000"/>
            <a:ext cx="33782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28B2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53400" y="59690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597900" y="5905500"/>
            <a:ext cx="266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多维度验证完备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单元测试全覆盖，与DSSAT对比及实际案例检验均通过。</a:t>
            </a:r>
            <a:endParaRPr lang="en-US" sz="11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81200" y="139700"/>
            <a:ext cx="8229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六大核心算法汇总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总结内容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参考资料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8B22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228B2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387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项目代码资源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代码仓库：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GitHub开源地址：https://github.com/itsjameshan/CN-strawberryDSSAT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关键实现：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核心逻辑文件 cropgro-strawberry-implementation.py；测试验证文件 cropgro-strawberry-test1.py。</a:t>
            </a:r>
            <a:endParaRPr lang="en-US" sz="13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0" y="2032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228B2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45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413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70500" y="2387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02 DSSAT 模型框架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99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990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官方资源：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DSSAT 官方网站（https://dssat.net）提供了模型的完整文档、参数说明与使用指南。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核心依据：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CROPGRO 作物生长模型的标准文档进行二次开发与适配，确保模型框架的规范性与通用性。</a:t>
            </a:r>
            <a:endParaRPr lang="en-US" sz="13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64500" y="2032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228B2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64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2413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90000" y="2387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核心算法文献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3185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6454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185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理论基础：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日长计算采用天文学基础公式；热时间模型参考 Monteith (1977)；RUE 模型遵循 Sinclair &amp; Muchow (1999) 的研究成果。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模型应用：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蒸散计算采用 Hargreaves &amp; Samani (1985) 模型；呼吸作用基于 Q10 生理生态学模型实现。</a:t>
            </a:r>
            <a:endParaRPr lang="en-US" sz="13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969000"/>
            <a:ext cx="10731500" cy="635000"/>
          </a:xfrm>
          <a:prstGeom prst="roundRect">
            <a:avLst>
              <a:gd name="adj" fmla="val 0"/>
            </a:avLst>
          </a:prstGeom>
          <a:solidFill>
            <a:srgbClr val="228B2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6070600"/>
            <a:ext cx="10223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注：本项目所有核心算法均参考权威学术文献与国际通用模型标准，确保模拟结果具备科学严谨性与可重复性。</a:t>
            </a:r>
            <a:endParaRPr lang="en-US" sz="1100"/>
          </a:p>
        </p:txBody>
      </p:sp>
      <p:sp>
        <p:nvSpPr>
          <p:cNvPr id="24" name="TextBox 23"/>
          <p:cNvSpPr txBox="1"/>
          <p:nvPr/>
        </p:nvSpPr>
        <p:spPr>
          <a:xfrm>
            <a:off x="2419985" y="63500"/>
            <a:ext cx="8229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项目核心文件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参考资料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>
            <a:hlinkClick r:id="" action="ppaction://hlinkshowjump?jump=nextslide"/>
          </p:cNvPr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105525" cy="685800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6105525" y="0"/>
            <a:ext cx="6086475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44980" y="0"/>
            <a:ext cx="822960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>
              <a:solidFill>
                <a:schemeClr val="accent1"/>
              </a:solidFill>
            </a:endParaRPr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>
                <a:solidFill>
                  <a:schemeClr val="accent1"/>
                </a:solidFill>
              </a:rPr>
              <a:t>📁 对应源码文件：</a:t>
            </a:r>
            <a:endParaRPr b="1">
              <a:solidFill>
                <a:schemeClr val="accent1"/>
              </a:solidFill>
            </a:endParaRPr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>
                <a:solidFill>
                  <a:schemeClr val="accent1"/>
                </a:solidFill>
              </a:rPr>
              <a:t>  • cropgro-strawberry-implementation.py</a:t>
            </a:r>
            <a:endParaRPr b="1">
              <a:solidFill>
                <a:schemeClr val="accent1"/>
              </a:solidFill>
            </a:endParaRPr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>
                <a:solidFill>
                  <a:schemeClr val="accent1"/>
                </a:solidFill>
              </a:rPr>
              <a:t>    → simulate_growth()整体流程</a:t>
            </a:r>
            <a:endParaRPr b="1">
              <a:solidFill>
                <a:schemeClr val="accent1"/>
              </a:solidFill>
            </a:endParaRPr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>
                <a:solidFill>
                  <a:schemeClr val="accent1"/>
                </a:solidFill>
              </a:rPr>
              <a:t>    → 输入输出数据流</a:t>
            </a:r>
            <a:endParaRPr b="1">
              <a:solidFill>
                <a:schemeClr val="accent1"/>
              </a:solidFill>
            </a:endParaRPr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>
                <a:solidFill>
                  <a:schemeClr val="accent1"/>
                </a:solidFill>
              </a:rPr>
              <a:t>  • algorithm_mechanism_ppt.md</a:t>
            </a:r>
            <a:endParaRPr b="1">
              <a:solidFill>
                <a:schemeClr val="accent1"/>
              </a:solidFill>
            </a:endParaRPr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>
                <a:solidFill>
                  <a:schemeClr val="accent1"/>
                </a:solidFill>
              </a:rPr>
              <a:t>    → 输入到输出流程说明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78040" y="1702435"/>
            <a:ext cx="1110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输入模块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80935" y="3265170"/>
            <a:ext cx="9258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管理模块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850755" y="3094990"/>
            <a:ext cx="4743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气象模块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06540" y="4754245"/>
            <a:ext cx="9702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作物模块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88655" y="4976495"/>
            <a:ext cx="9632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土壤模块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761855" y="546735"/>
            <a:ext cx="13843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通用工具模块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325100" y="5924550"/>
            <a:ext cx="12439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输出模块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08395" y="5060950"/>
            <a:ext cx="1153160" cy="734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highlight>
                  <a:srgbClr val="FFFF00"/>
                </a:highlight>
              </a:rPr>
              <a:t>（日长计算，热时间计算，光合作用，蒸腾作用，水分胁迫，维持呼吸）</a:t>
            </a:r>
            <a:endParaRPr lang="zh-CN" altLang="en-US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635"/>
            <a:ext cx="12192635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细化：</a:t>
            </a:r>
            <a:endParaRPr lang="zh-CN" altLang="en-US" sz="2800"/>
          </a:p>
          <a:p>
            <a:r>
              <a:rPr lang="en-US" altLang="zh-CN" sz="2800"/>
              <a:t>Utilities </a:t>
            </a:r>
            <a:r>
              <a:rPr lang="en-US" altLang="en-US" sz="2800"/>
              <a:t>──</a:t>
            </a:r>
            <a:r>
              <a:rPr lang="zh-CN" altLang="en-US" sz="2800"/>
              <a:t>工具支持</a:t>
            </a:r>
            <a:r>
              <a:rPr lang="en-US" altLang="en-US" sz="2800"/>
              <a:t>──→</a:t>
            </a:r>
            <a:r>
              <a:rPr lang="en-US" altLang="zh-CN" sz="2800"/>
              <a:t> InputModule </a:t>
            </a:r>
            <a:r>
              <a:rPr lang="en-US" altLang="en-US" sz="2800"/>
              <a:t>──</a:t>
            </a:r>
            <a:r>
              <a:rPr lang="zh-CN" altLang="en-US" sz="2800"/>
              <a:t>提供作物参数</a:t>
            </a:r>
            <a:r>
              <a:rPr lang="en-US" altLang="en-US" sz="2800"/>
              <a:t>──→</a:t>
            </a:r>
            <a:r>
              <a:rPr lang="en-US" altLang="zh-CN" sz="2800"/>
              <a:t> Plant</a:t>
            </a:r>
            <a:endParaRPr lang="en-US" altLang="zh-CN" sz="2800"/>
          </a:p>
          <a:p>
            <a:r>
              <a:rPr lang="en-US" altLang="zh-CN" sz="2800"/>
              <a:t>                </a:t>
            </a:r>
            <a:r>
              <a:rPr lang="en-US" altLang="en-US" sz="2800"/>
              <a:t>│</a:t>
            </a:r>
            <a:r>
              <a:rPr lang="en-US" altLang="zh-CN" sz="2800"/>
              <a:t>                    </a:t>
            </a:r>
            <a:r>
              <a:rPr lang="en-US" altLang="en-US" sz="2800"/>
              <a:t>──</a:t>
            </a:r>
            <a:r>
              <a:rPr lang="zh-CN" altLang="en-US" sz="2800"/>
              <a:t>提供管理输入</a:t>
            </a:r>
            <a:r>
              <a:rPr lang="en-US" altLang="en-US" sz="2800"/>
              <a:t>──→</a:t>
            </a:r>
            <a:r>
              <a:rPr lang="en-US" altLang="zh-CN" sz="2800"/>
              <a:t> Management</a:t>
            </a:r>
            <a:endParaRPr lang="en-US" altLang="zh-CN" sz="2800"/>
          </a:p>
          <a:p>
            <a:r>
              <a:rPr lang="en-US" altLang="zh-CN" sz="2800"/>
              <a:t>                </a:t>
            </a:r>
            <a:r>
              <a:rPr lang="en-US" altLang="en-US" sz="2800"/>
              <a:t>│</a:t>
            </a:r>
            <a:r>
              <a:rPr lang="en-US" altLang="zh-CN" sz="2800"/>
              <a:t>                                           </a:t>
            </a:r>
            <a:r>
              <a:rPr lang="en-US" altLang="en-US" sz="2800"/>
              <a:t>│</a:t>
            </a:r>
            <a:endParaRPr lang="en-US" altLang="en-US" sz="2800"/>
          </a:p>
          <a:p>
            <a:r>
              <a:rPr lang="en-US" altLang="zh-CN" sz="2800"/>
              <a:t>                </a:t>
            </a:r>
            <a:r>
              <a:rPr lang="en-US" altLang="en-US" sz="2800"/>
              <a:t>│</a:t>
            </a:r>
            <a:r>
              <a:rPr lang="en-US" altLang="zh-CN" sz="2800"/>
              <a:t>                    </a:t>
            </a:r>
            <a:r>
              <a:rPr lang="en-US" altLang="en-US" sz="2800"/>
              <a:t>──</a:t>
            </a:r>
            <a:r>
              <a:rPr lang="zh-CN" altLang="en-US" sz="2800"/>
              <a:t>提供土壤参数</a:t>
            </a:r>
            <a:r>
              <a:rPr lang="en-US" altLang="en-US" sz="2800"/>
              <a:t>──→</a:t>
            </a:r>
            <a:r>
              <a:rPr lang="en-US" altLang="zh-CN" sz="2800"/>
              <a:t> Soil</a:t>
            </a:r>
            <a:endParaRPr lang="en-US" altLang="zh-CN" sz="2800"/>
          </a:p>
          <a:p>
            <a:r>
              <a:rPr lang="en-US" altLang="zh-CN" sz="2800"/>
              <a:t>                </a:t>
            </a:r>
            <a:r>
              <a:rPr lang="en-US" altLang="en-US" sz="2800"/>
              <a:t>│</a:t>
            </a:r>
            <a:r>
              <a:rPr lang="en-US" altLang="zh-CN" sz="2800"/>
              <a:t>                                           </a:t>
            </a:r>
            <a:r>
              <a:rPr lang="en-US" altLang="en-US" sz="2800"/>
              <a:t>│</a:t>
            </a:r>
            <a:endParaRPr lang="en-US" altLang="en-US" sz="2800"/>
          </a:p>
          <a:p>
            <a:r>
              <a:rPr lang="en-US" altLang="zh-CN" sz="2800"/>
              <a:t>                </a:t>
            </a:r>
            <a:r>
              <a:rPr lang="en-US" altLang="en-US" sz="2800"/>
              <a:t>└──</a:t>
            </a:r>
            <a:r>
              <a:rPr lang="zh-CN" altLang="en-US" sz="2800"/>
              <a:t>工具支持</a:t>
            </a:r>
            <a:r>
              <a:rPr lang="en-US" altLang="en-US" sz="2800"/>
              <a:t>──→</a:t>
            </a:r>
            <a:r>
              <a:rPr lang="en-US" altLang="zh-CN" sz="2800"/>
              <a:t> Weather </a:t>
            </a:r>
            <a:r>
              <a:rPr lang="en-US" altLang="en-US" sz="2800"/>
              <a:t>──</a:t>
            </a:r>
            <a:r>
              <a:rPr lang="zh-CN" altLang="en-US" sz="2800"/>
              <a:t>提供气象数据</a:t>
            </a:r>
            <a:r>
              <a:rPr lang="en-US" altLang="en-US" sz="2800"/>
              <a:t>──→</a:t>
            </a:r>
            <a:r>
              <a:rPr lang="en-US" altLang="zh-CN" sz="2800"/>
              <a:t> Plant</a:t>
            </a:r>
            <a:endParaRPr lang="en-US" altLang="zh-CN" sz="2800"/>
          </a:p>
          <a:p>
            <a:r>
              <a:rPr lang="en-US" altLang="zh-CN" sz="2800"/>
              <a:t>                                     </a:t>
            </a:r>
            <a:r>
              <a:rPr lang="en-US" altLang="en-US" sz="2800"/>
              <a:t>──</a:t>
            </a:r>
            <a:r>
              <a:rPr lang="zh-CN" altLang="en-US" sz="2800"/>
              <a:t>提供气象数据</a:t>
            </a:r>
            <a:r>
              <a:rPr lang="en-US" altLang="en-US" sz="2800"/>
              <a:t>──→</a:t>
            </a:r>
            <a:r>
              <a:rPr lang="en-US" altLang="zh-CN" sz="2800"/>
              <a:t> Soil</a:t>
            </a:r>
            <a:endParaRPr lang="en-US" altLang="zh-CN" sz="2800"/>
          </a:p>
          <a:p>
            <a:r>
              <a:rPr lang="en-US" altLang="zh-CN" sz="2800"/>
              <a:t>                                                      </a:t>
            </a:r>
            <a:r>
              <a:rPr lang="en-US" altLang="en-US" sz="2800"/>
              <a:t>│</a:t>
            </a:r>
            <a:endParaRPr lang="en-US" altLang="en-US" sz="2800"/>
          </a:p>
          <a:p>
            <a:r>
              <a:rPr lang="en-US" altLang="zh-CN" sz="2800"/>
              <a:t>                Output </a:t>
            </a:r>
            <a:r>
              <a:rPr lang="en-US" altLang="en-US" sz="2800"/>
              <a:t>←──</a:t>
            </a:r>
            <a:r>
              <a:rPr lang="zh-CN" altLang="en-US" sz="2800"/>
              <a:t>输出作物结果</a:t>
            </a:r>
            <a:r>
              <a:rPr lang="en-US" altLang="en-US" sz="2800"/>
              <a:t>──</a:t>
            </a:r>
            <a:r>
              <a:rPr lang="en-US" altLang="zh-CN" sz="2800"/>
              <a:t> Plant</a:t>
            </a:r>
            <a:endParaRPr lang="en-US" altLang="zh-CN" sz="2800"/>
          </a:p>
          <a:p>
            <a:r>
              <a:rPr lang="en-US" altLang="zh-CN" sz="2800"/>
              <a:t>                Output </a:t>
            </a:r>
            <a:r>
              <a:rPr lang="en-US" altLang="en-US" sz="2800"/>
              <a:t>←──</a:t>
            </a:r>
            <a:r>
              <a:rPr lang="zh-CN" altLang="en-US" sz="2800"/>
              <a:t>输出土壤结果</a:t>
            </a:r>
            <a:r>
              <a:rPr lang="en-US" altLang="en-US" sz="2800"/>
              <a:t>──</a:t>
            </a:r>
            <a:r>
              <a:rPr lang="en-US" altLang="zh-CN" sz="2800"/>
              <a:t> Soil</a:t>
            </a:r>
            <a:endParaRPr lang="en-US" altLang="zh-CN" sz="2800"/>
          </a:p>
          <a:p>
            <a:r>
              <a:rPr lang="en-US" altLang="zh-CN" sz="2800"/>
              <a:t>                Output </a:t>
            </a:r>
            <a:r>
              <a:rPr lang="en-US" altLang="en-US" sz="2800"/>
              <a:t>←──</a:t>
            </a:r>
            <a:r>
              <a:rPr lang="zh-CN" altLang="en-US" sz="2800"/>
              <a:t>输出气象结果</a:t>
            </a:r>
            <a:r>
              <a:rPr lang="en-US" altLang="en-US" sz="2800"/>
              <a:t>──</a:t>
            </a:r>
            <a:r>
              <a:rPr lang="en-US" altLang="zh-CN" sz="2800"/>
              <a:t> Weather</a:t>
            </a:r>
            <a:endParaRPr lang="en-US" altLang="zh-CN"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ccf6ca438a838fc13181f8cbcf076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7775" y="-635"/>
            <a:ext cx="5864225" cy="685863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635"/>
            <a:ext cx="6086475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77995" y="197485"/>
            <a:ext cx="35413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accent1"/>
                </a:solidFill>
              </a:rPr>
              <a:t>与</a:t>
            </a:r>
            <a:r>
              <a:rPr lang="en-US" altLang="zh-CN" sz="2800">
                <a:solidFill>
                  <a:schemeClr val="accent1"/>
                </a:solidFill>
              </a:rPr>
              <a:t>Python</a:t>
            </a:r>
            <a:r>
              <a:rPr lang="zh-CN" altLang="en-US" sz="2800">
                <a:solidFill>
                  <a:schemeClr val="accent1"/>
                </a:solidFill>
              </a:rPr>
              <a:t>流程对比图</a:t>
            </a:r>
            <a:endParaRPr lang="zh-CN" altLang="en-US" sz="2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96035" y="5339080"/>
            <a:ext cx="4064000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-635" y="875030"/>
            <a:ext cx="12192635" cy="60382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2775" y="179070"/>
            <a:ext cx="70999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SzTx/>
            </a:pPr>
            <a:r>
              <a:rPr lang="zh-CN" altLang="en-US" sz="3600">
                <a:solidFill>
                  <a:schemeClr val="accent6"/>
                </a:solidFill>
              </a:rPr>
              <a:t>各文件的工具输出主程序和模型</a:t>
            </a:r>
            <a:endParaRPr lang="zh-CN" altLang="en-US" sz="3600">
              <a:solidFill>
                <a:schemeClr val="accent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93585" y="-214630"/>
            <a:ext cx="8229600" cy="1368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主程序入口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模型运行示例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run_original_dssat.py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原版DSSAT运行脚本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validate_models.py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模型验证脚本</a:t>
            </a:r>
            <a:endParaRPr b="1"/>
          </a:p>
        </p:txBody>
      </p:sp>
      <p:sp>
        <p:nvSpPr>
          <p:cNvPr id="6" name="文本框 5"/>
          <p:cNvSpPr txBox="1"/>
          <p:nvPr/>
        </p:nvSpPr>
        <p:spPr>
          <a:xfrm>
            <a:off x="8532495" y="3326765"/>
            <a:ext cx="15703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/>
                </a:solidFill>
              </a:rPr>
              <a:t>核心控制器</a:t>
            </a:r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8365" y="4445000"/>
            <a:ext cx="17773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/>
                </a:solidFill>
              </a:rPr>
              <a:t>作物生长模拟</a:t>
            </a:r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54470" y="4445000"/>
            <a:ext cx="1666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/>
                </a:solidFill>
              </a:rPr>
              <a:t>读取和处理气象数据，驱动模拟</a:t>
            </a:r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87460" y="4445000"/>
            <a:ext cx="14376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/>
                </a:solidFill>
              </a:rPr>
              <a:t>土壤水分平衡、养分循环</a:t>
            </a:r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54495" y="5808345"/>
            <a:ext cx="12674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/>
                </a:solidFill>
              </a:rPr>
              <a:t>模拟期间的气象数据及</a:t>
            </a:r>
            <a:r>
              <a:rPr lang="en-US" altLang="zh-CN">
                <a:solidFill>
                  <a:schemeClr val="accent4"/>
                </a:solidFill>
              </a:rPr>
              <a:t>ET0</a:t>
            </a:r>
            <a:endParaRPr lang="en-US" altLang="zh-CN">
              <a:solidFill>
                <a:schemeClr val="accent4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84005" y="5806440"/>
            <a:ext cx="7626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/>
                </a:solidFill>
              </a:rPr>
              <a:t>土壤水分动态</a:t>
            </a:r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80675" y="5806440"/>
            <a:ext cx="1296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/>
                </a:solidFill>
              </a:rPr>
              <a:t>模拟结果摘要统计</a:t>
            </a:r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58210" y="5852160"/>
            <a:ext cx="13766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/>
                </a:solidFill>
              </a:rPr>
              <a:t>逐日作物生长数据</a:t>
            </a:r>
            <a:endParaRPr lang="zh-CN" altLang="en-US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0"/>
            <a:ext cx="12192635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细化：</a:t>
            </a:r>
            <a:endParaRPr lang="zh-CN" altLang="en-US" sz="2000"/>
          </a:p>
          <a:p>
            <a:r>
              <a:rPr lang="en-US" altLang="zh-CN" sz="2000"/>
              <a:t>1. </a:t>
            </a:r>
            <a:r>
              <a:rPr lang="zh-CN" altLang="en-US" sz="2000"/>
              <a:t>输入文件读取</a:t>
            </a:r>
            <a:endParaRPr lang="zh-CN" altLang="en-US" sz="2000"/>
          </a:p>
          <a:p>
            <a:r>
              <a:rPr lang="en-US" altLang="zh-CN" sz="2000"/>
              <a:t>   .CUL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品种参数</a:t>
            </a:r>
            <a:endParaRPr lang="zh-CN" altLang="en-US" sz="2000"/>
          </a:p>
          <a:p>
            <a:r>
              <a:rPr lang="en-US" altLang="zh-CN" sz="2000"/>
              <a:t>   .ECO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生态型参数</a:t>
            </a:r>
            <a:endParaRPr lang="zh-CN" altLang="en-US" sz="2000"/>
          </a:p>
          <a:p>
            <a:r>
              <a:rPr lang="en-US" altLang="zh-CN" sz="2000"/>
              <a:t>   .SPE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物种参数</a:t>
            </a:r>
            <a:endParaRPr lang="zh-CN" altLang="en-US" sz="2000"/>
          </a:p>
          <a:p>
            <a:r>
              <a:rPr lang="en-US" altLang="zh-CN" sz="2000"/>
              <a:t>   .WTH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气象数据</a:t>
            </a:r>
            <a:r>
              <a:rPr lang="en-US" altLang="zh-CN" sz="2000"/>
              <a:t> (read_wth_file)</a:t>
            </a:r>
            <a:endParaRPr lang="en-US" altLang="zh-CN" sz="2000"/>
          </a:p>
          <a:p>
            <a:r>
              <a:rPr lang="en-US" altLang="zh-CN" sz="2000"/>
              <a:t>   .INP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实验设计</a:t>
            </a:r>
            <a:r>
              <a:rPr lang="en-US" altLang="zh-CN" sz="2000"/>
              <a:t> (parse_srx_file)</a:t>
            </a:r>
            <a:endParaRPr lang="en-US" altLang="zh-CN" sz="2000"/>
          </a:p>
          <a:p>
            <a:r>
              <a:rPr lang="en-US" altLang="zh-CN" sz="2000"/>
              <a:t>   .SOL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土壤参数</a:t>
            </a:r>
            <a:endParaRPr lang="zh-CN" altLang="en-US" sz="2000"/>
          </a:p>
          <a:p>
            <a:endParaRPr lang="en-US" altLang="zh-CN" sz="2000"/>
          </a:p>
          <a:p>
            <a:r>
              <a:rPr lang="en-US" altLang="zh-CN" sz="2000"/>
              <a:t>2. CSM</a:t>
            </a:r>
            <a:r>
              <a:rPr lang="zh-CN" altLang="en-US" sz="2000"/>
              <a:t>主程序初始化</a:t>
            </a:r>
            <a:endParaRPr lang="zh-CN" altLang="en-US" sz="2000"/>
          </a:p>
          <a:p>
            <a:r>
              <a:rPr lang="en-US" altLang="zh-CN" sz="2000"/>
              <a:t>   CropgroStrawberry(latitude, planting_date, soil_properties, cultivar_params)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3. </a:t>
            </a:r>
            <a:r>
              <a:rPr lang="zh-CN" altLang="en-US" sz="2000"/>
              <a:t>每日模拟循环</a:t>
            </a:r>
            <a:r>
              <a:rPr lang="en-US" altLang="zh-CN" sz="2000"/>
              <a:t> (simulate_day)</a:t>
            </a:r>
            <a:endParaRPr lang="en-US" altLang="zh-CN" sz="2000"/>
          </a:p>
          <a:p>
            <a:r>
              <a:rPr lang="en-US" altLang="zh-CN" sz="2000"/>
              <a:t>   </a:t>
            </a:r>
            <a:r>
              <a:rPr lang="zh-CN" altLang="en-US" sz="2000"/>
              <a:t>气象数据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日长计算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热时间计算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物候更新</a:t>
            </a:r>
            <a:endParaRPr lang="zh-CN" altLang="en-US" sz="2000"/>
          </a:p>
          <a:p>
            <a:r>
              <a:rPr lang="en-US" altLang="zh-CN" sz="2000"/>
              <a:t>  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光合作用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蒸腾作用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水分胁迫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呼吸消耗</a:t>
            </a:r>
            <a:endParaRPr lang="zh-CN" altLang="en-US" sz="2000"/>
          </a:p>
          <a:p>
            <a:r>
              <a:rPr lang="en-US" altLang="zh-CN" sz="2000"/>
              <a:t>  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生物量分配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器官更新</a:t>
            </a:r>
            <a:endParaRPr lang="zh-CN" altLang="en-US" sz="2000"/>
          </a:p>
          <a:p>
            <a:endParaRPr lang="en-US" altLang="zh-CN" sz="2000"/>
          </a:p>
          <a:p>
            <a:r>
              <a:rPr lang="en-US" altLang="zh-CN" sz="2000"/>
              <a:t>4. </a:t>
            </a:r>
            <a:r>
              <a:rPr lang="zh-CN" altLang="en-US" sz="2000"/>
              <a:t>输出结果</a:t>
            </a:r>
            <a:endParaRPr lang="zh-CN" altLang="en-US" sz="2000"/>
          </a:p>
          <a:p>
            <a:r>
              <a:rPr lang="en-US" altLang="zh-CN" sz="2000"/>
              <a:t>   results_df </a:t>
            </a:r>
            <a:r>
              <a:rPr lang="en-US" altLang="en-US" sz="2000"/>
              <a:t>→</a:t>
            </a:r>
            <a:r>
              <a:rPr lang="en-US" altLang="zh-CN" sz="2000"/>
              <a:t> PlantGro.OUT</a:t>
            </a:r>
            <a:endParaRPr lang="en-US" altLang="zh-CN" sz="2000"/>
          </a:p>
          <a:p>
            <a:r>
              <a:rPr lang="en-US" altLang="zh-CN" sz="2000"/>
              <a:t>   </a:t>
            </a:r>
            <a:r>
              <a:rPr lang="zh-CN" altLang="en-US" sz="2000"/>
              <a:t>气象数据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Weather.OUT</a:t>
            </a:r>
            <a:endParaRPr lang="en-US" altLang="zh-CN" sz="2000"/>
          </a:p>
          <a:p>
            <a:r>
              <a:rPr lang="en-US" altLang="zh-CN" sz="2000"/>
              <a:t>   </a:t>
            </a:r>
            <a:r>
              <a:rPr lang="zh-CN" altLang="en-US" sz="2000"/>
              <a:t>水分数据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Soil.OUT</a:t>
            </a:r>
            <a:endParaRPr lang="en-US" altLang="zh-CN" sz="2000"/>
          </a:p>
          <a:p>
            <a:r>
              <a:rPr lang="en-US" altLang="zh-CN" sz="2000"/>
              <a:t>   </a:t>
            </a:r>
            <a:r>
              <a:rPr lang="zh-CN" altLang="en-US" sz="2000"/>
              <a:t>统计摘要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Summary.OUT</a:t>
            </a:r>
            <a:endParaRPr lang="en-US" altLang="zh-CN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8635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534535" y="0"/>
            <a:ext cx="16313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最终生物量分布</a:t>
            </a:r>
            <a:endParaRPr lang="zh-CN" altLang="en-US" sz="1000" b="1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782820" y="3529330"/>
            <a:ext cx="23749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随时间变化的关键生长变量</a:t>
            </a:r>
            <a:endParaRPr lang="zh-CN" altLang="en-US" sz="1000" b="1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006215" y="6689725"/>
            <a:ext cx="19494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种植后天数</a:t>
            </a:r>
            <a:endParaRPr lang="zh-CN" altLang="en-US" sz="1000" b="1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16735" y="3761105"/>
            <a:ext cx="11480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总生物量</a:t>
            </a:r>
            <a:r>
              <a:rPr lang="en-US" altLang="zh-CN" sz="1000" b="1"/>
              <a:t>LAI</a:t>
            </a:r>
            <a:endParaRPr lang="en-US" altLang="zh-CN" sz="1000" b="1"/>
          </a:p>
        </p:txBody>
      </p:sp>
      <p:sp>
        <p:nvSpPr>
          <p:cNvPr id="8" name="文本框 7"/>
          <p:cNvSpPr txBox="1"/>
          <p:nvPr/>
        </p:nvSpPr>
        <p:spPr>
          <a:xfrm>
            <a:off x="10009505" y="2540"/>
            <a:ext cx="19024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生长指标</a:t>
            </a:r>
            <a:endParaRPr lang="zh-CN" altLang="en-US" sz="1200" b="1"/>
          </a:p>
        </p:txBody>
      </p:sp>
      <p:sp>
        <p:nvSpPr>
          <p:cNvPr id="9" name="文本框 8"/>
          <p:cNvSpPr txBox="1"/>
          <p:nvPr/>
        </p:nvSpPr>
        <p:spPr>
          <a:xfrm>
            <a:off x="10815320" y="3560445"/>
            <a:ext cx="13766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 b="1"/>
              <a:t>各生长阶段所花费的时间</a:t>
            </a:r>
            <a:endParaRPr lang="zh-CN" altLang="en-US" sz="800" b="1"/>
          </a:p>
        </p:txBody>
      </p:sp>
      <p:sp>
        <p:nvSpPr>
          <p:cNvPr id="10" name="文本框 9"/>
          <p:cNvSpPr txBox="1"/>
          <p:nvPr/>
        </p:nvSpPr>
        <p:spPr>
          <a:xfrm>
            <a:off x="10046970" y="3722370"/>
            <a:ext cx="6985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 b="1"/>
              <a:t>坐果期</a:t>
            </a:r>
            <a:endParaRPr lang="zh-CN" altLang="en-US" sz="800" b="1"/>
          </a:p>
        </p:txBody>
      </p:sp>
      <p:sp>
        <p:nvSpPr>
          <p:cNvPr id="12" name="文本框 11"/>
          <p:cNvSpPr txBox="1"/>
          <p:nvPr/>
        </p:nvSpPr>
        <p:spPr>
          <a:xfrm>
            <a:off x="10520680" y="3877945"/>
            <a:ext cx="90805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 b="1"/>
              <a:t>发芽</a:t>
            </a:r>
            <a:endParaRPr lang="zh-CN" altLang="en-US" sz="800" b="1"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963275" y="4025265"/>
            <a:ext cx="89281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 b="1"/>
              <a:t>萌芽期</a:t>
            </a:r>
            <a:endParaRPr lang="zh-CN" altLang="en-US" sz="900" b="1"/>
          </a:p>
        </p:txBody>
      </p:sp>
      <p:sp>
        <p:nvSpPr>
          <p:cNvPr id="14" name="文本框 13"/>
          <p:cNvSpPr txBox="1"/>
          <p:nvPr/>
        </p:nvSpPr>
        <p:spPr>
          <a:xfrm>
            <a:off x="11273155" y="4195445"/>
            <a:ext cx="6915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幼苗期</a:t>
            </a:r>
            <a:endParaRPr lang="zh-CN" altLang="en-US" sz="1000" b="1"/>
          </a:p>
        </p:txBody>
      </p:sp>
      <p:sp>
        <p:nvSpPr>
          <p:cNvPr id="15" name="文本框 14"/>
          <p:cNvSpPr txBox="1"/>
          <p:nvPr/>
        </p:nvSpPr>
        <p:spPr>
          <a:xfrm>
            <a:off x="11327765" y="4544060"/>
            <a:ext cx="10255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果实发育</a:t>
            </a:r>
            <a:endParaRPr lang="zh-CN" altLang="en-US" sz="1000" b="1"/>
          </a:p>
        </p:txBody>
      </p:sp>
      <p:sp>
        <p:nvSpPr>
          <p:cNvPr id="16" name="文本框 15"/>
          <p:cNvSpPr txBox="1"/>
          <p:nvPr/>
        </p:nvSpPr>
        <p:spPr>
          <a:xfrm>
            <a:off x="10970895" y="5205730"/>
            <a:ext cx="10096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开花诱导</a:t>
            </a:r>
            <a:endParaRPr lang="zh-CN" altLang="en-US" sz="1000" b="1"/>
          </a:p>
        </p:txBody>
      </p:sp>
      <p:sp>
        <p:nvSpPr>
          <p:cNvPr id="17" name="文本框 16"/>
          <p:cNvSpPr txBox="1"/>
          <p:nvPr/>
        </p:nvSpPr>
        <p:spPr>
          <a:xfrm>
            <a:off x="10776585" y="5764530"/>
            <a:ext cx="9550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营养生长期</a:t>
            </a:r>
            <a:endParaRPr lang="zh-CN" altLang="en-US" sz="1000" b="1"/>
          </a:p>
        </p:txBody>
      </p:sp>
      <p:sp>
        <p:nvSpPr>
          <p:cNvPr id="18" name="文本框 17"/>
          <p:cNvSpPr txBox="1"/>
          <p:nvPr/>
        </p:nvSpPr>
        <p:spPr>
          <a:xfrm>
            <a:off x="7592695" y="6401435"/>
            <a:ext cx="1576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果实成熟期</a:t>
            </a:r>
            <a:endParaRPr lang="zh-CN" altLang="en-US" sz="1000" b="1"/>
          </a:p>
        </p:txBody>
      </p:sp>
      <p:sp>
        <p:nvSpPr>
          <p:cNvPr id="19" name="文本框 18"/>
          <p:cNvSpPr txBox="1"/>
          <p:nvPr/>
        </p:nvSpPr>
        <p:spPr>
          <a:xfrm>
            <a:off x="7080250" y="4584700"/>
            <a:ext cx="54356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 b="1"/>
              <a:t>衰老期</a:t>
            </a:r>
            <a:endParaRPr lang="zh-CN" altLang="en-US" sz="900" b="1"/>
          </a:p>
        </p:txBody>
      </p:sp>
      <p:sp>
        <p:nvSpPr>
          <p:cNvPr id="20" name="TextBox 19"/>
          <p:cNvSpPr txBox="1"/>
          <p:nvPr/>
        </p:nvSpPr>
        <p:spPr>
          <a:xfrm>
            <a:off x="4464050" y="4114165"/>
            <a:ext cx="8229600" cy="135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plot_strawberry.py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生物量分配柱状图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生长指标柱状图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全生育期动态曲线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物候阶段占比饼图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模拟结果数据生成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8229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plot_strawberry.py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生成的图表: strawberry_plot.png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模拟运行结果可视化</a:t>
            </a:r>
            <a:endParaRPr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635" y="635"/>
            <a:ext cx="12191365" cy="68567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67555" y="635"/>
            <a:ext cx="8229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plot_strawberry.py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生物量分配柱状图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biomass, fruit_biomass, leaf_biomass等输出</a:t>
            </a:r>
            <a:endParaRPr b="1"/>
          </a:p>
        </p:txBody>
      </p:sp>
      <p:sp>
        <p:nvSpPr>
          <p:cNvPr id="2" name="文本框 1"/>
          <p:cNvSpPr txBox="1"/>
          <p:nvPr/>
        </p:nvSpPr>
        <p:spPr>
          <a:xfrm>
            <a:off x="636905" y="2302510"/>
            <a:ext cx="55759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- 0-100</a:t>
            </a:r>
            <a:r>
              <a:rPr lang="zh-CN" altLang="en-US"/>
              <a:t>天</a:t>
            </a:r>
            <a:r>
              <a:rPr lang="en-US" altLang="zh-CN"/>
              <a:t> </a:t>
            </a:r>
            <a:r>
              <a:rPr lang="zh-CN" altLang="en-US"/>
              <a:t>：总生物量快速增长，叶生物量占主导</a:t>
            </a:r>
            <a:endParaRPr lang="zh-CN" altLang="en-US"/>
          </a:p>
          <a:p>
            <a:r>
              <a:rPr lang="en-US" altLang="zh-CN"/>
              <a:t>- 100-180</a:t>
            </a:r>
            <a:r>
              <a:rPr lang="zh-CN" altLang="en-US"/>
              <a:t>天</a:t>
            </a:r>
            <a:r>
              <a:rPr lang="en-US" altLang="zh-CN"/>
              <a:t> </a:t>
            </a:r>
            <a:r>
              <a:rPr lang="zh-CN" altLang="en-US"/>
              <a:t>：总生物量趋于稳定，果实生物量逐渐增加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488305" y="2035810"/>
            <a:ext cx="49403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- 0-60</a:t>
            </a:r>
            <a:r>
              <a:rPr lang="zh-CN" altLang="en-US"/>
              <a:t>天</a:t>
            </a:r>
            <a:r>
              <a:rPr lang="en-US" altLang="zh-CN"/>
              <a:t> </a:t>
            </a:r>
            <a:r>
              <a:rPr lang="zh-CN" altLang="en-US"/>
              <a:t>：快速增长期，从</a:t>
            </a:r>
            <a:r>
              <a:rPr lang="en-US" altLang="zh-CN"/>
              <a:t> ~550μ </a:t>
            </a:r>
            <a:r>
              <a:rPr lang="zh-CN" altLang="en-US"/>
              <a:t>增长到</a:t>
            </a:r>
            <a:r>
              <a:rPr lang="en-US" altLang="zh-CN"/>
              <a:t> ~850μ</a:t>
            </a:r>
            <a:endParaRPr lang="en-US" altLang="zh-CN"/>
          </a:p>
          <a:p>
            <a:r>
              <a:rPr lang="en-US" altLang="zh-CN"/>
              <a:t>- 60-80</a:t>
            </a:r>
            <a:r>
              <a:rPr lang="zh-CN" altLang="en-US"/>
              <a:t>天</a:t>
            </a:r>
            <a:r>
              <a:rPr lang="en-US" altLang="zh-CN"/>
              <a:t> </a:t>
            </a:r>
            <a:r>
              <a:rPr lang="zh-CN" altLang="en-US"/>
              <a:t>：小幅下降</a:t>
            </a:r>
            <a:endParaRPr lang="zh-CN" altLang="en-US"/>
          </a:p>
          <a:p>
            <a:r>
              <a:rPr lang="en-US" altLang="zh-CN"/>
              <a:t>- 80-180</a:t>
            </a:r>
            <a:r>
              <a:rPr lang="zh-CN" altLang="en-US"/>
              <a:t>天</a:t>
            </a:r>
            <a:r>
              <a:rPr lang="en-US" altLang="zh-CN"/>
              <a:t> </a:t>
            </a:r>
            <a:r>
              <a:rPr lang="zh-CN" altLang="en-US"/>
              <a:t>：稳定在</a:t>
            </a:r>
            <a:r>
              <a:rPr lang="en-US" altLang="zh-CN"/>
              <a:t> ~800μ</a:t>
            </a:r>
            <a:endParaRPr lang="en-US" altLang="zh-CN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006840" y="36195"/>
            <a:ext cx="30219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叶面积指数的变化反映了叶片生长动态，后期下降是因为生物量分配转向果实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51150" y="2988945"/>
            <a:ext cx="293306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- 0-60</a:t>
            </a:r>
            <a:r>
              <a:rPr lang="zh-CN" altLang="en-US"/>
              <a:t>天</a:t>
            </a:r>
            <a:r>
              <a:rPr lang="en-US" altLang="zh-CN"/>
              <a:t> </a:t>
            </a:r>
            <a:r>
              <a:rPr lang="zh-CN" altLang="en-US"/>
              <a:t>：果实数量为</a:t>
            </a:r>
            <a:r>
              <a:rPr lang="en-US" altLang="zh-CN"/>
              <a:t>0</a:t>
            </a:r>
            <a:r>
              <a:rPr lang="zh-CN" altLang="en-US"/>
              <a:t>（尚未进入开花期）</a:t>
            </a:r>
            <a:endParaRPr lang="zh-CN" altLang="en-US"/>
          </a:p>
          <a:p>
            <a:r>
              <a:rPr lang="en-US" altLang="zh-CN"/>
              <a:t>- 60-80</a:t>
            </a:r>
            <a:r>
              <a:rPr lang="zh-CN" altLang="en-US"/>
              <a:t>天</a:t>
            </a:r>
            <a:r>
              <a:rPr lang="en-US" altLang="zh-CN"/>
              <a:t> </a:t>
            </a:r>
            <a:r>
              <a:rPr lang="zh-CN" altLang="en-US"/>
              <a:t>：快速增长，从</a:t>
            </a:r>
            <a:r>
              <a:rPr lang="en-US" altLang="zh-CN"/>
              <a:t>0</a:t>
            </a:r>
            <a:r>
              <a:rPr lang="zh-CN" altLang="en-US"/>
              <a:t>增长到</a:t>
            </a:r>
            <a:r>
              <a:rPr lang="en-US" altLang="zh-CN"/>
              <a:t>~40</a:t>
            </a:r>
            <a:endParaRPr lang="en-US" altLang="zh-CN"/>
          </a:p>
          <a:p>
            <a:r>
              <a:rPr lang="en-US" altLang="zh-CN"/>
              <a:t>- 80-180</a:t>
            </a:r>
            <a:r>
              <a:rPr lang="zh-CN" altLang="en-US"/>
              <a:t>天</a:t>
            </a:r>
            <a:r>
              <a:rPr lang="en-US" altLang="zh-CN"/>
              <a:t> </a:t>
            </a:r>
            <a:r>
              <a:rPr lang="zh-CN" altLang="en-US"/>
              <a:t>：保持稳定在</a:t>
            </a:r>
            <a:r>
              <a:rPr lang="en-US" altLang="zh-CN"/>
              <a:t>~40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36905" y="4302125"/>
            <a:ext cx="4413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果实数量在开花期和坐果期快速增加，之后保持稳定，符合草莓生长规律。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12840" y="4251325"/>
            <a:ext cx="53022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 </a:t>
            </a:r>
            <a:r>
              <a:rPr lang="zh-CN" altLang="en-US"/>
              <a:t>匍匐茎数</a:t>
            </a:r>
            <a:r>
              <a:rPr lang="en-US" altLang="zh-CN"/>
              <a:t> </a:t>
            </a:r>
            <a:r>
              <a:rPr lang="zh-CN" altLang="en-US"/>
              <a:t>：</a:t>
            </a:r>
            <a:r>
              <a:rPr lang="en-US" altLang="zh-CN"/>
              <a:t>0-50</a:t>
            </a:r>
            <a:r>
              <a:rPr lang="zh-CN" altLang="en-US"/>
              <a:t>天缓慢增长，</a:t>
            </a:r>
            <a:r>
              <a:rPr lang="en-US" altLang="zh-CN"/>
              <a:t>50-80</a:t>
            </a:r>
            <a:r>
              <a:rPr lang="zh-CN" altLang="en-US"/>
              <a:t>天快速增长到</a:t>
            </a:r>
            <a:r>
              <a:rPr lang="en-US" altLang="zh-CN"/>
              <a:t>~4</a:t>
            </a:r>
            <a:r>
              <a:rPr lang="zh-CN" altLang="en-US"/>
              <a:t>，之后稳定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冠数</a:t>
            </a:r>
            <a:r>
              <a:rPr lang="en-US" altLang="zh-CN"/>
              <a:t> </a:t>
            </a:r>
            <a:r>
              <a:rPr lang="zh-CN" altLang="en-US"/>
              <a:t>：缓慢增长，从</a:t>
            </a:r>
            <a:r>
              <a:rPr lang="en-US" altLang="zh-CN"/>
              <a:t> 1</a:t>
            </a:r>
            <a:r>
              <a:rPr lang="zh-CN" altLang="en-US"/>
              <a:t>增长到</a:t>
            </a:r>
            <a:r>
              <a:rPr lang="en-US" altLang="zh-CN"/>
              <a:t> 2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8087995" y="3598545"/>
            <a:ext cx="34264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匍匐茎主要在营养生长期产生，冠数则持续缓慢增加。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76630" y="6375400"/>
            <a:ext cx="52362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- </a:t>
            </a:r>
            <a:r>
              <a:rPr lang="zh-CN" altLang="en-US" sz="1000" b="1"/>
              <a:t>水分胁迫因子反映了土壤水分供应与作物需求的平衡</a:t>
            </a:r>
            <a:endParaRPr lang="zh-CN" altLang="en-US" sz="1000" b="1"/>
          </a:p>
          <a:p>
            <a:r>
              <a:rPr lang="en-US" altLang="zh-CN" sz="1000" b="1"/>
              <a:t>- </a:t>
            </a:r>
            <a:r>
              <a:rPr lang="zh-CN" altLang="en-US" sz="1000" b="1"/>
              <a:t>波动源于模拟数据中的随机降雨事件</a:t>
            </a:r>
            <a:endParaRPr lang="zh-CN" altLang="en-US" sz="1000" b="1"/>
          </a:p>
          <a:p>
            <a:r>
              <a:rPr lang="en-US" altLang="zh-CN" sz="1000" b="1"/>
              <a:t>- </a:t>
            </a:r>
            <a:r>
              <a:rPr lang="zh-CN" altLang="en-US" sz="1000" b="1"/>
              <a:t>后期波动增大可能与蒸腾需求增加有关</a:t>
            </a:r>
            <a:endParaRPr lang="zh-CN" altLang="en-US" sz="1000" b="1"/>
          </a:p>
        </p:txBody>
      </p:sp>
      <p:sp>
        <p:nvSpPr>
          <p:cNvPr id="12" name="文本框 11"/>
          <p:cNvSpPr txBox="1"/>
          <p:nvPr/>
        </p:nvSpPr>
        <p:spPr>
          <a:xfrm>
            <a:off x="6522085" y="6404610"/>
            <a:ext cx="47174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物候阶段按热时间阈值依次推进，每个阶段持续时间取决于温度条件。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8229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plot_strawberry.py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生长指标柱状图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LAI, fruit_number, crown_number等输出</a:t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8229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plot_strawberry.py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全生育期关键生长指标动态曲线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逐日模拟结果时间序列</a:t>
            </a:r>
            <a:endParaRPr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48985" y="-236855"/>
            <a:ext cx="8229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plot_strawberry.py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各物候阶段生育时长占比饼图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物候阶段持续时间统计</a:t>
            </a:r>
            <a:endParaRPr b="1"/>
          </a:p>
        </p:txBody>
      </p:sp>
      <p:sp>
        <p:nvSpPr>
          <p:cNvPr id="2" name="文本框 1"/>
          <p:cNvSpPr txBox="1"/>
          <p:nvPr/>
        </p:nvSpPr>
        <p:spPr>
          <a:xfrm>
            <a:off x="459105" y="3169285"/>
            <a:ext cx="50507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 </a:t>
            </a:r>
            <a:r>
              <a:rPr lang="zh-CN" altLang="en-US"/>
              <a:t>前期快速增长是因为光合作用大于呼吸消耗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后期稳定是因为植物进入成熟期，呼吸消耗增加，净光合积累减少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480810" y="3014345"/>
            <a:ext cx="48875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 </a:t>
            </a:r>
            <a:r>
              <a:rPr lang="zh-CN" altLang="en-US"/>
              <a:t>前期增长：叶片快速生长，叶面积扩大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中期下降：进入果实发育期，生物量分配转向果实，叶片生长减缓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后期稳定：</a:t>
            </a:r>
            <a:r>
              <a:rPr lang="en-US" altLang="zh-CN"/>
              <a:t>LAI</a:t>
            </a:r>
            <a:r>
              <a:rPr lang="zh-CN" altLang="en-US"/>
              <a:t>保持相对稳定，保证光合作用所需的叶面积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62610" y="6421120"/>
            <a:ext cx="5533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 </a:t>
            </a:r>
            <a:r>
              <a:rPr lang="zh-CN" altLang="en-US"/>
              <a:t>前期快速生长：根系向下拓展，吸收更多水分和养分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后期稳定：根系达到最大深度限制，或生物量分配转向地上部分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428740" y="6235065"/>
            <a:ext cx="5962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- </a:t>
            </a:r>
            <a:r>
              <a:rPr lang="zh-CN" altLang="en-US" sz="1200"/>
              <a:t>初始峰值</a:t>
            </a:r>
            <a:r>
              <a:rPr lang="en-US" altLang="zh-CN" sz="1200"/>
              <a:t> </a:t>
            </a:r>
            <a:r>
              <a:rPr lang="zh-CN" altLang="en-US" sz="1200"/>
              <a:t>：这是一个异常值，可能是初始</a:t>
            </a:r>
            <a:r>
              <a:rPr lang="en-US" altLang="zh-CN" sz="1200"/>
              <a:t>LAI</a:t>
            </a:r>
            <a:r>
              <a:rPr lang="zh-CN" altLang="en-US" sz="1200"/>
              <a:t>设置或模拟第一天的计算问题</a:t>
            </a:r>
            <a:endParaRPr lang="zh-CN" altLang="en-US" sz="1200"/>
          </a:p>
          <a:p>
            <a:r>
              <a:rPr lang="en-US" altLang="zh-CN" sz="1200"/>
              <a:t>- </a:t>
            </a:r>
            <a:r>
              <a:rPr lang="zh-CN" altLang="en-US" sz="1200"/>
              <a:t>快速下降</a:t>
            </a:r>
            <a:r>
              <a:rPr lang="en-US" altLang="zh-CN" sz="1200"/>
              <a:t> </a:t>
            </a:r>
            <a:r>
              <a:rPr lang="zh-CN" altLang="en-US" sz="1200"/>
              <a:t>：初期</a:t>
            </a:r>
            <a:r>
              <a:rPr lang="en-US" altLang="zh-CN" sz="1200"/>
              <a:t>LAI</a:t>
            </a:r>
            <a:r>
              <a:rPr lang="zh-CN" altLang="en-US" sz="1200"/>
              <a:t>较小，光截获率低，光合作用受限</a:t>
            </a:r>
            <a:endParaRPr lang="zh-CN" altLang="en-US" sz="1200"/>
          </a:p>
          <a:p>
            <a:r>
              <a:rPr lang="en-US" altLang="zh-CN" sz="1200"/>
              <a:t>- </a:t>
            </a:r>
            <a:r>
              <a:rPr lang="zh-CN" altLang="en-US" sz="1200"/>
              <a:t>后期下降</a:t>
            </a:r>
            <a:r>
              <a:rPr lang="en-US" altLang="zh-CN" sz="1200"/>
              <a:t> </a:t>
            </a:r>
            <a:r>
              <a:rPr lang="zh-CN" altLang="en-US" sz="1200"/>
              <a:t>：进入衰老期，温度效应降低，光合能力下降</a:t>
            </a:r>
            <a:endParaRPr lang="zh-CN" altLang="en-US"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71495" y="3065780"/>
            <a:ext cx="8229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模拟运行结果展示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test_plot.py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测试绘图脚本</a:t>
            </a:r>
            <a:endParaRPr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30600" y="3043555"/>
            <a:ext cx="8229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模型输出结果可视化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plot_strawberry.py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图表生成脚本</a:t>
            </a:r>
            <a:endParaRPr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75025" y="3058795"/>
            <a:ext cx="8229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模拟数据图表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plot_strawberry.py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数据可视化</a:t>
            </a:r>
            <a:endParaRPr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8229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生长指标图表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plot_strawberry.py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指标可视化</a:t>
            </a:r>
            <a:endParaRPr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635" y="635"/>
            <a:ext cx="12191365" cy="68573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93995" y="-244475"/>
            <a:ext cx="8229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物候阶段图表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plot_strawberry.py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物候数据可视化</a:t>
            </a:r>
            <a:endParaRPr b="1"/>
          </a:p>
        </p:txBody>
      </p:sp>
      <p:sp>
        <p:nvSpPr>
          <p:cNvPr id="4" name="文本框 3"/>
          <p:cNvSpPr txBox="1"/>
          <p:nvPr/>
        </p:nvSpPr>
        <p:spPr>
          <a:xfrm>
            <a:off x="466090" y="3180715"/>
            <a:ext cx="43110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项目背景与定位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70500" cy="508000"/>
          </a:xfrm>
          <a:prstGeom prst="roundRect">
            <a:avLst>
              <a:gd name="adj" fmla="val 0"/>
            </a:avLst>
          </a:prstGeom>
          <a:solidFill>
            <a:srgbClr val="E5393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879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4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传统模型的核心痛点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540000"/>
            <a:ext cx="234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技术门槛高且运行慢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基于Fortran开发的DSSAT代码晦涩难懂，学习成本高；传统架构计算效率低，难以支撑大规模批量模拟。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9" name="Connector 9"/>
          <p:cNvCxnSpPr/>
          <p:nvPr/>
        </p:nvCxnSpPr>
        <p:spPr>
          <a:xfrm rot="5365623">
            <a:off x="2794000" y="32321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3556000" y="2540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参数复杂且场景脱节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草莓品种参数体系庞杂，配置困难；模型多停留在科研层面，与实际生产、教学应用场景严重脱节。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159500" y="1778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159500" y="1778000"/>
            <a:ext cx="5270500" cy="508000"/>
          </a:xfrm>
          <a:prstGeom prst="roundRect">
            <a:avLst>
              <a:gd name="adj" fmla="val 0"/>
            </a:avLst>
          </a:prstGeom>
          <a:solidFill>
            <a:srgbClr val="E5393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1879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794500" y="184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针对性的技术革新方案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2540000"/>
            <a:ext cx="234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Python重构与极速编译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采用Python语言重写核心逻辑，降低使用门槛；引入Numba JIT即时编译技术，大幅提升模型运行效率。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65623">
            <a:off x="8191500" y="32321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953500" y="2540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模块化与全链条赋能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设计模块化参数配置接口，简化品种参数管理；打通“科研-生产-教学”全链条，实现模型价值最大化。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rcRect t="20833" b="20833"/>
          <a:stretch>
            <a:fillRect/>
          </a:stretch>
        </p:blipFill>
        <p:spPr>
          <a:xfrm>
            <a:off x="762000" y="4445000"/>
            <a:ext cx="304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4191000" y="4445000"/>
            <a:ext cx="2413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8000" y="4572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762500" y="45720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高适用性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0221">
            <a:off x="4318019" y="5073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4318000" y="5207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基于经典DSSAT框架深度优化，严格遵循作物生理生态规律，确保模型在不同气候与土壤条件下的科学性与普适性。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731000" y="4445000"/>
            <a:ext cx="2413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8000" y="45720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302500" y="45720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高解释性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20221">
            <a:off x="6858019" y="5073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858000" y="5207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坚持生理生态过程驱动，摒弃纯经验统计黑箱模型，每一个参数和过程都具有明确的生物学意义，结果可解释、可验证。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144000" y="4445000"/>
            <a:ext cx="2413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1000" y="45720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715500" y="45720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极致高效率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20221">
            <a:off x="9271019" y="5073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9271000" y="5207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利用Numba JIT编译技术对核心计算循环加速，完美支持大规模、长时序的批量模拟，大幅缩短科研周期。</a:t>
            </a:r>
            <a:endParaRPr lang="en-US" sz="1100"/>
          </a:p>
        </p:txBody>
      </p:sp>
      <p:sp>
        <p:nvSpPr>
          <p:cNvPr id="34" name="TextBox 33"/>
          <p:cNvSpPr txBox="1"/>
          <p:nvPr/>
        </p:nvSpPr>
        <p:spPr>
          <a:xfrm>
            <a:off x="3810000" y="292100"/>
            <a:ext cx="822960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项目背景与定位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Python重构与Numba加速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项目背景内容</a:t>
            </a:r>
            <a:endParaRPr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模型架构总览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3970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006600"/>
            <a:ext cx="298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01. 气象数据输入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952514" y="2470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603500"/>
            <a:ext cx="298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集成多源气象要素，包括温度、太阳辐射、降雨量等基础数据，为模型提供初始驱动条件。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9050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76200" cy="13970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35500" y="2006600"/>
            <a:ext cx="298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02. 环境因子计算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946">
            <a:off x="4635514" y="2470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2603500"/>
            <a:ext cx="298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基于气象数据推导关键环境变量，如有效日长、生长度日（GDD）及饱和水汽压差（VPD）。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905000"/>
            <a:ext cx="76200" cy="13970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18500" y="2006600"/>
            <a:ext cx="298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03. 物候阶段驱动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8318514" y="2470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18500" y="2603500"/>
            <a:ext cx="298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划分10个关键生长阶段，以热时间为核心驱动机制，精准模拟作物从出苗到成熟的发育进程。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71744">
            <a:off x="4127659" y="2597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53935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0" name="Connector 20"/>
          <p:cNvCxnSpPr/>
          <p:nvPr/>
        </p:nvCxnSpPr>
        <p:spPr>
          <a:xfrm rot="-171744">
            <a:off x="7810659" y="2597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53935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1" name="AutoShape 21"/>
          <p:cNvSpPr/>
          <p:nvPr/>
        </p:nvSpPr>
        <p:spPr>
          <a:xfrm>
            <a:off x="762000" y="38100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381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E53935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2500" y="3911600"/>
            <a:ext cx="298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04. 状态变量输出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4946">
            <a:off x="952514" y="437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952500" y="4508500"/>
            <a:ext cx="298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最终输出核心状态变量，涵盖总生物量、叶面积指数（LAI）及器官干物质量和最终产量。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445000" y="38100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445000" y="381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E53935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4635500" y="3911600"/>
            <a:ext cx="298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05. 生物量分配更新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4946">
            <a:off x="4635514" y="437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4635500" y="4508500"/>
            <a:ext cx="298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依据物候阶段动态调整分配系数，将同化产物分配至根、茎、叶、果实等不同器官。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128000" y="38100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128000" y="381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E53935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318500" y="3911600"/>
            <a:ext cx="298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06. 物质能量代谢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14946">
            <a:off x="8318514" y="437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8318500" y="4508500"/>
            <a:ext cx="298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模拟光合作用固定CO₂、呼吸作用消耗碳源及蒸腾作用的水分消耗，计算净同化率。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171744">
            <a:off x="7810659" y="4502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53935">
                <a:alpha val="60000"/>
              </a:srgbClr>
            </a:solidFill>
            <a:prstDash val="solid"/>
            <a:round/>
            <a:headEnd type="arrow" w="sm" len="sm"/>
            <a:tailEnd type="none" w="lg" len="lg"/>
          </a:ln>
        </p:spPr>
      </p:cxnSp>
      <p:cxnSp>
        <p:nvCxnSpPr>
          <p:cNvPr id="37" name="Connector 37"/>
          <p:cNvCxnSpPr/>
          <p:nvPr/>
        </p:nvCxnSpPr>
        <p:spPr>
          <a:xfrm rot="-171744">
            <a:off x="4127659" y="4502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53935">
                <a:alpha val="60000"/>
              </a:srgbClr>
            </a:solidFill>
            <a:prstDash val="solid"/>
            <a:round/>
            <a:headEnd type="arrow" w="sm" len="sm"/>
            <a:tailEnd type="none" w="lg" len="lg"/>
          </a:ln>
        </p:spPr>
      </p:cxnSp>
      <p:cxnSp>
        <p:nvCxnSpPr>
          <p:cNvPr id="38" name="Connector 38"/>
          <p:cNvCxnSpPr/>
          <p:nvPr/>
        </p:nvCxnSpPr>
        <p:spPr>
          <a:xfrm rot="5285450">
            <a:off x="9588500" y="3549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3935">
                <a:alpha val="40000"/>
              </a:srgbClr>
            </a:solidFill>
            <a:prstDash val="dash"/>
            <a:round/>
            <a:headEnd type="none" w="med" len="med"/>
            <a:tailEnd type="arrow" w="sm" len="sm"/>
          </a:ln>
        </p:spPr>
      </p:cxnSp>
      <p:sp>
        <p:nvSpPr>
          <p:cNvPr id="39" name="AutoShape 39"/>
          <p:cNvSpPr/>
          <p:nvPr/>
        </p:nvSpPr>
        <p:spPr>
          <a:xfrm>
            <a:off x="762000" y="5461000"/>
            <a:ext cx="52705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762000" y="5461000"/>
            <a:ext cx="76200" cy="1016000"/>
          </a:xfrm>
          <a:prstGeom prst="roundRect">
            <a:avLst>
              <a:gd name="adj" fmla="val 0"/>
            </a:avLst>
          </a:prstGeom>
          <a:solidFill>
            <a:srgbClr val="E53935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952500" y="5524500"/>
            <a:ext cx="488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07. 土壤水分平衡模拟</a:t>
            </a:r>
            <a:endParaRPr lang="en-US" sz="1100"/>
          </a:p>
        </p:txBody>
      </p:sp>
      <p:cxnSp>
        <p:nvCxnSpPr>
          <p:cNvPr id="42" name="Connector 42"/>
          <p:cNvCxnSpPr/>
          <p:nvPr/>
        </p:nvCxnSpPr>
        <p:spPr>
          <a:xfrm rot="-8814">
            <a:off x="952508" y="5899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3" name="AutoShape 43"/>
          <p:cNvSpPr/>
          <p:nvPr/>
        </p:nvSpPr>
        <p:spPr>
          <a:xfrm>
            <a:off x="952500" y="5969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耦合土壤持水特性、作物蒸腾与根系吸水过程，动态计算根区土壤含水量变化。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6159500" y="5461000"/>
            <a:ext cx="52705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6159500" y="5461000"/>
            <a:ext cx="76200" cy="1016000"/>
          </a:xfrm>
          <a:prstGeom prst="roundRect">
            <a:avLst>
              <a:gd name="adj" fmla="val 0"/>
            </a:avLst>
          </a:prstGeom>
          <a:solidFill>
            <a:srgbClr val="E53935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6350000" y="5524500"/>
            <a:ext cx="488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08. 水分胁迫因子反馈机制</a:t>
            </a:r>
            <a:endParaRPr lang="en-US" sz="1100"/>
          </a:p>
        </p:txBody>
      </p:sp>
      <p:cxnSp>
        <p:nvCxnSpPr>
          <p:cNvPr id="47" name="Connector 47"/>
          <p:cNvCxnSpPr/>
          <p:nvPr/>
        </p:nvCxnSpPr>
        <p:spPr>
          <a:xfrm rot="-8814">
            <a:off x="6350008" y="5899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" name="AutoShape 48"/>
          <p:cNvSpPr/>
          <p:nvPr/>
        </p:nvSpPr>
        <p:spPr>
          <a:xfrm>
            <a:off x="6350000" y="5969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计算0-1区间的水分胁迫因子，反馈至光合、蒸腾及生物量分配模块，修正生长发育速率。</a:t>
            </a:r>
            <a:endParaRPr lang="en-US" sz="1100"/>
          </a:p>
        </p:txBody>
      </p:sp>
      <p:cxnSp>
        <p:nvCxnSpPr>
          <p:cNvPr id="49" name="Connector 49"/>
          <p:cNvCxnSpPr/>
          <p:nvPr/>
        </p:nvCxnSpPr>
        <p:spPr>
          <a:xfrm rot="-678595">
            <a:off x="6096629" y="5962650"/>
            <a:ext cx="6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53935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50" name="Connector 50"/>
          <p:cNvCxnSpPr/>
          <p:nvPr/>
        </p:nvCxnSpPr>
        <p:spPr>
          <a:xfrm rot="-5742635">
            <a:off x="8724900" y="5327333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3935">
                <a:alpha val="40000"/>
              </a:srgbClr>
            </a:solidFill>
            <a:prstDash val="dash"/>
            <a:round/>
            <a:headEnd type="none" w="med" len="med"/>
            <a:tailEnd type="arrow" w="sm" len="sm"/>
          </a:ln>
        </p:spPr>
      </p:cxnSp>
      <p:sp>
        <p:nvSpPr>
          <p:cNvPr id="51" name="TextBox 50"/>
          <p:cNvSpPr txBox="1"/>
          <p:nvPr/>
        </p:nvSpPr>
        <p:spPr>
          <a:xfrm>
            <a:off x="3293745" y="277495"/>
            <a:ext cx="8229600" cy="9290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模型架构总览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气象数据输入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环境因子计算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物候阶段驱动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状态变量输出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模型架构说明</a:t>
            </a:r>
            <a:endParaRPr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六大核心算法模块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333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526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01. 日长计算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031">
            <a:off x="952513" y="2152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235200"/>
            <a:ext cx="3111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基于天文球面三角学，精准计算太阳时角与可照时间。公式：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DL = 24 × arccos(-tanφ·tanδ) / 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76200" cy="1333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35500" y="17526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02. 热时间计算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031">
            <a:off x="4635513" y="2152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2235200"/>
            <a:ext cx="3111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采用梯形响应函数模拟作物发育进程，设定关键三基点温度：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4°C (最低) / 22°C (最适) / 35°C (最高)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302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3302000"/>
            <a:ext cx="76200" cy="1333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52500" y="34036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03. 光合作用模型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031">
            <a:off x="952513" y="3803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952500" y="3886200"/>
            <a:ext cx="3111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基于RUE（辐射利用效率）模型，综合考量辐射、温度、CO₂浓度及光截获效率，量化生物量累积。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45000" y="3302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445000" y="3302000"/>
            <a:ext cx="76200" cy="1333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635500" y="34036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04. 蒸腾作用估算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031">
            <a:off x="4635513" y="3803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4635500" y="3886200"/>
            <a:ext cx="3111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应用Hargreaves模型计算参考作物蒸散量，公式简洁且适用性强：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ET₀ = 0.0023·Rₛ·√(Tmax-Tmin)·(Tavg+17.8)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953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495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52500" y="50546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05. 水分胁迫因子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4031">
            <a:off x="952513" y="5454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52500" y="5537200"/>
            <a:ext cx="3111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通过土壤水分平衡方程，将水分胁迫量化为0-1的系数，动态修正光合作用与蒸腾作用的实际速率。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445000" y="4953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4445000" y="495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4635500" y="50546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06. 维持呼吸消耗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4031">
            <a:off x="4635513" y="5454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4635500" y="5537200"/>
            <a:ext cx="3111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遵循Q10温度响应法则，模拟温度对呼吸作用的影响：环境温度每升高10°C，作物的维持呼吸速率翻倍。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5390581">
            <a:off x="5873750" y="3962409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" name="Picture 35"/>
          <p:cNvPicPr>
            <a:picLocks noChangeAspect="1"/>
          </p:cNvPicPr>
          <p:nvPr/>
        </p:nvPicPr>
        <p:blipFill>
          <a:blip r:embed="rId1"/>
          <a:srcRect t="21578" b="21578"/>
          <a:stretch>
            <a:fillRect/>
          </a:stretch>
        </p:blipFill>
        <p:spPr>
          <a:xfrm>
            <a:off x="8382000" y="1651000"/>
            <a:ext cx="3238500" cy="2159000"/>
          </a:xfrm>
          <a:prstGeom prst="rect">
            <a:avLst/>
          </a:prstGeom>
          <a:noFill/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</a:ln>
        </p:spPr>
      </p:pic>
      <p:sp>
        <p:nvSpPr>
          <p:cNvPr id="36" name="AutoShape 36"/>
          <p:cNvSpPr/>
          <p:nvPr/>
        </p:nvSpPr>
        <p:spPr>
          <a:xfrm>
            <a:off x="8382000" y="4064000"/>
            <a:ext cx="15494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9000" y="4191000"/>
            <a:ext cx="304800" cy="3048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8890000" y="4191000"/>
            <a:ext cx="952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极速计算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509000" y="4572000"/>
            <a:ext cx="133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Numba JIT编译核心循环，性能直逼C/Fortran，大幅提升运行效率。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0071100" y="4064000"/>
            <a:ext cx="15494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98100" y="4191000"/>
            <a:ext cx="304800" cy="3048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10579100" y="4191000"/>
            <a:ext cx="952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清晰架构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10198100" y="4572000"/>
            <a:ext cx="133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Dataclass管理状态，类型安全，逻辑分层清晰，代码易于维护迭代。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382000" y="5334000"/>
            <a:ext cx="32385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09000" y="5461000"/>
            <a:ext cx="304800" cy="304800"/>
          </a:xfrm>
          <a:prstGeom prst="rect">
            <a:avLst/>
          </a:prstGeom>
        </p:spPr>
      </p:pic>
      <p:sp>
        <p:nvSpPr>
          <p:cNvPr id="46" name="AutoShape 46"/>
          <p:cNvSpPr/>
          <p:nvPr/>
        </p:nvSpPr>
        <p:spPr>
          <a:xfrm>
            <a:off x="8890000" y="5461000"/>
            <a:ext cx="2603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流畅数据流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509000" y="5842000"/>
            <a:ext cx="298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Pandas驱动数据处理，无缝衔接结果可视化与多格式导出，支持复杂数据分析需求。</a:t>
            </a:r>
            <a:endParaRPr lang="en-US" sz="1100"/>
          </a:p>
        </p:txBody>
      </p:sp>
      <p:sp>
        <p:nvSpPr>
          <p:cNvPr id="48" name="TextBox 47"/>
          <p:cNvSpPr txBox="1"/>
          <p:nvPr/>
        </p:nvSpPr>
        <p:spPr>
          <a:xfrm>
            <a:off x="4064000" y="0"/>
            <a:ext cx="8229600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_calc_daylength()日长计算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_thermal_time()热时间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_photosynthesis()光合作用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_transpiration()蒸腾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_water_stress()水分胁迫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_maintenance_resp()呼吸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六大核心算法模块(第二部分)</a:t>
            </a:r>
            <a:endParaRPr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物候发育阶段（10阶段模型）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5505" b="5505"/>
          <a:stretch>
            <a:fillRect/>
          </a:stretch>
        </p:blipFill>
        <p:spPr>
          <a:xfrm>
            <a:off x="762000" y="1524000"/>
            <a:ext cx="5334000" cy="1651000"/>
          </a:xfrm>
          <a:prstGeom prst="rect">
            <a:avLst/>
          </a:prstGeom>
          <a:noFill/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477000" y="1524000"/>
            <a:ext cx="4953000" cy="1651000"/>
          </a:xfrm>
          <a:prstGeom prst="roundRect">
            <a:avLst>
              <a:gd name="adj" fmla="val 0"/>
            </a:avLst>
          </a:prstGeom>
          <a:solidFill>
            <a:srgbClr val="E5393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477000" y="1524000"/>
            <a:ext cx="76200" cy="16510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731000" y="1651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核心驱动：累积热时间（度日）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模型以“度日”为核心指标，精准量化草莓从种子萌发到衰老的全过程。当累积热时间达到预设阈值，即触发生理过程的质变，实现阶段的自动跃迁与生物量分配策略的动态调整。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5270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0800" cy="6604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3619500"/>
            <a:ext cx="4953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01-05 阶段：基础建立与营养生长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萌发(0) → 破土(50) → 真叶(100) → 速生(200) → 花芽分化(400)，完成从种子到生殖转换的关键积累。</a:t>
            </a:r>
            <a:endParaRPr lang="en-US" sz="12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470400"/>
            <a:ext cx="5270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470400"/>
            <a:ext cx="50800" cy="6604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2500" y="4533900"/>
            <a:ext cx="4953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06-08 阶段：生殖生长与果实发育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开花(600) → 坐果(700) → 膨大(800)，这一阶段能量分配向果实倾斜，是产量形成的核心时期。</a:t>
            </a:r>
            <a:endParaRPr lang="en-US" sz="12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384800"/>
            <a:ext cx="5270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5384800"/>
            <a:ext cx="50800" cy="6604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52500" y="5448300"/>
            <a:ext cx="4953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09-10 阶段：成熟收获与生命终结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成熟(1000) → 衰老(1500)，果实达到生理成熟指标，植株逐渐停止代谢，完成整个生命周期闭环。</a:t>
            </a:r>
            <a:endParaRPr lang="en-US" sz="12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382811">
            <a:off x="5080000" y="4819666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77000" y="3556000"/>
            <a:ext cx="4953000" cy="11430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04000" y="3683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阶段跃迁判定逻辑：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当系统监测到「累积热时间」≥ 下一阶段阈值时，自动执行状态机切换，同步更新光合产物分配比例、呼吸消耗系数及激素调控参数。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4953000"/>
            <a:ext cx="2387600" cy="1092200"/>
          </a:xfrm>
          <a:prstGeom prst="roundRect">
            <a:avLst>
              <a:gd name="adj" fmla="val 0"/>
            </a:avLst>
          </a:prstGeom>
          <a:solidFill>
            <a:srgbClr val="E53935">
              <a:alpha val="6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04000" y="5080000"/>
            <a:ext cx="21336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关键节点：600 度日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从营养生长转向生殖生长的临界点，标志着植株开始全力投入开花结果的进程。</a:t>
            </a:r>
            <a:endParaRPr lang="en-US" sz="12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042400" y="4953000"/>
            <a:ext cx="2387600" cy="1092200"/>
          </a:xfrm>
          <a:prstGeom prst="roundRect">
            <a:avLst>
              <a:gd name="adj" fmla="val 0"/>
            </a:avLst>
          </a:prstGeom>
          <a:solidFill>
            <a:srgbClr val="E53935">
              <a:alpha val="6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169400" y="5080000"/>
            <a:ext cx="21336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关键节点：1000 度日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果实完全成熟的生理阈值，此时果实糖分、香气及色泽达到最佳品质状态。</a:t>
            </a:r>
            <a:endParaRPr lang="en-US" sz="12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05500" y="0"/>
            <a:ext cx="8229600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update_phenology()方法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phenology_stages字典(10阶段)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热时间阈值(0/50/100/200/400/600/700/800/1000/1500)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物候发育阶段(10阶段模型)</a:t>
            </a:r>
            <a:endParaRPr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生物量分配机制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每日净生物量并非平均分配，而是受物候期驱动的动态差异化“投资策略”，从早期建立根叶基础，逐步转向花果发育，实现资源利用的最优化。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12500" b="12500"/>
          <a:stretch>
            <a:fillRect/>
          </a:stretch>
        </p:blipFill>
        <p:spPr>
          <a:xfrm>
            <a:off x="762000" y="2540000"/>
            <a:ext cx="3048000" cy="2286000"/>
          </a:xfrm>
          <a:prstGeom prst="rect">
            <a:avLst/>
          </a:prstGeom>
          <a:noFill/>
          <a:ln w="25400" cap="flat" cmpd="sng">
            <a:solidFill>
              <a:srgbClr val="E53935">
                <a:alpha val="4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5080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图示：草莓幼苗期根系与茎叶的早期生物量分配，根系占据显著比例，为植株后续生长构建坚实的吸收基础。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87722">
            <a:off x="2540000" y="4311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572000" y="2540000"/>
          <a:ext cx="7112000" cy="2222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825500"/>
                <a:gridCol w="825500"/>
                <a:gridCol w="825500"/>
                <a:gridCol w="825500"/>
                <a:gridCol w="2413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物候阶段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3935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3935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3935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3935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果实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3935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关键特点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3935">
                        <a:alpha val="1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萌发/幼苗期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优先投入根叶，构建营养吸收与光合基础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营养/花芽期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茎叶快速扩张，光合面积最大化，积累能量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坐果/成熟期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5-0%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25-10%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20-10%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50-80%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资源极速转向果实，果实成为绝对的生物量库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9" name="Connector 9"/>
          <p:cNvCxnSpPr/>
          <p:nvPr/>
        </p:nvCxnSpPr>
        <p:spPr>
          <a:xfrm rot="-6366">
            <a:off x="4572006" y="5518150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4572000" y="5715000"/>
            <a:ext cx="2159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72000" y="5715000"/>
            <a:ext cx="50800" cy="10160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99000" y="57785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冠芽指数更新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自然增长率2%/日，呈指数增长模式，决定植株整体的营养分生能力。</a:t>
            </a:r>
            <a:endParaRPr lang="en-US" sz="11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858000" y="5715000"/>
            <a:ext cx="2159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858000" y="5715000"/>
            <a:ext cx="50800" cy="1016000"/>
          </a:xfrm>
          <a:prstGeom prst="roundRect">
            <a:avLst>
              <a:gd name="adj" fmla="val 0"/>
            </a:avLst>
          </a:prstGeom>
          <a:solidFill>
            <a:srgbClr val="E53935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985000" y="57785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匍匐茎产生速率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每冠芽产生0.1个/日，通过无性繁殖拓展种群，分配少量生物量用于新株建立。</a:t>
            </a:r>
            <a:endParaRPr lang="en-US" sz="11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144000" y="5715000"/>
            <a:ext cx="2159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144000" y="5715000"/>
            <a:ext cx="50800" cy="1016000"/>
          </a:xfrm>
          <a:prstGeom prst="roundRect">
            <a:avLst>
              <a:gd name="adj" fmla="val 0"/>
            </a:avLst>
          </a:prstGeom>
          <a:solidFill>
            <a:srgbClr val="E53935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271000" y="57785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果实数量潜力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开花期×0.1，坐果期×0.2，果实数量由冠芽基数与物候转换系数共同决定。</a:t>
            </a:r>
            <a:endParaRPr lang="en-US" sz="11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12515" y="-6985"/>
            <a:ext cx="8229600" cy="135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partition_biomass()生物量分配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update_crowns()冠芽更新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update_runners()匍匐茎更新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update_fruits()果实更新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生物量分配机制(第二部分)</a:t>
            </a:r>
            <a:endParaRPr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模型输入输出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21929" b="21929"/>
          <a:stretch>
            <a:fillRect/>
          </a:stretch>
        </p:blipFill>
        <p:spPr>
          <a:xfrm>
            <a:off x="762000" y="1778000"/>
            <a:ext cx="4826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191000"/>
            <a:ext cx="2349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4191000"/>
            <a:ext cx="50800" cy="1079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14400" y="425450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01 站点基础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涵盖地理纬度、种植日期等基础定位信息，为模型提供初始环境基准。</a:t>
            </a:r>
            <a:endParaRPr lang="en-US" sz="12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365500" y="4191000"/>
            <a:ext cx="2349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365500" y="4191000"/>
            <a:ext cx="50800" cy="1079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17900" y="425450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02 土壤理化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输入最大根系深度、田间持水量、萎蔫点等参数，精准刻画土壤水分环境。</a:t>
            </a:r>
            <a:endParaRPr lang="en-US" sz="12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461000"/>
            <a:ext cx="2349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5461000"/>
            <a:ext cx="50800" cy="1079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14400" y="552450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03 品种参数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设定三基点温度、RUE、消光系数及比叶面积，定义作物遗传生理特性。</a:t>
            </a:r>
            <a:endParaRPr lang="en-US" sz="12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365500" y="5461000"/>
            <a:ext cx="2349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365500" y="5461000"/>
            <a:ext cx="50800" cy="1079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517900" y="552450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04 逐日气象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驱动因子包括温光水气风等关键要素，为作物生长提供动态气象条件。</a:t>
            </a:r>
            <a:endParaRPr lang="en-US" sz="12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390832">
            <a:off x="3714750" y="4152908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350000" y="1778000"/>
            <a:ext cx="50800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350000" y="1778000"/>
            <a:ext cx="50800" cy="11176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502400" y="1841500"/>
            <a:ext cx="48006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01 生物量与形态指标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输出总生物量及其在根、茎、叶、果中的分配比例，同时量化叶面积指数(LAI)和根系深度的动态变化过程，直观反映作物生长态势。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350000" y="3111500"/>
            <a:ext cx="50800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350000" y="3111500"/>
            <a:ext cx="50800" cy="11176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502400" y="3175000"/>
            <a:ext cx="48006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02 关键器官数量动态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精准模拟并输出果实数量、冠芽数及匍匐茎数的时空分布，为产量构成分析和植株群体结构优化提供核心数据支撑。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350000" y="4292600"/>
            <a:ext cx="50800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350000" y="4292600"/>
            <a:ext cx="50800" cy="11176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502400" y="4356100"/>
            <a:ext cx="48006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核心生长状态表征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实时追踪物候阶段（如开花、结果期），计算累积热时间，评估水分胁迫因子，综合反映环境与作物生长的互作关系。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50000" y="5435600"/>
            <a:ext cx="50800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350000" y="5435600"/>
            <a:ext cx="50800" cy="11176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502400" y="5499100"/>
            <a:ext cx="48006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04 关键生理过程量化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输出每日光合作用总量及蒸腾作用耗水量，解析碳同化与水分利用效率，为理解作物物质生产和水分代谢机制提供微观视角。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00400" y="0"/>
            <a:ext cx="8229600" cy="135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__init__()输入参数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站点/土壤/品种/气象参数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simulate_growth()输出变量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生物量/形态/器官/状态指标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模型输入输出(第二部分)</a:t>
            </a:r>
            <a:endParaRPr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四层验证体系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161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单元测试框架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9644">
            <a:off x="952518" y="2279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89000" y="2413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基于unittest框架对独立函数进行全覆盖测试，从底层确保基础计算逻辑无错误，筑牢模型根基。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30600" y="1651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5306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1100" y="1841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165600" y="18161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模块级验证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9644">
            <a:off x="3721118" y="2279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657600" y="2413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针对PHENOL（物候）与GROW（生长）核心模块进行功能验证，确保各模块协同工作符合预期。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99200" y="1651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992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9700" y="1841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34200" y="18161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跨语言对比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9644">
            <a:off x="6489718" y="2279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426200" y="2413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将Python实现与Fortran DSSAT原版代码进行逐行算法对齐与结果对比，确保核心计算一致性。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67800" y="1651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0678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58300" y="1841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702800" y="18161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多情景检验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9644">
            <a:off x="9258318" y="2279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194800" y="2413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构建12种标准、高温、干旱等典型情景，全方位检验模型在不同环境胁迫下的鲁棒性与适应性。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3937000"/>
            <a:ext cx="10922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29" name="Table 29"/>
          <p:cNvGraphicFramePr>
            <a:graphicFrameLocks noGrp="1"/>
          </p:cNvGraphicFramePr>
          <p:nvPr/>
        </p:nvGraphicFramePr>
        <p:xfrm>
          <a:off x="889000" y="4064000"/>
          <a:ext cx="10541000" cy="18669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302000"/>
                <a:gridCol w="1778000"/>
                <a:gridCol w="5461000"/>
              </a:tblGrid>
              <a:tr h="4445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验证项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3935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验证结果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3935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关键发现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3935">
                        <a:alpha val="8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44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基础计算：日长与热时间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2C55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全部通过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日长计算误差小于1%；梯形响应函数准确反映温度对发育的影响。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44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生理过程：光合与蒸腾作用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2C55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全部通过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Beer-Lambert定律实现正确；Hargreaves公式计算蒸腾量与理论值高度吻合。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44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环境胁迫：水分与生物量分配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2C55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全部通过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土壤水分平衡逻辑自洽；地上地下生物量分配系数设定合理，符合作物生长规律。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44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基准对比：DSSAT 官方试验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2C55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完美匹配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在UFBA1401/1601/1701等3个关键试验中，模拟结果与原版差异为0，验证了算法的准确性。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3200400" y="25400"/>
            <a:ext cx="8229600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cropgro-strawberry-test1.py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单元测试框架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模块级验证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validate_models.py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跨语言对比验证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enhanced_compare_with_fortran.py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增强对比脚本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run_all_comparisons.py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多情景检验</a:t>
            </a:r>
            <a:endParaRPr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当前问题与优化方向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6604000" cy="508000"/>
          </a:xfrm>
          <a:prstGeom prst="roundRect">
            <a:avLst>
              <a:gd name="adj" fmla="val 0"/>
            </a:avLst>
          </a:prstGeom>
          <a:solidFill>
            <a:srgbClr val="E5393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核心问题表现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667000" y="1778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当前值 vs 目标值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7780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改进方案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842000" y="17780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优化优先级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6611">
            <a:off x="762006" y="2279650"/>
            <a:ext cx="660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3935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62000" y="2540000"/>
            <a:ext cx="6604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25500" y="26035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RUE (辐射利用效率) 偏低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730500" y="2603500"/>
            <a:ext cx="171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2.5 g/MJ (当前)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目标: 3.0-3.5 g/MJ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08500" y="2603500"/>
            <a:ext cx="133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上调关键参数设置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905500" y="2603500"/>
            <a:ext cx="133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🔴 高优先级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429000"/>
            <a:ext cx="6604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5500" y="34925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SLA (比叶面积) 偏低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730500" y="3492500"/>
            <a:ext cx="171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0.02 m²/g (当前)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目标: 0.03-0.05 m²/g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08500" y="3492500"/>
            <a:ext cx="133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优化叶片形态参数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905500" y="3492500"/>
            <a:ext cx="133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🔴 高优先级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318000"/>
            <a:ext cx="6604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25500" y="43815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缺少光周期驱动模块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730500" y="4381500"/>
            <a:ext cx="171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仅依赖积温发育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需引入临界日长控制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08500" y="4381500"/>
            <a:ext cx="133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开发并耦合光周期模块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905500" y="4381500"/>
            <a:ext cx="133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🔴 高优先级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207000"/>
            <a:ext cx="6604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25500" y="5270500"/>
            <a:ext cx="184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其他中低优先级问题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730500" y="52705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积温阈值偏低、种植密度固定化、水分胁迫模型简化。需逐步增加各生育期积温阈值、开放参数接口并改进多层土壤水分平衡机制。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90177">
            <a:off x="5524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8001000" y="1778000"/>
            <a:ext cx="3683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0" y="19050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636000" y="1905000"/>
            <a:ext cx="292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脚本实现与验证 Bug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2732">
            <a:off x="8128012" y="24066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8128000" y="25400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发现列名不匹配、硬编码纬度等代码错误，已完成修复；后续将建立自动化测试脚本防止回归。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001000" y="3365500"/>
            <a:ext cx="3683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8000" y="3492500"/>
            <a:ext cx="406400" cy="4064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8636000" y="3492500"/>
            <a:ext cx="292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单位体系与量纲不统一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-12732">
            <a:off x="8128012" y="39941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8128000" y="41275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Fortran 原版使用 mg/plant，Python 移植版误用 g/plant，导致数值偏差1000倍，需全面统一单位体系。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001000" y="4953000"/>
            <a:ext cx="3683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5080000"/>
            <a:ext cx="406400" cy="4064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8636000" y="5080000"/>
            <a:ext cx="292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模型结构的过度简化</a:t>
            </a:r>
            <a:endParaRPr lang="en-US" sz="1100"/>
          </a:p>
        </p:txBody>
      </p:sp>
      <p:cxnSp>
        <p:nvCxnSpPr>
          <p:cNvPr id="42" name="Connector 42"/>
          <p:cNvCxnSpPr/>
          <p:nvPr/>
        </p:nvCxnSpPr>
        <p:spPr>
          <a:xfrm rot="-12732">
            <a:off x="8128012" y="55816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43"/>
          <p:cNvSpPr/>
          <p:nvPr/>
        </p:nvSpPr>
        <p:spPr>
          <a:xfrm>
            <a:off x="8128000" y="56515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Farquhar光合模型、多层土壤水分及源库关系未完全实现，需迭代完善模型机理，提升生物过程真实性。</a:t>
            </a:r>
            <a:endParaRPr lang="en-US" sz="1100"/>
          </a:p>
        </p:txBody>
      </p:sp>
      <p:sp>
        <p:nvSpPr>
          <p:cNvPr id="44" name="TextBox 43"/>
          <p:cNvSpPr txBox="1"/>
          <p:nvPr/>
        </p:nvSpPr>
        <p:spPr>
          <a:xfrm>
            <a:off x="4445000" y="0"/>
            <a:ext cx="822960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参数优化方向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RUE参数调整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当前问题与优化方向</a:t>
            </a:r>
            <a:endParaRPr b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多情景模拟结果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778000"/>
          <a:ext cx="5842000" cy="3746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1079500"/>
                <a:gridCol w="1079500"/>
                <a:gridCol w="1079500"/>
                <a:gridCol w="1079500"/>
              </a:tblGrid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情景类型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3935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总生物量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3935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果实生物量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3935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LAI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3935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水分胁迫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3935">
                        <a:alpha val="1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标准环境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0.15 g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0.04 g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0.0008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0.12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高温(+3°C)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0.65 g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0.18 g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0.0033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0.22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干旱(-50%降雨)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0.33 g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0.10 g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0.0017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0.19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低纬度地区</a:t>
                      </a:r>
                      <a:endParaRPr lang="en-US" sz="1600" b="1" i="0" u="none" strike="noStrike">
                        <a:solidFill>
                          <a:srgbClr val="333333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1.95 g</a:t>
                      </a:r>
                      <a:endParaRPr lang="en-US" sz="1600" b="1" i="0" u="none" strike="noStrike">
                        <a:solidFill>
                          <a:schemeClr val="tx1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0.51 g</a:t>
                      </a:r>
                      <a:endParaRPr lang="en-US" sz="1600" b="1" i="0" u="none" strike="noStrike">
                        <a:solidFill>
                          <a:schemeClr val="tx1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0.0105</a:t>
                      </a:r>
                      <a:endParaRPr lang="en-US" sz="1600" b="1" i="0" u="none" strike="noStrike">
                        <a:solidFill>
                          <a:schemeClr val="tx1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0.31</a:t>
                      </a:r>
                      <a:endParaRPr lang="en-US" sz="1600" b="1" i="0" u="none" strike="noStrike">
                        <a:solidFill>
                          <a:schemeClr val="tx1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晚熟品种组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 g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 g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0.16</a:t>
                      </a:r>
                      <a:endParaRPr lang="en-US" sz="1600" b="1" i="0" u="none" strike="noStrike">
                        <a:solidFill>
                          <a:srgbClr val="50505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112000" y="1778000"/>
            <a:ext cx="431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0" y="1778000"/>
            <a:ext cx="76200" cy="1206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6000" y="1905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874000" y="18796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低纬度情景表现最优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高温高辐射环境显著促进了光合作用效率，生物量产出达到峰值，但同时面临最大的水分胁迫风险，需重点关注灌溉策略。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112000" y="3302000"/>
            <a:ext cx="431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112000" y="330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6000" y="3429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874000" y="34036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高温情景生物量提升 4.2 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温度效应对生长的正向驱动作用明显，相比标准环境生物量大幅增长。但需警惕蒸腾作用加剧导致的水分失衡问题。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112000" y="4826000"/>
            <a:ext cx="431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112000" y="4826000"/>
            <a:ext cx="76200" cy="1206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6000" y="4953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874000" y="49276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关键参数敏感性显著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模型对 RUE（辐射利用效率）和 SLA（比叶面积）的微小调整呈现出非线性的输出响应，验证了参数校准对模拟精度的决定性影响。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97275" y="27940"/>
            <a:ext cx="822960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多情景模拟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温度/辐射敏感性分析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run_all_comparisons.py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多情景对比运行</a:t>
            </a:r>
            <a:endParaRPr b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E53935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159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133600"/>
            <a:ext cx="247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— 科研应用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323">
            <a:off x="9525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0480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深入开展草莓生长机理研究，系统分析环境因子敏感性，通过模型迭代优化品种关键参数，持续改进并验证模型的科学性与准确性，为产业发展提供理论支撑。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45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 t="12083" b="12083"/>
          <a:stretch>
            <a:fillRect/>
          </a:stretch>
        </p:blipFill>
        <p:spPr>
          <a:xfrm>
            <a:off x="4572000" y="2095500"/>
            <a:ext cx="3175000" cy="1587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4572000" y="3810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— 生产应用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4318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提供种植日期优化决策，实施精准灌溉管理，科学预测评估产量，并量化分析气候变化对生产的影响，助力农业生产提质增效。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0" y="2159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2133600"/>
            <a:ext cx="247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— 教学应用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30480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直观演示作物模型核心原理，开展Python科学计算实践教学，帮助学生加深对农业系统模拟的理解，培养新一代农业科技人才的综合实践能力。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E5393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715000"/>
            <a:ext cx="50800" cy="7620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全链条覆盖：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从理论研究的机理探索，延伸至生产实践的决策辅助，最终下沉到教育科普的人才培养，构建完整的产学研用闭环体系。</a:t>
            </a:r>
            <a:endParaRPr lang="en-US" sz="1100"/>
          </a:p>
        </p:txBody>
      </p:sp>
      <p:sp>
        <p:nvSpPr>
          <p:cNvPr id="25" name="TextBox 24"/>
          <p:cNvSpPr txBox="1"/>
          <p:nvPr/>
        </p:nvSpPr>
        <p:spPr>
          <a:xfrm>
            <a:off x="2390140" y="0"/>
            <a:ext cx="822960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模型应用接口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科研/生产/教学场景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应用场景(第二部分)</a:t>
            </a:r>
            <a:endParaRPr b="1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技术实现特点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59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33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模块化机制驱动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0480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算法组件化封装，支持独立替换与灵活扩展；基于作物生理过程驱动模型逻辑，结构层次清晰，维护性强。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905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159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2133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参数化高效计算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30480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构建多品种、多区域适配参数体系；引入Numba JIT即时编译技术加速核心运算，大幅提升模型迭代与模拟效率。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905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159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2133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多维度验证完备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30480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实现单元测试全覆盖，通过DSSAT标准数据集对比验证；结合巴西、美国等4个真实田间试验数据交叉检验模型精度。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20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89000" y="5334000"/>
            <a:ext cx="247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~600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核心Python实现代码量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4" name="Connector 24"/>
          <p:cNvCxnSpPr/>
          <p:nvPr/>
        </p:nvCxnSpPr>
        <p:spPr>
          <a:xfrm rot="5342709">
            <a:off x="3111500" y="5772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3619500" y="5334000"/>
            <a:ext cx="247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套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独立自动化验证脚本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6" name="Connector 26"/>
          <p:cNvCxnSpPr/>
          <p:nvPr/>
        </p:nvCxnSpPr>
        <p:spPr>
          <a:xfrm rot="5342709">
            <a:off x="5715000" y="5772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223000" y="5334000"/>
            <a:ext cx="247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12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种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标准种植情景分析案例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8" name="Connector 28"/>
          <p:cNvCxnSpPr/>
          <p:nvPr/>
        </p:nvCxnSpPr>
        <p:spPr>
          <a:xfrm rot="5342709">
            <a:off x="8191500" y="5772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8699500" y="5334000"/>
            <a:ext cx="260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巴美真实田间对比试验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00400" y="0"/>
            <a:ext cx="8229600" cy="135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模块化设计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Numba JIT加速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参数化配置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约600行核心代码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技术实现特点(第二部分)</a:t>
            </a:r>
            <a:endParaRPr b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长期待实现功能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E53935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159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近期 · 日长驱动物候模块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94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技术难度：中</a:t>
            </a:r>
            <a:b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聚焦物候期时长的精准修正，夯实基础数据。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29000" y="2794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预期效果：</a:t>
            </a:r>
            <a:b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修正作物不同生长阶段的时长偏差，提升适配性。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032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203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E5393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2159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近期 · 春化模型（低温累积）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2794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技术难度：中</a:t>
            </a:r>
            <a:b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构建低温累积算法，适配温带作物品种特性。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90000" y="2794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预期效果：</a:t>
            </a:r>
            <a:b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精准模拟春化过程，扩大模型适用的作物品种范围。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810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381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E53935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393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中期 · 氮素循环模块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1016009" y="443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4572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技术难度：高</a:t>
            </a:r>
            <a:b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耦合土壤-作物氮循环机制，模拟养分动态转化。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429000" y="4572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预期效果：</a:t>
            </a:r>
            <a:b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显著提高产量预测精度，为科学施肥提供依据。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3810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223000" y="381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E53935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393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中期 · 灌溉管理决策模块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91">
            <a:off x="6477009" y="443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477000" y="4572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技术难度：中</a:t>
            </a:r>
            <a:b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整合土壤墒情与作物需水规律，生成智能建议。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90000" y="4572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预期效果：</a:t>
            </a:r>
            <a:b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直接支持田间生产应用，实现水资源的高效利用。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546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62000" y="546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E53935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1016000" y="55626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远期 · 病虫害影响模块 &amp; Farquhar光合模型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9291">
            <a:off x="1016009" y="596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1016000" y="60452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攻克高难度技术点，实现病虫害对产量影响的量化模拟，结合Farquhar模型提升极端环境下的预测精度，构建完整生产决策支持体系。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23000" y="546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E53935">
              <a:alpha val="8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0" y="56134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6921500" y="55880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构建全周期、多维度的智能决策闭环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-9291">
            <a:off x="6477009" y="596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6477000" y="60452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从基础生理过程到复杂生态交互，逐步完善模型架构，最终为农业生产提供全方位、精准化的科学指导与技术支撑。</a:t>
            </a:r>
            <a:endParaRPr lang="en-US" sz="1100"/>
          </a:p>
        </p:txBody>
      </p:sp>
      <p:sp>
        <p:nvSpPr>
          <p:cNvPr id="39" name="TextBox 38"/>
          <p:cNvSpPr txBox="1"/>
          <p:nvPr/>
        </p:nvSpPr>
        <p:spPr>
          <a:xfrm>
            <a:off x="3634105" y="0"/>
            <a:ext cx="8229600" cy="135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待实现功能模块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日长驱动物候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春化模型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氮素循环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长期待实现功能</a:t>
            </a:r>
            <a:endParaRPr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73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" cy="1333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9050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01 日长计算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基于天文驱动算法，精准处理高纬度地区极昼极夜的光周期变化，为物候期模拟提供坚实基础。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365500"/>
            <a:ext cx="273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365500"/>
            <a:ext cx="50800" cy="1333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34925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02 热时间模型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采用三基点温度梯形响应函数，有效量化温度对作物生长发育速率的非线性驱动作用，贴合实际。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953000"/>
            <a:ext cx="273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953000"/>
            <a:ext cx="50800" cy="1333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52500" y="50800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03 光合作用模拟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引入RUE多因子耦合机制，综合考量CO₂浓度、温度及叶面积指数(LAI)，提升光合生产估算精度。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746500" y="1778000"/>
            <a:ext cx="273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746500" y="1778000"/>
            <a:ext cx="50800" cy="1333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937000" y="19050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04 蒸腾作用估算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选用Hargreaves简化模型，兼顾模拟精度与气象数据的可得性，降低了实际应用的门槛。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746500" y="3365500"/>
            <a:ext cx="273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746500" y="3365500"/>
            <a:ext cx="50800" cy="1333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937000" y="34925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05 水分胁迫量化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构建0-1区间的土壤水分平衡系数，动态反映土壤有效含水量对作物生长的实时胁迫程度。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746500" y="4953000"/>
            <a:ext cx="273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393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3746500" y="4953000"/>
            <a:ext cx="50800" cy="13335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937000" y="50800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06 维持呼吸消耗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建立器官差异化的Q10温度响应模型，精准计算不同生育阶段、不同器官的呼吸碳消耗分配。</a:t>
            </a:r>
            <a:endParaRPr lang="en-US" sz="1300" b="0" i="0" u="none" strike="noStrike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2" name="Connector 22"/>
          <p:cNvCxnSpPr/>
          <p:nvPr/>
        </p:nvCxnSpPr>
        <p:spPr>
          <a:xfrm rot="5390316">
            <a:off x="4603750" y="4025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7112000" y="17780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关键项目成果交付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12000" y="2540000"/>
            <a:ext cx="4318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0" y="27051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747000" y="2603500"/>
            <a:ext cx="355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核心模型开发完成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基于Python重构核心逻辑，代码模块化、结构清晰，具备良好的扩展性与可维护性。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7112000" y="3429000"/>
            <a:ext cx="4318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0" y="35941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747000" y="3492500"/>
            <a:ext cx="355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零差异验证通过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与DSSAT Fortran原版全流程对比，输出结果偏差&lt;0.1%，通过严格的单元测试与模块验证。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7112000" y="4318000"/>
            <a:ext cx="4318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0" y="4483100"/>
            <a:ext cx="355600" cy="3556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747000" y="4381500"/>
            <a:ext cx="355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多情景分析与参数优化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完成12种环境情景模拟分析，识别关键敏感参数，明确了模型本地化应用的优化方向。</a:t>
            </a:r>
            <a:endParaRPr lang="en-US" sz="12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7112000" y="5334000"/>
            <a:ext cx="4318000" cy="825500"/>
          </a:xfrm>
          <a:prstGeom prst="roundRect">
            <a:avLst>
              <a:gd name="adj" fmla="val 0"/>
            </a:avLst>
          </a:prstGeom>
          <a:solidFill>
            <a:srgbClr val="E53935">
              <a:alpha val="8000"/>
            </a:srgbClr>
          </a:solidFill>
          <a:ln w="12700" cap="flat" cmpd="sng">
            <a:solidFill>
              <a:srgbClr val="E5393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7239000" y="54356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建立标准化技术文档与使用手册，完善模型注释体系，为后续科研合作与技术推广提供完整支撑。</a:t>
            </a:r>
            <a:endParaRPr lang="en-US" sz="1100"/>
          </a:p>
        </p:txBody>
      </p:sp>
      <p:sp>
        <p:nvSpPr>
          <p:cNvPr id="35" name="TextBox 34"/>
          <p:cNvSpPr txBox="1"/>
          <p:nvPr/>
        </p:nvSpPr>
        <p:spPr>
          <a:xfrm>
            <a:off x="1745615" y="96520"/>
            <a:ext cx="822960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六大核心算法总结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关键项目成果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algorithm_mechanism_ppt.md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总结(第二部分)</a:t>
            </a:r>
            <a:endParaRPr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76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致谢与参考资料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1778000"/>
            <a:ext cx="1270000" cy="38100"/>
          </a:xfrm>
          <a:prstGeom prst="roundRect">
            <a:avLst>
              <a:gd name="adj" fmla="val 0"/>
            </a:avLst>
          </a:prstGeom>
          <a:solidFill>
            <a:srgbClr val="E539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2413000"/>
            <a:ext cx="3556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667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2641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特别致谢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7620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98500" y="3556000"/>
            <a:ext cx="317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DSSAT 团队：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提供了核心作物模型框架，奠定了研究的理论基石。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James Han：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完成关键Python代码实现与工程化封装，保障系统稳定。</a:t>
            </a:r>
            <a:endParaRPr lang="en-US" sz="1600" b="0" i="0" u="none" strike="noStrike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Numba、Pandas等工具赋能，加速了开发进程。</a:t>
            </a:r>
            <a:endParaRPr lang="en-US" sz="1600" b="0" i="0" u="none" strike="noStrike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18000" y="2413000"/>
            <a:ext cx="3556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667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2641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核心理论参考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45720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08500" y="3556000"/>
            <a:ext cx="317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日长与热时间：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基于经典天文学公式与Monteith (1977)的积温模型构建。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光能利用与蒸散：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参考Sinclair &amp; Muchow (1999)的RUE模型及Hargreaves蒸散算法。</a:t>
            </a:r>
            <a:endParaRPr lang="en-US" sz="1600" b="0" i="0" u="none" strike="noStrike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呼吸作用：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采用Q10生理生态学模型量化温度对暗呼吸的影响。</a:t>
            </a:r>
            <a:endParaRPr lang="en-US" sz="1600" b="0" i="0" u="none" strike="noStrike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2413000"/>
            <a:ext cx="3556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667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2641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项目资源获取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83820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18500" y="3556000"/>
            <a:ext cx="317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代码仓库：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GitHub开源地址：github.com/itsjameshan/CN-strawberryDSSAT，欢迎Star与Fork。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官方文档：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访问 dssat.net 获取最权威的模型参数与技术支持文档。</a:t>
            </a:r>
            <a:endParaRPr lang="en-US" sz="1600" b="0" i="0" u="none" strike="noStrike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0" y="596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1" name="TextBox 20"/>
          <p:cNvSpPr txBox="1"/>
          <p:nvPr/>
        </p:nvSpPr>
        <p:spPr>
          <a:xfrm>
            <a:off x="0" y="20320"/>
            <a:ext cx="8229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/>
          </a:p>
          <a:p>
            <a:pPr>
              <a:defRPr sz="1000" b="1">
                <a:solidFill>
                  <a:srgbClr val="0066CC"/>
                </a:solidFill>
              </a:defRPr>
            </a:pPr>
            <a:r>
              <a:rPr b="1"/>
              <a:t>📁 对应源码文件：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cropgro-strawberry-implementation.py</a:t>
            </a:r>
            <a:endParaRPr b="1"/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rPr b="1"/>
              <a:t>    → 项目核心文件</a:t>
            </a:r>
            <a:endParaRPr b="1"/>
          </a:p>
          <a:p>
            <a:pPr lvl="1">
              <a:defRPr sz="900">
                <a:solidFill>
                  <a:srgbClr val="000000"/>
                </a:solidFill>
              </a:defRPr>
            </a:pPr>
            <a:r>
              <a:rPr b="1"/>
              <a:t>  • algorithm_mechanism_pp</a:t>
            </a:r>
            <a:r>
              <a:t>t.md</a:t>
            </a:r>
          </a:p>
          <a:p>
            <a:pPr lvl="2">
              <a:defRPr sz="800">
                <a:solidFill>
                  <a:srgbClr val="646464"/>
                </a:solidFill>
              </a:defRPr>
            </a:pPr>
            <a:r>
              <a:t>    → 致谢与参考资料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2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3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4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5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6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7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8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9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10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11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12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13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14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15.xml><?xml version="1.0" encoding="utf-8"?>
<p:tagLst xmlns:p="http://schemas.openxmlformats.org/presentationml/2006/main">
  <p:tag name="KSO_WM_DIAGRAM_VIRTUALLY_FRAME" val="{&quot;height&quot;:150,&quot;left&quot;:80,&quot;top&quot;:300,&quot;width&quot;:799}"/>
</p:tagLst>
</file>

<file path=ppt/tags/tag16.xml><?xml version="1.0" encoding="utf-8"?>
<p:tagLst xmlns:p="http://schemas.openxmlformats.org/presentationml/2006/main">
  <p:tag name="KSO_WM_DIAGRAM_VIRTUALLY_FRAME" val="{&quot;height&quot;:310,&quot;left&quot;:370,&quot;top&quot;:140,&quot;width&quot;:310}"/>
</p:tagLst>
</file>

<file path=ppt/tags/tag17.xml><?xml version="1.0" encoding="utf-8"?>
<p:tagLst xmlns:p="http://schemas.openxmlformats.org/presentationml/2006/main">
  <p:tag name="KSO_WM_DIAGRAM_VIRTUALLY_FRAME" val="{&quot;height&quot;:310,&quot;left&quot;:370,&quot;top&quot;:140,&quot;width&quot;:310}"/>
</p:tagLst>
</file>

<file path=ppt/tags/tag18.xml><?xml version="1.0" encoding="utf-8"?>
<p:tagLst xmlns:p="http://schemas.openxmlformats.org/presentationml/2006/main">
  <p:tag name="KSO_WM_DIAGRAM_VIRTUALLY_FRAME" val="{&quot;height&quot;:310,&quot;left&quot;:370,&quot;top&quot;:140,&quot;width&quot;:310}"/>
</p:tagLst>
</file>

<file path=ppt/tags/tag19.xml><?xml version="1.0" encoding="utf-8"?>
<p:tagLst xmlns:p="http://schemas.openxmlformats.org/presentationml/2006/main">
  <p:tag name="KSO_WM_DIAGRAM_VIRTUALLY_FRAME" val="{&quot;height&quot;:310,&quot;left&quot;:370,&quot;top&quot;:140,&quot;width&quot;:310}"/>
</p:tagLst>
</file>

<file path=ppt/tags/tag20.xml><?xml version="1.0" encoding="utf-8"?>
<p:tagLst xmlns:p="http://schemas.openxmlformats.org/presentationml/2006/main">
  <p:tag name="KSO_WM_DIAGRAM_VIRTUALLY_FRAME" val="{&quot;height&quot;:310,&quot;left&quot;:370,&quot;top&quot;:140,&quot;width&quot;:310}"/>
</p:tagLst>
</file>

<file path=ppt/tags/tag21.xml><?xml version="1.0" encoding="utf-8"?>
<p:tagLst xmlns:p="http://schemas.openxmlformats.org/presentationml/2006/main">
  <p:tag name="KSO_WM_DIAGRAM_VIRTUALLY_FRAME" val="{&quot;height&quot;:310,&quot;left&quot;:370,&quot;top&quot;:140,&quot;width&quot;:310}"/>
</p:tagLst>
</file>

<file path=ppt/tags/tag22.xml><?xml version="1.0" encoding="utf-8"?>
<p:tagLst xmlns:p="http://schemas.openxmlformats.org/presentationml/2006/main">
  <p:tag name="KSO_WM_DIAGRAM_VIRTUALLY_FRAME" val="{&quot;height&quot;:310,&quot;left&quot;:370,&quot;top&quot;:140,&quot;width&quot;:310}"/>
</p:tagLst>
</file>

<file path=ppt/tags/tag23.xml><?xml version="1.0" encoding="utf-8"?>
<p:tagLst xmlns:p="http://schemas.openxmlformats.org/presentationml/2006/main">
  <p:tag name="KSO_WM_DIAGRAM_VIRTUALLY_FRAME" val="{&quot;height&quot;:310,&quot;left&quot;:370,&quot;top&quot;:140,&quot;width&quot;:310}"/>
</p:tagLst>
</file>

<file path=ppt/tags/tag24.xml><?xml version="1.0" encoding="utf-8"?>
<p:tagLst xmlns:p="http://schemas.openxmlformats.org/presentationml/2006/main">
  <p:tag name="KSO_WM_DIAGRAM_VIRTUALLY_FRAME" val="{&quot;height&quot;:310,&quot;left&quot;:370,&quot;top&quot;:140,&quot;width&quot;:310}"/>
</p:tagLst>
</file>

<file path=ppt/tags/tag25.xml><?xml version="1.0" encoding="utf-8"?>
<p:tagLst xmlns:p="http://schemas.openxmlformats.org/presentationml/2006/main">
  <p:tag name="KSO_WM_DIAGRAM_VIRTUALLY_FRAME" val="{&quot;height&quot;:310,&quot;left&quot;:370,&quot;top&quot;:140,&quot;width&quot;:310}"/>
</p:tagLst>
</file>

<file path=ppt/tags/tag26.xml><?xml version="1.0" encoding="utf-8"?>
<p:tagLst xmlns:p="http://schemas.openxmlformats.org/presentationml/2006/main">
  <p:tag name="KSO_WM_DIAGRAM_VIRTUALLY_FRAME" val="{&quot;height&quot;:310,&quot;left&quot;:370,&quot;top&quot;:140,&quot;width&quot;:310}"/>
</p:tagLst>
</file>

<file path=ppt/tags/tag27.xml><?xml version="1.0" encoding="utf-8"?>
<p:tagLst xmlns:p="http://schemas.openxmlformats.org/presentationml/2006/main">
  <p:tag name="KSO_WM_DIAGRAM_VIRTUALLY_FRAME" val="{&quot;height&quot;:310,&quot;left&quot;:370,&quot;top&quot;:140,&quot;width&quot;:310}"/>
</p:tagLst>
</file>

<file path=ppt/tags/tag28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29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30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31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32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33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34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35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36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37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38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39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40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41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42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43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44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45.xml><?xml version="1.0" encoding="utf-8"?>
<p:tagLst xmlns:p="http://schemas.openxmlformats.org/presentationml/2006/main">
  <p:tag name="KSO_WM_DIAGRAM_VIRTUALLY_FRAME" val="{&quot;height&quot;:310,&quot;left&quot;:350,&quot;top&quot;:120,&quot;width&quot;:560}"/>
</p:tagLst>
</file>

<file path=ppt/tags/tag46.xml><?xml version="1.0" encoding="utf-8"?>
<p:tagLst xmlns:p="http://schemas.openxmlformats.org/presentationml/2006/main">
  <p:tag name="KSO_WM_DIAGRAM_VIRTUALLY_FRAME" val="{&quot;height&quot;:546.05,&quot;left&quot;:143.05,&quot;top&quot;:0,&quot;width&quot;:420.55}"/>
</p:tagLst>
</file>

<file path=ppt/tags/tag47.xml><?xml version="1.0" encoding="utf-8"?>
<p:tagLst xmlns:p="http://schemas.openxmlformats.org/presentationml/2006/main">
  <p:tag name="KSO_WM_DIAGRAM_VIRTUALLY_FRAME" val="{&quot;height&quot;:546.05,&quot;left&quot;:143.05,&quot;top&quot;:0,&quot;width&quot;:420.55}"/>
</p:tagLst>
</file>

<file path=ppt/tags/tag48.xml><?xml version="1.0" encoding="utf-8"?>
<p:tagLst xmlns:p="http://schemas.openxmlformats.org/presentationml/2006/main">
  <p:tag name="KSO_WM_DIAGRAM_VIRTUALLY_FRAME" val="{&quot;height&quot;:546.05,&quot;left&quot;:143.05,&quot;top&quot;:0,&quot;width&quot;:420.55}"/>
</p:tagLst>
</file>

<file path=ppt/tags/tag49.xml><?xml version="1.0" encoding="utf-8"?>
<p:tagLst xmlns:p="http://schemas.openxmlformats.org/presentationml/2006/main">
  <p:tag name="KSO_WM_DIAGRAM_VIRTUALLY_FRAME" val="{&quot;height&quot;:546.05,&quot;left&quot;:143.05,&quot;top&quot;:0,&quot;width&quot;:420.5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24673</Words>
  <Application>WPS 演示</Application>
  <PresentationFormat/>
  <Paragraphs>1668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3" baseType="lpstr">
      <vt:lpstr>Arial</vt:lpstr>
      <vt:lpstr>宋体</vt:lpstr>
      <vt:lpstr>Wingdings</vt:lpstr>
      <vt:lpstr>Arial</vt:lpstr>
      <vt:lpstr>Noto Sans SC</vt:lpstr>
      <vt:lpstr>FFont-Family</vt:lpstr>
      <vt:lpstr>Menlo</vt:lpstr>
      <vt:lpstr>Consolas</vt:lpstr>
      <vt:lpstr>微软雅黑</vt:lpstr>
      <vt:lpstr>Arial Unicode MS</vt:lpstr>
      <vt:lpstr>Saturday Sans Regular</vt:lpstr>
      <vt:lpstr>Stencil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嘿嘿嘿</cp:lastModifiedBy>
  <cp:revision>19</cp:revision>
  <dcterms:created xsi:type="dcterms:W3CDTF">2026-06-30T01:02:00Z</dcterms:created>
  <dcterms:modified xsi:type="dcterms:W3CDTF">2026-07-02T01:18:25Z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{"Label":"1","ContentProducer":"001191110102MACQD9K64010000","ProduceID":"7656987432526073045","ReservedCode1":"","ContentPropagator":"","PropagateID":"","ReservedCode2":""}</vt:lpwstr>
  </property>
  <property fmtid="{D5CDD505-2E9C-101B-9397-08002B2CF9AE}" pid="3" name="ICV">
    <vt:lpwstr>BE787948D4F54D3191E14C72E1B4E228_13</vt:lpwstr>
  </property>
  <property fmtid="{D5CDD505-2E9C-101B-9397-08002B2CF9AE}" pid="4" name="KSOProductBuildVer">
    <vt:lpwstr>2052-12.1.0.23542</vt:lpwstr>
  </property>
</Properties>
</file>