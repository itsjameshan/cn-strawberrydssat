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8288000" cy="10287000"/>
  <p:notesSz cx="6858000" cy="9144000"/>
  <p:embeddedFontLst>
    <p:embeddedFont>
      <p:font typeface="Calibri" panose="020F0502020204030204" charset="0"/>
      <p:regular r:id="rId33"/>
      <p:bold r:id="rId34"/>
      <p:italic r:id="rId35"/>
      <p:boldItalic r:id="rId36"/>
    </p:embeddedFont>
    <p:embeddedFont>
      <p:font typeface="黄煜臣江西拙楷体" panose="02010600040101010101" charset="-12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88041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500422" y="6530259"/>
            <a:ext cx="3287156" cy="576476"/>
            <a:chOff x="0" y="0"/>
            <a:chExt cx="865753" cy="1518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5753" cy="151829"/>
            </a:xfrm>
            <a:custGeom>
              <a:avLst/>
              <a:gdLst/>
              <a:ahLst/>
              <a:cxnLst/>
              <a:rect l="l" t="t" r="r" b="b"/>
              <a:pathLst>
                <a:path w="865753" h="151829">
                  <a:moveTo>
                    <a:pt x="75915" y="0"/>
                  </a:moveTo>
                  <a:lnTo>
                    <a:pt x="789838" y="0"/>
                  </a:lnTo>
                  <a:cubicBezTo>
                    <a:pt x="809972" y="0"/>
                    <a:pt x="829281" y="7998"/>
                    <a:pt x="843518" y="22235"/>
                  </a:cubicBezTo>
                  <a:cubicBezTo>
                    <a:pt x="857755" y="36472"/>
                    <a:pt x="865753" y="55781"/>
                    <a:pt x="865753" y="75915"/>
                  </a:cubicBezTo>
                  <a:lnTo>
                    <a:pt x="865753" y="75915"/>
                  </a:lnTo>
                  <a:cubicBezTo>
                    <a:pt x="865753" y="117841"/>
                    <a:pt x="831765" y="151829"/>
                    <a:pt x="789838" y="151829"/>
                  </a:cubicBezTo>
                  <a:lnTo>
                    <a:pt x="75915" y="151829"/>
                  </a:lnTo>
                  <a:cubicBezTo>
                    <a:pt x="55781" y="151829"/>
                    <a:pt x="36472" y="143831"/>
                    <a:pt x="22235" y="129594"/>
                  </a:cubicBezTo>
                  <a:cubicBezTo>
                    <a:pt x="7998" y="115358"/>
                    <a:pt x="0" y="96048"/>
                    <a:pt x="0" y="75915"/>
                  </a:cubicBezTo>
                  <a:lnTo>
                    <a:pt x="0" y="75915"/>
                  </a:lnTo>
                  <a:cubicBezTo>
                    <a:pt x="0" y="55781"/>
                    <a:pt x="7998" y="36472"/>
                    <a:pt x="22235" y="22235"/>
                  </a:cubicBezTo>
                  <a:cubicBezTo>
                    <a:pt x="36472" y="7998"/>
                    <a:pt x="55781" y="0"/>
                    <a:pt x="75915" y="0"/>
                  </a:cubicBezTo>
                  <a:close/>
                </a:path>
              </a:pathLst>
            </a:custGeom>
            <a:solidFill>
              <a:srgbClr val="A1A4A7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5753" cy="199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14841" y="3563502"/>
            <a:ext cx="10858318" cy="1733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0"/>
              </a:lnSpc>
            </a:pPr>
            <a:r>
              <a:rPr lang="en-US" sz="106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科研B组总结汇报</a:t>
            </a:r>
            <a:endParaRPr lang="en-US" sz="106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7" name="Freeform 7"/>
          <p:cNvSpPr/>
          <p:nvPr/>
        </p:nvSpPr>
        <p:spPr>
          <a:xfrm rot="-9000254">
            <a:off x="-4032743" y="5335897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60" y="0"/>
                </a:lnTo>
                <a:lnTo>
                  <a:pt x="8335260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2276829">
            <a:off x="13543722" y="-3951270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103652">
            <a:off x="-3281716" y="-5965096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2" y="0"/>
                </a:lnTo>
                <a:lnTo>
                  <a:pt x="9026362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6296295" y="9556659"/>
            <a:ext cx="5695410" cy="2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500" spc="12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WORK SUMMARY</a:t>
            </a:r>
            <a:endParaRPr lang="en-US" sz="1500" spc="12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010217" y="6611706"/>
            <a:ext cx="2267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490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主讲人：隋建炜</a:t>
            </a:r>
            <a:endParaRPr lang="en-US" sz="2490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</p:txBody>
      </p:sp>
      <p:sp>
        <p:nvSpPr>
          <p:cNvPr id="12" name="Freeform 12"/>
          <p:cNvSpPr/>
          <p:nvPr/>
        </p:nvSpPr>
        <p:spPr>
          <a:xfrm rot="-103652">
            <a:off x="13905973" y="6745658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66881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62709">
            <a:off x="14120370" y="6434000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60" y="0"/>
                </a:lnTo>
                <a:lnTo>
                  <a:pt x="8335260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4916992" y="4535452"/>
            <a:ext cx="370466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59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Contents</a:t>
            </a:r>
            <a:endParaRPr lang="en-US" sz="59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86737" y="4186166"/>
            <a:ext cx="298265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40"/>
              </a:lnSpc>
            </a:pPr>
            <a:r>
              <a:rPr lang="en-US" sz="97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目录</a:t>
            </a:r>
            <a:endParaRPr lang="en-US" sz="97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723528" y="2000605"/>
            <a:ext cx="3901893" cy="6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56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Python组</a:t>
            </a:r>
            <a:endParaRPr lang="en-US" sz="456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229725" y="1889761"/>
            <a:ext cx="108503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0"/>
              </a:lnSpc>
            </a:pPr>
            <a:r>
              <a:rPr lang="en-US" sz="7300" b="1">
                <a:solidFill>
                  <a:srgbClr val="595B65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7300" b="1">
              <a:solidFill>
                <a:srgbClr val="595B65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23528" y="3731440"/>
            <a:ext cx="3901893" cy="6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56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GitHub组</a:t>
            </a:r>
            <a:endParaRPr lang="en-US" sz="456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29725" y="3621259"/>
            <a:ext cx="108503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0"/>
              </a:lnSpc>
            </a:pPr>
            <a:r>
              <a:rPr lang="en-US" sz="7300" b="1">
                <a:solidFill>
                  <a:srgbClr val="373737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7300" b="1">
              <a:solidFill>
                <a:srgbClr val="373737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23528" y="5462939"/>
            <a:ext cx="3901893" cy="6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56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Docker组</a:t>
            </a:r>
            <a:endParaRPr lang="en-US" sz="456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229725" y="5353421"/>
            <a:ext cx="108503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0"/>
              </a:lnSpc>
            </a:pPr>
            <a:r>
              <a:rPr lang="en-US" sz="7300" b="1">
                <a:solidFill>
                  <a:srgbClr val="595B65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7300" b="1">
              <a:solidFill>
                <a:srgbClr val="595B65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23528" y="7195100"/>
            <a:ext cx="3901893" cy="69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456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问题及优化</a:t>
            </a:r>
            <a:endParaRPr lang="en-US" sz="456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29725" y="7086245"/>
            <a:ext cx="108503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0"/>
              </a:lnSpc>
            </a:pPr>
            <a:r>
              <a:rPr lang="en-US" sz="7300" b="1">
                <a:solidFill>
                  <a:srgbClr val="373737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7300" b="1">
              <a:solidFill>
                <a:srgbClr val="373737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4" name="Freeform 14"/>
          <p:cNvSpPr/>
          <p:nvPr/>
        </p:nvSpPr>
        <p:spPr>
          <a:xfrm rot="-1663874">
            <a:off x="-3540303" y="-4857263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60" y="0"/>
                </a:lnTo>
                <a:lnTo>
                  <a:pt x="8335260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-10130039">
            <a:off x="-1924043" y="6398187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60" y="0"/>
                </a:lnTo>
                <a:lnTo>
                  <a:pt x="8335260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-10130039">
            <a:off x="16985774" y="-751326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038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831916">
            <a:off x="-3527356" y="5386655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276829">
            <a:off x="13197109" y="-4466801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00239">
            <a:off x="-3506565" y="-498293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9618525">
            <a:off x="12600065" y="620394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842388" y="2182249"/>
            <a:ext cx="260322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90"/>
              </a:lnSpc>
            </a:pPr>
            <a:r>
              <a:rPr lang="en-US" sz="16075" b="1">
                <a:solidFill>
                  <a:srgbClr val="1E1E1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16075" b="1">
              <a:solidFill>
                <a:srgbClr val="1E1E1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04931" y="4446104"/>
            <a:ext cx="9878138" cy="150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5"/>
              </a:lnSpc>
            </a:pPr>
            <a:r>
              <a:rPr lang="en-US" sz="916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Python组</a:t>
            </a:r>
            <a:endParaRPr lang="en-US" sz="916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34473" y="6562629"/>
            <a:ext cx="3619054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刘会仙、杨志素、罗晓羽、冯桂婷</a:t>
            </a:r>
            <a:endParaRPr lang="en-US" sz="19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8414">
            <a:off x="-3889010" y="5347627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61287">
            <a:off x="15315694" y="7575260"/>
            <a:ext cx="5944611" cy="6099644"/>
          </a:xfrm>
          <a:custGeom>
            <a:avLst/>
            <a:gdLst/>
            <a:ahLst/>
            <a:cxnLst/>
            <a:rect l="l" t="t" r="r" b="b"/>
            <a:pathLst>
              <a:path w="5944611" h="6099644">
                <a:moveTo>
                  <a:pt x="0" y="0"/>
                </a:moveTo>
                <a:lnTo>
                  <a:pt x="5944612" y="0"/>
                </a:lnTo>
                <a:lnTo>
                  <a:pt x="5944612" y="6099643"/>
                </a:lnTo>
                <a:lnTo>
                  <a:pt x="0" y="6099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663874">
            <a:off x="-2319367" y="-2738164"/>
            <a:ext cx="5337138" cy="5476328"/>
          </a:xfrm>
          <a:custGeom>
            <a:avLst/>
            <a:gdLst/>
            <a:ahLst/>
            <a:cxnLst/>
            <a:rect l="l" t="t" r="r" b="b"/>
            <a:pathLst>
              <a:path w="5337138" h="5476328">
                <a:moveTo>
                  <a:pt x="0" y="0"/>
                </a:moveTo>
                <a:lnTo>
                  <a:pt x="5337138" y="0"/>
                </a:lnTo>
                <a:lnTo>
                  <a:pt x="5337138" y="5476328"/>
                </a:lnTo>
                <a:lnTo>
                  <a:pt x="0" y="5476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6437824" y="1436261"/>
            <a:ext cx="5802068" cy="86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5"/>
              </a:lnSpc>
            </a:pPr>
            <a:r>
              <a:rPr lang="en-US" sz="567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python组</a:t>
            </a:r>
            <a:endParaRPr lang="en-US" sz="567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6" name="Freeform 6"/>
          <p:cNvSpPr/>
          <p:nvPr/>
        </p:nvSpPr>
        <p:spPr>
          <a:xfrm rot="9891695">
            <a:off x="12836690" y="-4813850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4151153"/>
            <a:ext cx="16825529" cy="296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505" lvl="1" indent="-30607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2830">
                <a:solidFill>
                  <a:srgbClr val="26262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负责开发自研Python草莓作物模型并输出原始模拟数据</a:t>
            </a:r>
            <a:endParaRPr lang="en-US" sz="2830">
              <a:solidFill>
                <a:srgbClr val="26262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611505" lvl="1" indent="-30607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2830">
                <a:solidFill>
                  <a:srgbClr val="26262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承接两套模型原始数据完成清洗、时序与指标对齐、交叉差异分析并产出标准化数据表</a:t>
            </a:r>
            <a:endParaRPr lang="en-US" sz="2830">
              <a:solidFill>
                <a:srgbClr val="26262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611505" lvl="1" indent="-30607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2830">
                <a:solidFill>
                  <a:srgbClr val="26262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依托标准化数据用Matplotlib复刻DSSAT专业图表样式、封装可复用绘图函数生成各类对比可视化图表</a:t>
            </a:r>
            <a:endParaRPr lang="en-US" sz="2830">
              <a:solidFill>
                <a:srgbClr val="26262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611505" lvl="1" indent="-30607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2830">
                <a:solidFill>
                  <a:srgbClr val="26262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形成从模型算法、数据处理到可视化展示的完整上下游工作链路，共同完成自研模型与DSSAT模型的对标验证工作。</a:t>
            </a:r>
            <a:endParaRPr lang="en-US" sz="2830">
              <a:solidFill>
                <a:srgbClr val="26262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8414">
            <a:off x="-4794117" y="6578231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8"/>
                </a:lnTo>
                <a:lnTo>
                  <a:pt x="0" y="105549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61287">
            <a:off x="15853378" y="7099983"/>
            <a:ext cx="5944611" cy="6099644"/>
          </a:xfrm>
          <a:custGeom>
            <a:avLst/>
            <a:gdLst/>
            <a:ahLst/>
            <a:cxnLst/>
            <a:rect l="l" t="t" r="r" b="b"/>
            <a:pathLst>
              <a:path w="5944611" h="6099644">
                <a:moveTo>
                  <a:pt x="0" y="0"/>
                </a:moveTo>
                <a:lnTo>
                  <a:pt x="5944611" y="0"/>
                </a:lnTo>
                <a:lnTo>
                  <a:pt x="5944611" y="6099644"/>
                </a:lnTo>
                <a:lnTo>
                  <a:pt x="0" y="609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663874">
            <a:off x="-2319367" y="-2738164"/>
            <a:ext cx="5337138" cy="5476328"/>
          </a:xfrm>
          <a:custGeom>
            <a:avLst/>
            <a:gdLst/>
            <a:ahLst/>
            <a:cxnLst/>
            <a:rect l="l" t="t" r="r" b="b"/>
            <a:pathLst>
              <a:path w="5337138" h="5476328">
                <a:moveTo>
                  <a:pt x="0" y="0"/>
                </a:moveTo>
                <a:lnTo>
                  <a:pt x="5337138" y="0"/>
                </a:lnTo>
                <a:lnTo>
                  <a:pt x="5337138" y="5476328"/>
                </a:lnTo>
                <a:lnTo>
                  <a:pt x="0" y="5476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891695">
            <a:off x="12836690" y="-4813850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485830" y="1975341"/>
            <a:ext cx="4428608" cy="2735321"/>
            <a:chOff x="0" y="0"/>
            <a:chExt cx="5784527" cy="35728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84527" cy="3572864"/>
            </a:xfrm>
            <a:custGeom>
              <a:avLst/>
              <a:gdLst/>
              <a:ahLst/>
              <a:cxnLst/>
              <a:rect l="l" t="t" r="r" b="b"/>
              <a:pathLst>
                <a:path w="5784527" h="3572864">
                  <a:moveTo>
                    <a:pt x="0" y="0"/>
                  </a:moveTo>
                  <a:lnTo>
                    <a:pt x="5784527" y="0"/>
                  </a:lnTo>
                  <a:lnTo>
                    <a:pt x="5784527" y="3572864"/>
                  </a:lnTo>
                  <a:lnTo>
                    <a:pt x="0" y="3572864"/>
                  </a:lnTo>
                </a:path>
              </a:pathLst>
            </a:custGeom>
            <a:blipFill>
              <a:blip r:embed="rId5"/>
              <a:stretch>
                <a:fillRect t="-2820" b="-282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468770" y="5149209"/>
            <a:ext cx="4428608" cy="792056"/>
            <a:chOff x="0" y="0"/>
            <a:chExt cx="1166382" cy="2086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6382" cy="208607"/>
            </a:xfrm>
            <a:custGeom>
              <a:avLst/>
              <a:gdLst/>
              <a:ahLst/>
              <a:cxnLst/>
              <a:rect l="l" t="t" r="r" b="b"/>
              <a:pathLst>
                <a:path w="1166382" h="208607">
                  <a:moveTo>
                    <a:pt x="0" y="0"/>
                  </a:moveTo>
                  <a:lnTo>
                    <a:pt x="1166382" y="0"/>
                  </a:lnTo>
                  <a:lnTo>
                    <a:pt x="1166382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166382" cy="237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6929696" y="1975341"/>
            <a:ext cx="4428608" cy="2735321"/>
            <a:chOff x="0" y="0"/>
            <a:chExt cx="5784527" cy="3572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84527" cy="3572864"/>
            </a:xfrm>
            <a:custGeom>
              <a:avLst/>
              <a:gdLst/>
              <a:ahLst/>
              <a:cxnLst/>
              <a:rect l="l" t="t" r="r" b="b"/>
              <a:pathLst>
                <a:path w="5784527" h="3572864">
                  <a:moveTo>
                    <a:pt x="0" y="0"/>
                  </a:moveTo>
                  <a:lnTo>
                    <a:pt x="5784527" y="0"/>
                  </a:lnTo>
                  <a:lnTo>
                    <a:pt x="5784527" y="3572864"/>
                  </a:lnTo>
                  <a:lnTo>
                    <a:pt x="0" y="3572864"/>
                  </a:lnTo>
                </a:path>
              </a:pathLst>
            </a:custGeom>
            <a:blipFill>
              <a:blip r:embed="rId6"/>
              <a:stretch>
                <a:fillRect t="-14592" b="-1459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6929696" y="5149209"/>
            <a:ext cx="4428608" cy="792056"/>
            <a:chOff x="0" y="0"/>
            <a:chExt cx="1166382" cy="2086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6382" cy="208607"/>
            </a:xfrm>
            <a:custGeom>
              <a:avLst/>
              <a:gdLst/>
              <a:ahLst/>
              <a:cxnLst/>
              <a:rect l="l" t="t" r="r" b="b"/>
              <a:pathLst>
                <a:path w="1166382" h="208607">
                  <a:moveTo>
                    <a:pt x="0" y="0"/>
                  </a:moveTo>
                  <a:lnTo>
                    <a:pt x="1166382" y="0"/>
                  </a:lnTo>
                  <a:lnTo>
                    <a:pt x="1166382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37373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166382" cy="237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975060" y="5941265"/>
            <a:ext cx="337879" cy="210317"/>
            <a:chOff x="0" y="0"/>
            <a:chExt cx="812800" cy="5059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505938"/>
            </a:xfrm>
            <a:custGeom>
              <a:avLst/>
              <a:gdLst/>
              <a:ahLst/>
              <a:cxnLst/>
              <a:rect l="l" t="t" r="r" b="b"/>
              <a:pathLst>
                <a:path w="812800" h="505938">
                  <a:moveTo>
                    <a:pt x="406400" y="505938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05938"/>
                  </a:lnTo>
                  <a:close/>
                </a:path>
              </a:pathLst>
            </a:custGeom>
            <a:solidFill>
              <a:srgbClr val="37373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7563"/>
              <a:ext cx="558800" cy="26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2377479" y="1975341"/>
            <a:ext cx="4428608" cy="2735321"/>
            <a:chOff x="0" y="0"/>
            <a:chExt cx="5784527" cy="35728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84527" cy="3572864"/>
            </a:xfrm>
            <a:custGeom>
              <a:avLst/>
              <a:gdLst/>
              <a:ahLst/>
              <a:cxnLst/>
              <a:rect l="l" t="t" r="r" b="b"/>
              <a:pathLst>
                <a:path w="5784527" h="3572864">
                  <a:moveTo>
                    <a:pt x="0" y="0"/>
                  </a:moveTo>
                  <a:lnTo>
                    <a:pt x="5784527" y="0"/>
                  </a:lnTo>
                  <a:lnTo>
                    <a:pt x="5784527" y="3572864"/>
                  </a:lnTo>
                  <a:lnTo>
                    <a:pt x="0" y="3572864"/>
                  </a:lnTo>
                </a:path>
              </a:pathLst>
            </a:custGeom>
            <a:blipFill>
              <a:blip r:embed="rId7"/>
              <a:stretch>
                <a:fillRect t="-391" b="-39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12373562" y="5149209"/>
            <a:ext cx="4428608" cy="792056"/>
            <a:chOff x="0" y="0"/>
            <a:chExt cx="1166382" cy="2086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6382" cy="208607"/>
            </a:xfrm>
            <a:custGeom>
              <a:avLst/>
              <a:gdLst/>
              <a:ahLst/>
              <a:cxnLst/>
              <a:rect l="l" t="t" r="r" b="b"/>
              <a:pathLst>
                <a:path w="1166382" h="208607">
                  <a:moveTo>
                    <a:pt x="0" y="0"/>
                  </a:moveTo>
                  <a:lnTo>
                    <a:pt x="1166382" y="0"/>
                  </a:lnTo>
                  <a:lnTo>
                    <a:pt x="1166382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166382" cy="237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14434879" y="5941265"/>
            <a:ext cx="337879" cy="210317"/>
            <a:chOff x="0" y="0"/>
            <a:chExt cx="812800" cy="5059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505938"/>
            </a:xfrm>
            <a:custGeom>
              <a:avLst/>
              <a:gdLst/>
              <a:ahLst/>
              <a:cxnLst/>
              <a:rect l="l" t="t" r="r" b="b"/>
              <a:pathLst>
                <a:path w="812800" h="505938">
                  <a:moveTo>
                    <a:pt x="406400" y="505938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05938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27000" y="7563"/>
              <a:ext cx="558800" cy="26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3531194" y="5941265"/>
            <a:ext cx="337879" cy="210317"/>
            <a:chOff x="0" y="0"/>
            <a:chExt cx="812800" cy="5059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505938"/>
            </a:xfrm>
            <a:custGeom>
              <a:avLst/>
              <a:gdLst/>
              <a:ahLst/>
              <a:cxnLst/>
              <a:rect l="l" t="t" r="r" b="b"/>
              <a:pathLst>
                <a:path w="812800" h="505938">
                  <a:moveTo>
                    <a:pt x="406400" y="505938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05938"/>
                  </a:lnTo>
                  <a:close/>
                </a:path>
              </a:pathLst>
            </a:custGeom>
            <a:solidFill>
              <a:srgbClr val="373737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7563"/>
              <a:ext cx="558800" cy="26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461263" y="628650"/>
            <a:ext cx="770335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29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python组工作内容概述</a:t>
            </a:r>
            <a:endParaRPr lang="en-US" sz="529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10382" y="5247295"/>
            <a:ext cx="2579503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存在问题</a:t>
            </a:r>
            <a:endParaRPr lang="en-US" sz="2800" b="1" u="none" strike="noStrike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85830" y="6091003"/>
            <a:ext cx="4428608" cy="396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DSSAT GUI 版数据尚未获取，仅能开展 Python 模型与 DSSAT Docker 版双向对比，生物量指标单位未核验无法计算有效差异率，LAI、根系深度等关键指标数值偏差幅度极大且未完成偏差溯源，两套模型物候期划分粒度不同难以直接横向对照，且仅有六个生物量皆存在于两套数据中。同时数据校验仍依赖人工、全流程自动化联动机制缺失，整套工具流程通用性不足。</a:t>
            </a:r>
            <a:endParaRPr lang="en-US" sz="17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</a:p>
          <a:p>
            <a:pPr algn="just">
              <a:lnSpc>
                <a:spcPts val="2855"/>
              </a:lnSpc>
            </a:pPr>
          </a:p>
        </p:txBody>
      </p:sp>
      <p:sp>
        <p:nvSpPr>
          <p:cNvPr id="33" name="TextBox 33"/>
          <p:cNvSpPr txBox="1"/>
          <p:nvPr/>
        </p:nvSpPr>
        <p:spPr>
          <a:xfrm>
            <a:off x="7854248" y="5247295"/>
            <a:ext cx="2579503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所获成果</a:t>
            </a:r>
            <a:endParaRPr lang="en-US" sz="2800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929696" y="6084907"/>
            <a:ext cx="4428608" cy="396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90"/>
              </a:lnSpc>
            </a:pPr>
            <a:r>
              <a:rPr lang="en-US" sz="16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分工协作搭建起 “模型算法 - 数据处理 - 可视化展示” 完整工作链路：完成了 Python 草莓自研作物模型开发并输出全套原始模拟数据； Python 模型与 DSSAT Docker 版异构数据清洗、时序与指标三重对齐，搭建逐日、最终指标、物候期三类标准化对比数据表，配套自动化校验脚本量化模型偏差；基于规整数据使用 Matplotlib 完整复刻 DSSAT 专业图表风格，封装多类型模块化绘图函数，一键生成趋势曲线、多面板综合图、差异率分析图、物候标记图等高清科研图表，整套体系实现自研模型与 DSSAT 标准模型全方位对标验证。</a:t>
            </a:r>
            <a:endParaRPr lang="en-US" sz="16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298115" y="5247295"/>
            <a:ext cx="2579503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工作亮点</a:t>
            </a:r>
            <a:endParaRPr lang="en-US" sz="2800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389515" y="6110053"/>
            <a:ext cx="4428608" cy="396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90"/>
              </a:lnSpc>
            </a:pPr>
            <a:r>
              <a:rPr lang="en-US" sz="16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体现在流程标准化与工具可复用两大方面：一是建立完整异构数据对齐规范，统一时序、字段、单位消除数据口径差异，分层数据表覆盖微观逐日动态、宏观产量、生育阶段多维度分析，精准量化 LAI、根系深度等关键指标偏差；二是搭建贴合 DSSAT 规范的标准化可视化工具库，通过全局样式统一、语义化配色、模块化绘图代码解决中文乱码、标记重叠、物候节点标注等绘图难点，同时算法、数据、可视化全环节均沉淀可复用代码、问题台账与操作流程，能快速迁移至其他作物模型对标工作，兼顾定性可视化展示与定量数值评估，让模型验证结论更严谨直观。</a:t>
            </a:r>
            <a:endParaRPr lang="en-US" sz="16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831916">
            <a:off x="-3527356" y="5386655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900239">
            <a:off x="-3506565" y="-498293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1055" y="4934893"/>
            <a:ext cx="10803244" cy="5352107"/>
          </a:xfrm>
          <a:custGeom>
            <a:avLst/>
            <a:gdLst/>
            <a:ahLst/>
            <a:cxnLst/>
            <a:rect l="l" t="t" r="r" b="b"/>
            <a:pathLst>
              <a:path w="10803244" h="5352107">
                <a:moveTo>
                  <a:pt x="0" y="0"/>
                </a:moveTo>
                <a:lnTo>
                  <a:pt x="10803244" y="0"/>
                </a:lnTo>
                <a:lnTo>
                  <a:pt x="10803244" y="5352107"/>
                </a:lnTo>
                <a:lnTo>
                  <a:pt x="0" y="5352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78498" y="691120"/>
            <a:ext cx="7409502" cy="8904760"/>
          </a:xfrm>
          <a:custGeom>
            <a:avLst/>
            <a:gdLst/>
            <a:ahLst/>
            <a:cxnLst/>
            <a:rect l="l" t="t" r="r" b="b"/>
            <a:pathLst>
              <a:path w="7409502" h="8904760">
                <a:moveTo>
                  <a:pt x="0" y="0"/>
                </a:moveTo>
                <a:lnTo>
                  <a:pt x="7409502" y="0"/>
                </a:lnTo>
                <a:lnTo>
                  <a:pt x="7409502" y="8904760"/>
                </a:lnTo>
                <a:lnTo>
                  <a:pt x="0" y="8904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154" y="522044"/>
            <a:ext cx="10701442" cy="3767799"/>
          </a:xfrm>
          <a:custGeom>
            <a:avLst/>
            <a:gdLst/>
            <a:ahLst/>
            <a:cxnLst/>
            <a:rect l="l" t="t" r="r" b="b"/>
            <a:pathLst>
              <a:path w="10701442" h="3767799">
                <a:moveTo>
                  <a:pt x="0" y="0"/>
                </a:moveTo>
                <a:lnTo>
                  <a:pt x="10701442" y="0"/>
                </a:lnTo>
                <a:lnTo>
                  <a:pt x="10701442" y="3767799"/>
                </a:lnTo>
                <a:lnTo>
                  <a:pt x="0" y="3767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6805905" y="4810685"/>
            <a:ext cx="467143" cy="538873"/>
            <a:chOff x="0" y="0"/>
            <a:chExt cx="621834" cy="7173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834" cy="717317"/>
            </a:xfrm>
            <a:custGeom>
              <a:avLst/>
              <a:gdLst/>
              <a:ahLst/>
              <a:cxnLst/>
              <a:rect l="l" t="t" r="r" b="b"/>
              <a:pathLst>
                <a:path w="621834" h="717317">
                  <a:moveTo>
                    <a:pt x="310917" y="717317"/>
                  </a:moveTo>
                  <a:lnTo>
                    <a:pt x="0" y="310917"/>
                  </a:lnTo>
                  <a:lnTo>
                    <a:pt x="203200" y="310917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310917"/>
                  </a:lnTo>
                  <a:lnTo>
                    <a:pt x="621834" y="310917"/>
                  </a:lnTo>
                  <a:lnTo>
                    <a:pt x="310917" y="71731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03200" y="-38100"/>
              <a:ext cx="215434" cy="653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1161512">
            <a:off x="2391533" y="3306322"/>
            <a:ext cx="383702" cy="442620"/>
            <a:chOff x="0" y="0"/>
            <a:chExt cx="621834" cy="7173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1834" cy="717317"/>
            </a:xfrm>
            <a:custGeom>
              <a:avLst/>
              <a:gdLst/>
              <a:ahLst/>
              <a:cxnLst/>
              <a:rect l="l" t="t" r="r" b="b"/>
              <a:pathLst>
                <a:path w="621834" h="717317">
                  <a:moveTo>
                    <a:pt x="310917" y="717317"/>
                  </a:moveTo>
                  <a:lnTo>
                    <a:pt x="0" y="310917"/>
                  </a:lnTo>
                  <a:lnTo>
                    <a:pt x="203200" y="310917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310917"/>
                  </a:lnTo>
                  <a:lnTo>
                    <a:pt x="621834" y="310917"/>
                  </a:lnTo>
                  <a:lnTo>
                    <a:pt x="310917" y="71731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203200" y="-38100"/>
              <a:ext cx="215434" cy="653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8919189">
            <a:off x="3577252" y="965026"/>
            <a:ext cx="297905" cy="343648"/>
            <a:chOff x="0" y="0"/>
            <a:chExt cx="621834" cy="7173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834" cy="717317"/>
            </a:xfrm>
            <a:custGeom>
              <a:avLst/>
              <a:gdLst/>
              <a:ahLst/>
              <a:cxnLst/>
              <a:rect l="l" t="t" r="r" b="b"/>
              <a:pathLst>
                <a:path w="621834" h="717317">
                  <a:moveTo>
                    <a:pt x="310917" y="717317"/>
                  </a:moveTo>
                  <a:lnTo>
                    <a:pt x="0" y="310917"/>
                  </a:lnTo>
                  <a:lnTo>
                    <a:pt x="203200" y="310917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310917"/>
                  </a:lnTo>
                  <a:lnTo>
                    <a:pt x="621834" y="310917"/>
                  </a:lnTo>
                  <a:lnTo>
                    <a:pt x="310917" y="71731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203200" y="-38100"/>
              <a:ext cx="215434" cy="653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52832" y="6979862"/>
            <a:ext cx="1959611" cy="1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  <a:spcBef>
                <a:spcPct val="0"/>
              </a:spcBef>
            </a:pPr>
            <a:r>
              <a:rPr lang="en-US" sz="82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收获指数 = 果实生物量 / 植株总地上生物量</a:t>
            </a:r>
            <a:endParaRPr lang="en-US" sz="82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 rot="-1989839">
            <a:off x="13922584" y="8622568"/>
            <a:ext cx="383702" cy="442620"/>
            <a:chOff x="0" y="0"/>
            <a:chExt cx="621834" cy="7173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834" cy="717317"/>
            </a:xfrm>
            <a:custGeom>
              <a:avLst/>
              <a:gdLst/>
              <a:ahLst/>
              <a:cxnLst/>
              <a:rect l="l" t="t" r="r" b="b"/>
              <a:pathLst>
                <a:path w="621834" h="717317">
                  <a:moveTo>
                    <a:pt x="310917" y="717317"/>
                  </a:moveTo>
                  <a:lnTo>
                    <a:pt x="0" y="310917"/>
                  </a:lnTo>
                  <a:lnTo>
                    <a:pt x="203200" y="310917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310917"/>
                  </a:lnTo>
                  <a:lnTo>
                    <a:pt x="621834" y="310917"/>
                  </a:lnTo>
                  <a:lnTo>
                    <a:pt x="310917" y="71731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203200" y="-38100"/>
              <a:ext cx="215434" cy="653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72504" y="4829810"/>
            <a:ext cx="133945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</a:t>
            </a:r>
            <a:endParaRPr lang="en-US" sz="19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535030" y="3423174"/>
            <a:ext cx="96707" cy="24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sz="137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</a:t>
            </a:r>
            <a:endParaRPr lang="en-US" sz="137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086032" y="8754231"/>
            <a:ext cx="109510" cy="223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3</a:t>
            </a:r>
            <a:endParaRPr lang="en-US" sz="13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99460"/>
            <a:ext cx="10223690" cy="3599591"/>
          </a:xfrm>
          <a:custGeom>
            <a:avLst/>
            <a:gdLst/>
            <a:ahLst/>
            <a:cxnLst/>
            <a:rect l="l" t="t" r="r" b="b"/>
            <a:pathLst>
              <a:path w="10223690" h="3599591">
                <a:moveTo>
                  <a:pt x="0" y="0"/>
                </a:moveTo>
                <a:lnTo>
                  <a:pt x="10223690" y="0"/>
                </a:lnTo>
                <a:lnTo>
                  <a:pt x="10223690" y="3599591"/>
                </a:lnTo>
                <a:lnTo>
                  <a:pt x="0" y="3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23690" y="0"/>
            <a:ext cx="8064310" cy="4998511"/>
          </a:xfrm>
          <a:custGeom>
            <a:avLst/>
            <a:gdLst/>
            <a:ahLst/>
            <a:cxnLst/>
            <a:rect l="l" t="t" r="r" b="b"/>
            <a:pathLst>
              <a:path w="8064310" h="4998511">
                <a:moveTo>
                  <a:pt x="0" y="0"/>
                </a:moveTo>
                <a:lnTo>
                  <a:pt x="8064310" y="0"/>
                </a:lnTo>
                <a:lnTo>
                  <a:pt x="8064310" y="4998511"/>
                </a:lnTo>
                <a:lnTo>
                  <a:pt x="0" y="499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23690" y="5143500"/>
            <a:ext cx="8064310" cy="4998511"/>
          </a:xfrm>
          <a:custGeom>
            <a:avLst/>
            <a:gdLst/>
            <a:ahLst/>
            <a:cxnLst/>
            <a:rect l="l" t="t" r="r" b="b"/>
            <a:pathLst>
              <a:path w="8064310" h="4998511">
                <a:moveTo>
                  <a:pt x="0" y="0"/>
                </a:moveTo>
                <a:lnTo>
                  <a:pt x="8064310" y="0"/>
                </a:lnTo>
                <a:lnTo>
                  <a:pt x="8064310" y="4998511"/>
                </a:lnTo>
                <a:lnTo>
                  <a:pt x="0" y="4998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7441581">
            <a:off x="15056259" y="5812517"/>
            <a:ext cx="392235" cy="399644"/>
            <a:chOff x="0" y="0"/>
            <a:chExt cx="621834" cy="6335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834" cy="633582"/>
            </a:xfrm>
            <a:custGeom>
              <a:avLst/>
              <a:gdLst/>
              <a:ahLst/>
              <a:cxnLst/>
              <a:rect l="l" t="t" r="r" b="b"/>
              <a:pathLst>
                <a:path w="621834" h="633582">
                  <a:moveTo>
                    <a:pt x="310917" y="633582"/>
                  </a:moveTo>
                  <a:lnTo>
                    <a:pt x="0" y="227182"/>
                  </a:lnTo>
                  <a:lnTo>
                    <a:pt x="203200" y="227182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227182"/>
                  </a:lnTo>
                  <a:lnTo>
                    <a:pt x="621834" y="227182"/>
                  </a:lnTo>
                  <a:lnTo>
                    <a:pt x="310917" y="63358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03200" y="-38100"/>
              <a:ext cx="215434" cy="570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64908" y="5491499"/>
            <a:ext cx="10093874" cy="4302514"/>
          </a:xfrm>
          <a:custGeom>
            <a:avLst/>
            <a:gdLst/>
            <a:ahLst/>
            <a:cxnLst/>
            <a:rect l="l" t="t" r="r" b="b"/>
            <a:pathLst>
              <a:path w="10093874" h="4302514">
                <a:moveTo>
                  <a:pt x="0" y="0"/>
                </a:moveTo>
                <a:lnTo>
                  <a:pt x="10093874" y="0"/>
                </a:lnTo>
                <a:lnTo>
                  <a:pt x="10093874" y="4302514"/>
                </a:lnTo>
                <a:lnTo>
                  <a:pt x="0" y="430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04411" y="5895645"/>
            <a:ext cx="295930" cy="275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64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4</a:t>
            </a:r>
            <a:endParaRPr lang="en-US" sz="164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302390" cy="5790738"/>
          </a:xfrm>
          <a:custGeom>
            <a:avLst/>
            <a:gdLst/>
            <a:ahLst/>
            <a:cxnLst/>
            <a:rect l="l" t="t" r="r" b="b"/>
            <a:pathLst>
              <a:path w="9302390" h="5790738">
                <a:moveTo>
                  <a:pt x="0" y="0"/>
                </a:moveTo>
                <a:lnTo>
                  <a:pt x="9302390" y="0"/>
                </a:lnTo>
                <a:lnTo>
                  <a:pt x="9302390" y="5790738"/>
                </a:lnTo>
                <a:lnTo>
                  <a:pt x="0" y="579073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34189" y="0"/>
            <a:ext cx="8953811" cy="5790738"/>
          </a:xfrm>
          <a:custGeom>
            <a:avLst/>
            <a:gdLst/>
            <a:ahLst/>
            <a:cxnLst/>
            <a:rect l="l" t="t" r="r" b="b"/>
            <a:pathLst>
              <a:path w="8953811" h="5790738">
                <a:moveTo>
                  <a:pt x="0" y="0"/>
                </a:moveTo>
                <a:lnTo>
                  <a:pt x="8953811" y="0"/>
                </a:lnTo>
                <a:lnTo>
                  <a:pt x="8953811" y="5790738"/>
                </a:lnTo>
                <a:lnTo>
                  <a:pt x="0" y="579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0" r="-217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28837" y="5790738"/>
            <a:ext cx="8329930" cy="4684708"/>
          </a:xfrm>
          <a:custGeom>
            <a:avLst/>
            <a:gdLst/>
            <a:ahLst/>
            <a:cxnLst/>
            <a:rect l="l" t="t" r="r" b="b"/>
            <a:pathLst>
              <a:path w="8329930" h="4684708">
                <a:moveTo>
                  <a:pt x="0" y="0"/>
                </a:moveTo>
                <a:lnTo>
                  <a:pt x="8329930" y="0"/>
                </a:lnTo>
                <a:lnTo>
                  <a:pt x="8329930" y="4684708"/>
                </a:lnTo>
                <a:lnTo>
                  <a:pt x="0" y="4684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964" r="-14825"/>
            </a:stretch>
          </a:blipFill>
        </p:spPr>
      </p:sp>
      <p:grpSp>
        <p:nvGrpSpPr>
          <p:cNvPr id="5" name="Group 5"/>
          <p:cNvGrpSpPr/>
          <p:nvPr/>
        </p:nvGrpSpPr>
        <p:grpSpPr>
          <a:xfrm rot="-7441581">
            <a:off x="4159659" y="7839437"/>
            <a:ext cx="392235" cy="399644"/>
            <a:chOff x="0" y="0"/>
            <a:chExt cx="621834" cy="6335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834" cy="633582"/>
            </a:xfrm>
            <a:custGeom>
              <a:avLst/>
              <a:gdLst/>
              <a:ahLst/>
              <a:cxnLst/>
              <a:rect l="l" t="t" r="r" b="b"/>
              <a:pathLst>
                <a:path w="621834" h="633582">
                  <a:moveTo>
                    <a:pt x="310917" y="633582"/>
                  </a:moveTo>
                  <a:lnTo>
                    <a:pt x="0" y="227182"/>
                  </a:lnTo>
                  <a:lnTo>
                    <a:pt x="203200" y="227182"/>
                  </a:lnTo>
                  <a:lnTo>
                    <a:pt x="203200" y="0"/>
                  </a:lnTo>
                  <a:lnTo>
                    <a:pt x="418634" y="0"/>
                  </a:lnTo>
                  <a:lnTo>
                    <a:pt x="418634" y="227182"/>
                  </a:lnTo>
                  <a:lnTo>
                    <a:pt x="621834" y="227182"/>
                  </a:lnTo>
                  <a:lnTo>
                    <a:pt x="310917" y="63358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03200" y="-38100"/>
              <a:ext cx="215434" cy="570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4415" y="7817406"/>
            <a:ext cx="182722" cy="396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0"/>
              </a:lnSpc>
              <a:spcBef>
                <a:spcPct val="0"/>
              </a:spcBef>
            </a:pPr>
            <a:r>
              <a:rPr lang="en-US" sz="2305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5</a:t>
            </a:r>
            <a:endParaRPr lang="en-US" sz="2305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038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831916">
            <a:off x="-3527356" y="5386655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276829">
            <a:off x="13197109" y="-4466801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00239">
            <a:off x="-3506565" y="-498293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9618525">
            <a:off x="12600065" y="620394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842388" y="2182249"/>
            <a:ext cx="260322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90"/>
              </a:lnSpc>
            </a:pPr>
            <a:r>
              <a:rPr lang="en-US" sz="16075" b="1">
                <a:solidFill>
                  <a:srgbClr val="1E1E1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16075" b="1">
              <a:solidFill>
                <a:srgbClr val="1E1E1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04931" y="4477660"/>
            <a:ext cx="9878138" cy="150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5"/>
              </a:lnSpc>
            </a:pPr>
            <a:r>
              <a:rPr lang="en-US" sz="916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GitHub组</a:t>
            </a:r>
            <a:endParaRPr lang="en-US" sz="916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17011" y="6277514"/>
            <a:ext cx="2653978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邓智予、王俊翔、宗广煜</a:t>
            </a:r>
            <a:endParaRPr lang="en-US" sz="19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8414">
            <a:off x="-3889010" y="5347627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61287">
            <a:off x="15315694" y="7575260"/>
            <a:ext cx="5944611" cy="6099644"/>
          </a:xfrm>
          <a:custGeom>
            <a:avLst/>
            <a:gdLst/>
            <a:ahLst/>
            <a:cxnLst/>
            <a:rect l="l" t="t" r="r" b="b"/>
            <a:pathLst>
              <a:path w="5944611" h="6099644">
                <a:moveTo>
                  <a:pt x="0" y="0"/>
                </a:moveTo>
                <a:lnTo>
                  <a:pt x="5944612" y="0"/>
                </a:lnTo>
                <a:lnTo>
                  <a:pt x="5944612" y="6099643"/>
                </a:lnTo>
                <a:lnTo>
                  <a:pt x="0" y="6099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663874">
            <a:off x="-2319367" y="-2738164"/>
            <a:ext cx="5337138" cy="5476328"/>
          </a:xfrm>
          <a:custGeom>
            <a:avLst/>
            <a:gdLst/>
            <a:ahLst/>
            <a:cxnLst/>
            <a:rect l="l" t="t" r="r" b="b"/>
            <a:pathLst>
              <a:path w="5337138" h="5476328">
                <a:moveTo>
                  <a:pt x="0" y="0"/>
                </a:moveTo>
                <a:lnTo>
                  <a:pt x="5337138" y="0"/>
                </a:lnTo>
                <a:lnTo>
                  <a:pt x="5337138" y="5476328"/>
                </a:lnTo>
                <a:lnTo>
                  <a:pt x="0" y="5476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891695">
            <a:off x="12836690" y="-4813850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9019066" y="2181733"/>
            <a:ext cx="8594309" cy="7654126"/>
            <a:chOff x="0" y="0"/>
            <a:chExt cx="2263522" cy="2015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3522" cy="2015902"/>
            </a:xfrm>
            <a:custGeom>
              <a:avLst/>
              <a:gdLst/>
              <a:ahLst/>
              <a:cxnLst/>
              <a:rect l="l" t="t" r="r" b="b"/>
              <a:pathLst>
                <a:path w="2263522" h="2015902">
                  <a:moveTo>
                    <a:pt x="0" y="0"/>
                  </a:moveTo>
                  <a:lnTo>
                    <a:pt x="2263522" y="0"/>
                  </a:lnTo>
                  <a:lnTo>
                    <a:pt x="2263522" y="2015902"/>
                  </a:lnTo>
                  <a:lnTo>
                    <a:pt x="0" y="2015902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263522" cy="2073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349202" y="2181733"/>
            <a:ext cx="8302476" cy="7654126"/>
          </a:xfrm>
          <a:custGeom>
            <a:avLst/>
            <a:gdLst/>
            <a:ahLst/>
            <a:cxnLst/>
            <a:rect l="l" t="t" r="r" b="b"/>
            <a:pathLst>
              <a:path w="8302476" h="7654126">
                <a:moveTo>
                  <a:pt x="0" y="0"/>
                </a:moveTo>
                <a:lnTo>
                  <a:pt x="8302476" y="0"/>
                </a:lnTo>
                <a:lnTo>
                  <a:pt x="8302476" y="7654126"/>
                </a:lnTo>
                <a:lnTo>
                  <a:pt x="0" y="765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437824" y="916936"/>
            <a:ext cx="541235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29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GitHub组</a:t>
            </a:r>
            <a:endParaRPr lang="en-US" sz="529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41599" y="2278115"/>
            <a:ext cx="7613793" cy="782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400" lvl="1" indent="-266700" algn="just">
              <a:lnSpc>
                <a:spcPts val="4150"/>
              </a:lnSpc>
              <a:buFont typeface="Arial" panose="020B0604020202020204"/>
              <a:buChar char="•"/>
            </a:pPr>
            <a:r>
              <a:rPr lang="en-US" sz="24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完整标准化协作体系：顶层目录归档规范 + Markdown 文档模板规范 + Git 标准化操作流程三重标准落地，覆盖文件、代码、图表、数据集全类型产出。</a:t>
            </a:r>
            <a:endParaRPr lang="en-US" sz="24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3400" lvl="1" indent="-266700" algn="just">
              <a:lnSpc>
                <a:spcPts val="4150"/>
              </a:lnSpc>
              <a:buFont typeface="Arial" panose="020B0604020202020204"/>
              <a:buChar char="•"/>
            </a:pPr>
            <a:r>
              <a:rPr lang="en-US" sz="24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教学与运维工具沉淀：产出 Git 教学指引、全套文档模板、归档规范、问题日志模板，形成可复用团队知识库。</a:t>
            </a:r>
            <a:endParaRPr lang="en-US" sz="24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3400" lvl="1" indent="-266700" algn="just">
              <a:lnSpc>
                <a:spcPts val="4150"/>
              </a:lnSpc>
              <a:buFont typeface="Arial" panose="020B0604020202020204"/>
              <a:buChar char="•"/>
            </a:pPr>
            <a:r>
              <a:rPr lang="en-US" sz="24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完整问题沉淀闭环：从故障收集、分类整理、方案记录、归档入库全链路打通，区分岗位问题、共性问题、跨组协同问题，方便组员快速自查排错。</a:t>
            </a:r>
            <a:endParaRPr lang="en-US" sz="24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3400" lvl="1" indent="-266700" algn="just">
              <a:lnSpc>
                <a:spcPts val="4150"/>
              </a:lnSpc>
              <a:buFont typeface="Arial" panose="020B0604020202020204"/>
              <a:buChar char="•"/>
            </a:pPr>
            <a:r>
              <a:rPr lang="en-US" sz="24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跨小组协同归档链路打通：对接 Python、Docker 两大业务小组，统一所有模型、数据、图表、文档的存放路径与命名规则，实现全项目成果统一托管。</a:t>
            </a:r>
            <a:endParaRPr lang="en-US" sz="24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4150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8414">
            <a:off x="-4504805" y="5932066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61287">
            <a:off x="15007704" y="6780423"/>
            <a:ext cx="5944611" cy="6099644"/>
          </a:xfrm>
          <a:custGeom>
            <a:avLst/>
            <a:gdLst/>
            <a:ahLst/>
            <a:cxnLst/>
            <a:rect l="l" t="t" r="r" b="b"/>
            <a:pathLst>
              <a:path w="5944611" h="6099644">
                <a:moveTo>
                  <a:pt x="0" y="0"/>
                </a:moveTo>
                <a:lnTo>
                  <a:pt x="5944611" y="0"/>
                </a:lnTo>
                <a:lnTo>
                  <a:pt x="5944611" y="6099644"/>
                </a:lnTo>
                <a:lnTo>
                  <a:pt x="0" y="609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663874">
            <a:off x="-2319367" y="-2738164"/>
            <a:ext cx="5337138" cy="5476328"/>
          </a:xfrm>
          <a:custGeom>
            <a:avLst/>
            <a:gdLst/>
            <a:ahLst/>
            <a:cxnLst/>
            <a:rect l="l" t="t" r="r" b="b"/>
            <a:pathLst>
              <a:path w="5337138" h="5476328">
                <a:moveTo>
                  <a:pt x="0" y="0"/>
                </a:moveTo>
                <a:lnTo>
                  <a:pt x="5337138" y="0"/>
                </a:lnTo>
                <a:lnTo>
                  <a:pt x="5337138" y="5476328"/>
                </a:lnTo>
                <a:lnTo>
                  <a:pt x="0" y="5476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970273" y="1028700"/>
            <a:ext cx="6347455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29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GitHub组所遇问题</a:t>
            </a:r>
            <a:endParaRPr lang="en-US" sz="529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6" name="Freeform 6"/>
          <p:cNvSpPr/>
          <p:nvPr/>
        </p:nvSpPr>
        <p:spPr>
          <a:xfrm rot="9891695">
            <a:off x="13049908" y="-5277454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8"/>
                </a:lnTo>
                <a:lnTo>
                  <a:pt x="0" y="105549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5323" y="3551110"/>
            <a:ext cx="16356405" cy="475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无标准化问题收集模板</a:t>
            </a: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，组员上报故障仅简单描述，缺少完整报错、操作步骤、设备环境信息，后期大量补全素材，沟通成本高。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复制仓库 URL 易附带隐形空格、转义符号，导致 URL 解析失败，故障场景难以复现，缺少完整报错案例支撑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Git 提交流程操作不规范，修改文档后未执行git add暂存，直接 push 引发推送失败。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初期汇总文档结构混乱，未按岗位区分问题，各类故障混排，无清晰查阅逻辑。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跨组信息同步不及时，Docker 组归档卡点无法第一时间记录，缺少协同类故障素材。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43560" lvl="1" indent="-271780" algn="just">
              <a:lnSpc>
                <a:spcPts val="42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实训首日环境、协作多重问题：教室电脑无法访问 GitHub；切换分支出现文件丢失、冲突；PR 合并流程不熟练；组长变更后任务传达滞后，工作推进紧张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038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831916">
            <a:off x="-3527356" y="5386655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276829">
            <a:off x="13197109" y="-4466801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00239">
            <a:off x="-3506565" y="-498293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9618525">
            <a:off x="12600065" y="620394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842388" y="2182249"/>
            <a:ext cx="260322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90"/>
              </a:lnSpc>
            </a:pPr>
            <a:r>
              <a:rPr lang="en-US" sz="16075" b="1">
                <a:solidFill>
                  <a:srgbClr val="1E1E1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16075" b="1">
              <a:solidFill>
                <a:srgbClr val="1E1E1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04931" y="4446104"/>
            <a:ext cx="9878138" cy="150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5"/>
              </a:lnSpc>
            </a:pPr>
            <a:r>
              <a:rPr lang="en-US" sz="916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Docker组</a:t>
            </a:r>
            <a:endParaRPr lang="en-US" sz="916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17011" y="6277514"/>
            <a:ext cx="2653978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陈文涛、王智强、浦仕柏</a:t>
            </a:r>
            <a:endParaRPr lang="en-US" sz="19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8414">
            <a:off x="-3889010" y="5347627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61287">
            <a:off x="15315694" y="7575260"/>
            <a:ext cx="5944611" cy="6099644"/>
          </a:xfrm>
          <a:custGeom>
            <a:avLst/>
            <a:gdLst/>
            <a:ahLst/>
            <a:cxnLst/>
            <a:rect l="l" t="t" r="r" b="b"/>
            <a:pathLst>
              <a:path w="5944611" h="6099644">
                <a:moveTo>
                  <a:pt x="0" y="0"/>
                </a:moveTo>
                <a:lnTo>
                  <a:pt x="5944612" y="0"/>
                </a:lnTo>
                <a:lnTo>
                  <a:pt x="5944612" y="6099643"/>
                </a:lnTo>
                <a:lnTo>
                  <a:pt x="0" y="6099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663874">
            <a:off x="-2319367" y="-2738164"/>
            <a:ext cx="5337138" cy="5476328"/>
          </a:xfrm>
          <a:custGeom>
            <a:avLst/>
            <a:gdLst/>
            <a:ahLst/>
            <a:cxnLst/>
            <a:rect l="l" t="t" r="r" b="b"/>
            <a:pathLst>
              <a:path w="5337138" h="5476328">
                <a:moveTo>
                  <a:pt x="0" y="0"/>
                </a:moveTo>
                <a:lnTo>
                  <a:pt x="5337138" y="0"/>
                </a:lnTo>
                <a:lnTo>
                  <a:pt x="5337138" y="5476328"/>
                </a:lnTo>
                <a:lnTo>
                  <a:pt x="0" y="5476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891695">
            <a:off x="12836690" y="-4813850"/>
            <a:ext cx="10286638" cy="10554909"/>
          </a:xfrm>
          <a:custGeom>
            <a:avLst/>
            <a:gdLst/>
            <a:ahLst/>
            <a:cxnLst/>
            <a:rect l="l" t="t" r="r" b="b"/>
            <a:pathLst>
              <a:path w="10286638" h="10554909">
                <a:moveTo>
                  <a:pt x="0" y="0"/>
                </a:moveTo>
                <a:lnTo>
                  <a:pt x="10286638" y="0"/>
                </a:lnTo>
                <a:lnTo>
                  <a:pt x="10286638" y="10554909"/>
                </a:lnTo>
                <a:lnTo>
                  <a:pt x="0" y="105549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2015752"/>
            <a:ext cx="8594309" cy="7654126"/>
            <a:chOff x="0" y="0"/>
            <a:chExt cx="2263522" cy="2015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3522" cy="2015902"/>
            </a:xfrm>
            <a:custGeom>
              <a:avLst/>
              <a:gdLst/>
              <a:ahLst/>
              <a:cxnLst/>
              <a:rect l="l" t="t" r="r" b="b"/>
              <a:pathLst>
                <a:path w="2263522" h="2015902">
                  <a:moveTo>
                    <a:pt x="0" y="0"/>
                  </a:moveTo>
                  <a:lnTo>
                    <a:pt x="2263522" y="0"/>
                  </a:lnTo>
                  <a:lnTo>
                    <a:pt x="2263522" y="2015902"/>
                  </a:lnTo>
                  <a:lnTo>
                    <a:pt x="0" y="2015902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263522" cy="2073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30007" y="628650"/>
            <a:ext cx="6627985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29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Docker组工作概述</a:t>
            </a:r>
            <a:endParaRPr lang="en-US" sz="529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0" y="2502081"/>
            <a:ext cx="8240234" cy="702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just">
              <a:lnSpc>
                <a:spcPts val="4315"/>
              </a:lnSpc>
              <a:buFont typeface="Arial" panose="020B0604020202020204"/>
              <a:buChar char="•"/>
            </a:pPr>
            <a:r>
              <a:rPr lang="en-US" sz="25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DSSAT 标准化数据资产：产出一套合规完整的草莓基准数据集，配套分层文件结构图、UML 关联总图、数据流转流程图，统一全组数据规范。</a:t>
            </a:r>
            <a:endParaRPr lang="en-US" sz="25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54990" lvl="1" indent="-277495" algn="just">
              <a:lnSpc>
                <a:spcPts val="4315"/>
              </a:lnSpc>
              <a:buFont typeface="Arial" panose="020B0604020202020204"/>
              <a:buChar char="•"/>
            </a:pPr>
            <a:r>
              <a:rPr lang="en-US" sz="25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完整技术文档体系：包含环境部署指南、参数调试手册、模型验证报告、实训汇报 PPT、全组故障问题日志，全部归档至 Git 仓库。</a:t>
            </a:r>
            <a:endParaRPr lang="en-US" sz="25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54990" lvl="1" indent="-277495" algn="just">
              <a:lnSpc>
                <a:spcPts val="4315"/>
              </a:lnSpc>
              <a:buFont typeface="Arial" panose="020B0604020202020204"/>
              <a:buChar char="•"/>
            </a:pPr>
            <a:r>
              <a:rPr lang="en-US" sz="25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故障处理知识库：沉淀 WSL2、镜像、端口、文件权限、多格式文档兼容等各类问题标准化解决方案，形成可复用排错经验。</a:t>
            </a:r>
            <a:endParaRPr lang="en-US" sz="25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54990" lvl="1" indent="-277495" algn="just">
              <a:lnSpc>
                <a:spcPts val="4315"/>
              </a:lnSpc>
              <a:buFont typeface="Arial" panose="020B0604020202020204"/>
              <a:buChar char="•"/>
            </a:pPr>
            <a:r>
              <a:rPr lang="en-US" sz="2570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跨工具协同链路打通：实现 Docker 容器、DSSAT 模型、Python 数据解析、Trae CN 辅助工具联动，完成模型仿真、数据提取、图表生成全自动化流程。</a:t>
            </a:r>
            <a:endParaRPr lang="en-US" sz="257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4315"/>
              </a:lnSpc>
            </a:pPr>
          </a:p>
        </p:txBody>
      </p:sp>
      <p:grpSp>
        <p:nvGrpSpPr>
          <p:cNvPr id="11" name="Group 11"/>
          <p:cNvGrpSpPr/>
          <p:nvPr/>
        </p:nvGrpSpPr>
        <p:grpSpPr>
          <a:xfrm rot="0">
            <a:off x="9693691" y="2015752"/>
            <a:ext cx="8594309" cy="7654126"/>
            <a:chOff x="0" y="0"/>
            <a:chExt cx="2263522" cy="20159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3522" cy="2015902"/>
            </a:xfrm>
            <a:custGeom>
              <a:avLst/>
              <a:gdLst/>
              <a:ahLst/>
              <a:cxnLst/>
              <a:rect l="l" t="t" r="r" b="b"/>
              <a:pathLst>
                <a:path w="2263522" h="2015902">
                  <a:moveTo>
                    <a:pt x="0" y="0"/>
                  </a:moveTo>
                  <a:lnTo>
                    <a:pt x="2263522" y="0"/>
                  </a:lnTo>
                  <a:lnTo>
                    <a:pt x="2263522" y="2015902"/>
                  </a:lnTo>
                  <a:lnTo>
                    <a:pt x="0" y="2015902"/>
                  </a:lnTo>
                  <a:close/>
                </a:path>
              </a:pathLst>
            </a:custGeom>
            <a:solidFill>
              <a:srgbClr val="A1A4A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3522" cy="2073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73612" y="2511606"/>
            <a:ext cx="8034467" cy="412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130" lvl="1" indent="-266065" algn="just">
              <a:lnSpc>
                <a:spcPts val="414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465" u="none" strike="noStrike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底层 WSL2 环境缺失或版本过低</a:t>
            </a:r>
            <a:endParaRPr lang="en-US" sz="2465" u="none" strike="noStrike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2130" lvl="1" indent="-266065" algn="just">
              <a:lnSpc>
                <a:spcPts val="414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465" u="none" strike="noStrike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Docker Hub 镜像拉取网络卡顿、端口冲突、镜像依赖缺失、数据目录权限不足等容器环境故障频发；</a:t>
            </a:r>
            <a:endParaRPr lang="en-US" sz="2465" u="none" strike="noStrike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2130" lvl="1" indent="-266065" algn="just">
              <a:lnSpc>
                <a:spcPts val="414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465" u="none" strike="noStrike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DSSAT 相关文档无统一命名规范导致多版本混淆，关键参数文档归档不全，多格式文档合并出现乱码、多组实验运行易覆盖输出文件；</a:t>
            </a:r>
            <a:endParaRPr lang="en-US" sz="2465" u="none" strike="noStrike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32130" lvl="1" indent="-266065" algn="just">
              <a:lnSpc>
                <a:spcPts val="414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465" u="none" strike="noStrike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问题日志分类不够精细，前期未提前下发标准化配置指引，前期环境试错耗时久；</a:t>
            </a:r>
            <a:endParaRPr lang="en-US" sz="2465" u="none" strike="noStrike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4660" y="-223511"/>
            <a:ext cx="19330669" cy="10734022"/>
          </a:xfrm>
          <a:custGeom>
            <a:avLst/>
            <a:gdLst/>
            <a:ahLst/>
            <a:cxnLst/>
            <a:rect l="l" t="t" r="r" b="b"/>
            <a:pathLst>
              <a:path w="19330669" h="10734022">
                <a:moveTo>
                  <a:pt x="0" y="0"/>
                </a:moveTo>
                <a:lnTo>
                  <a:pt x="19330670" y="0"/>
                </a:lnTo>
                <a:lnTo>
                  <a:pt x="19330670" y="10734022"/>
                </a:lnTo>
                <a:lnTo>
                  <a:pt x="0" y="107340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14134" y="-40621"/>
            <a:ext cx="8459732" cy="10327621"/>
          </a:xfrm>
          <a:custGeom>
            <a:avLst/>
            <a:gdLst/>
            <a:ahLst/>
            <a:cxnLst/>
            <a:rect l="l" t="t" r="r" b="b"/>
            <a:pathLst>
              <a:path w="8459732" h="10327621">
                <a:moveTo>
                  <a:pt x="0" y="0"/>
                </a:moveTo>
                <a:lnTo>
                  <a:pt x="8459732" y="0"/>
                </a:lnTo>
                <a:lnTo>
                  <a:pt x="8459732" y="10327621"/>
                </a:lnTo>
                <a:lnTo>
                  <a:pt x="0" y="1032762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483" y="1325704"/>
            <a:ext cx="18316483" cy="7712186"/>
          </a:xfrm>
          <a:custGeom>
            <a:avLst/>
            <a:gdLst/>
            <a:ahLst/>
            <a:cxnLst/>
            <a:rect l="l" t="t" r="r" b="b"/>
            <a:pathLst>
              <a:path w="18316483" h="7712186">
                <a:moveTo>
                  <a:pt x="0" y="0"/>
                </a:moveTo>
                <a:lnTo>
                  <a:pt x="18316483" y="0"/>
                </a:lnTo>
                <a:lnTo>
                  <a:pt x="18316483" y="7712186"/>
                </a:lnTo>
                <a:lnTo>
                  <a:pt x="0" y="77121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1295" r="-12726"/>
            </a:stretch>
          </a:blipFill>
        </p:spPr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81" y="785786"/>
            <a:ext cx="18242639" cy="11181004"/>
          </a:xfrm>
          <a:custGeom>
            <a:avLst/>
            <a:gdLst/>
            <a:ahLst/>
            <a:cxnLst/>
            <a:rect l="l" t="t" r="r" b="b"/>
            <a:pathLst>
              <a:path w="18242639" h="11181004">
                <a:moveTo>
                  <a:pt x="0" y="0"/>
                </a:moveTo>
                <a:lnTo>
                  <a:pt x="18242638" y="0"/>
                </a:lnTo>
                <a:lnTo>
                  <a:pt x="18242638" y="11181005"/>
                </a:lnTo>
                <a:lnTo>
                  <a:pt x="0" y="1118100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338" r="-1338"/>
            </a:stretch>
          </a:blipFill>
        </p:spPr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1621"/>
            <a:ext cx="18513197" cy="9703757"/>
          </a:xfrm>
          <a:custGeom>
            <a:avLst/>
            <a:gdLst/>
            <a:ahLst/>
            <a:cxnLst/>
            <a:rect l="l" t="t" r="r" b="b"/>
            <a:pathLst>
              <a:path w="18513197" h="9703757">
                <a:moveTo>
                  <a:pt x="0" y="0"/>
                </a:moveTo>
                <a:lnTo>
                  <a:pt x="18513197" y="0"/>
                </a:lnTo>
                <a:lnTo>
                  <a:pt x="18513197" y="9703758"/>
                </a:lnTo>
                <a:lnTo>
                  <a:pt x="0" y="97037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65658" y="1055687"/>
            <a:ext cx="59558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基于output_detail.puml源文件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814" y="2088552"/>
            <a:ext cx="18375629" cy="6109897"/>
          </a:xfrm>
          <a:custGeom>
            <a:avLst/>
            <a:gdLst/>
            <a:ahLst/>
            <a:cxnLst/>
            <a:rect l="l" t="t" r="r" b="b"/>
            <a:pathLst>
              <a:path w="18375629" h="6109897">
                <a:moveTo>
                  <a:pt x="0" y="0"/>
                </a:moveTo>
                <a:lnTo>
                  <a:pt x="18375628" y="0"/>
                </a:lnTo>
                <a:lnTo>
                  <a:pt x="18375628" y="6109896"/>
                </a:lnTo>
                <a:lnTo>
                  <a:pt x="0" y="610989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481191" y="2031402"/>
            <a:ext cx="4520491" cy="52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7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基于full_flow.puml源文件</a:t>
            </a:r>
            <a:endParaRPr lang="en-US" sz="307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28700"/>
            <a:ext cx="18268969" cy="8525588"/>
          </a:xfrm>
          <a:custGeom>
            <a:avLst/>
            <a:gdLst/>
            <a:ahLst/>
            <a:cxnLst/>
            <a:rect l="l" t="t" r="r" b="b"/>
            <a:pathLst>
              <a:path w="18268969" h="8525588">
                <a:moveTo>
                  <a:pt x="0" y="0"/>
                </a:moveTo>
                <a:lnTo>
                  <a:pt x="18268969" y="0"/>
                </a:lnTo>
                <a:lnTo>
                  <a:pt x="18268969" y="8525588"/>
                </a:lnTo>
                <a:lnTo>
                  <a:pt x="0" y="85255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1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056632" y="1365227"/>
            <a:ext cx="516061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基于str_detail.puml源文件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0063" y="0"/>
            <a:ext cx="16047874" cy="10511357"/>
          </a:xfrm>
          <a:custGeom>
            <a:avLst/>
            <a:gdLst/>
            <a:ahLst/>
            <a:cxnLst/>
            <a:rect l="l" t="t" r="r" b="b"/>
            <a:pathLst>
              <a:path w="16047874" h="10511357">
                <a:moveTo>
                  <a:pt x="0" y="0"/>
                </a:moveTo>
                <a:lnTo>
                  <a:pt x="16047874" y="0"/>
                </a:lnTo>
                <a:lnTo>
                  <a:pt x="16047874" y="10511357"/>
                </a:lnTo>
                <a:lnTo>
                  <a:pt x="0" y="105113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94825" y="-66675"/>
            <a:ext cx="63663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基于config_detail.puml源文件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6270" y="-14588"/>
            <a:ext cx="15655459" cy="10301588"/>
          </a:xfrm>
          <a:custGeom>
            <a:avLst/>
            <a:gdLst/>
            <a:ahLst/>
            <a:cxnLst/>
            <a:rect l="l" t="t" r="r" b="b"/>
            <a:pathLst>
              <a:path w="15655459" h="10301588">
                <a:moveTo>
                  <a:pt x="0" y="0"/>
                </a:moveTo>
                <a:lnTo>
                  <a:pt x="15655460" y="0"/>
                </a:lnTo>
                <a:lnTo>
                  <a:pt x="15655460" y="10301588"/>
                </a:lnTo>
                <a:lnTo>
                  <a:pt x="0" y="103015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778122" y="705167"/>
            <a:ext cx="63663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基于weather_detail.puml源文件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1170" y="-154680"/>
            <a:ext cx="14288511" cy="10596359"/>
          </a:xfrm>
          <a:custGeom>
            <a:avLst/>
            <a:gdLst/>
            <a:ahLst/>
            <a:cxnLst/>
            <a:rect l="l" t="t" r="r" b="b"/>
            <a:pathLst>
              <a:path w="14288511" h="10596359">
                <a:moveTo>
                  <a:pt x="0" y="0"/>
                </a:moveTo>
                <a:lnTo>
                  <a:pt x="14288510" y="0"/>
                </a:lnTo>
                <a:lnTo>
                  <a:pt x="14288510" y="10596360"/>
                </a:lnTo>
                <a:lnTo>
                  <a:pt x="0" y="1059636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18404" y="-5647"/>
            <a:ext cx="63663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基于soil_detail.puml源文件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038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831916">
            <a:off x="-3527356" y="5386655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59" y="0"/>
                </a:lnTo>
                <a:lnTo>
                  <a:pt x="8335259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276829">
            <a:off x="13197109" y="-4466801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900239">
            <a:off x="-3506565" y="-498293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9618525">
            <a:off x="12600065" y="6203942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7842388" y="2182249"/>
            <a:ext cx="260322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90"/>
              </a:lnSpc>
            </a:pPr>
            <a:r>
              <a:rPr lang="en-US" sz="16075" b="1">
                <a:solidFill>
                  <a:srgbClr val="1E1E1E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16075" b="1">
              <a:solidFill>
                <a:srgbClr val="1E1E1E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04931" y="4446104"/>
            <a:ext cx="9878138" cy="150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95"/>
              </a:lnSpc>
              <a:spcBef>
                <a:spcPct val="0"/>
              </a:spcBef>
            </a:pPr>
            <a:r>
              <a:rPr lang="en-US" sz="9165" b="1" u="none" strike="noStrike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问题及优化</a:t>
            </a:r>
            <a:endParaRPr lang="en-US" sz="9165" b="1" u="none" strike="noStrike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485" y="1028700"/>
            <a:ext cx="7834652" cy="3680886"/>
          </a:xfrm>
          <a:custGeom>
            <a:avLst/>
            <a:gdLst/>
            <a:ahLst/>
            <a:cxnLst/>
            <a:rect l="l" t="t" r="r" b="b"/>
            <a:pathLst>
              <a:path w="7834652" h="3680886">
                <a:moveTo>
                  <a:pt x="0" y="0"/>
                </a:moveTo>
                <a:lnTo>
                  <a:pt x="7834652" y="0"/>
                </a:lnTo>
                <a:lnTo>
                  <a:pt x="7834652" y="3680886"/>
                </a:lnTo>
                <a:lnTo>
                  <a:pt x="0" y="36808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6007" b="-600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4485" y="6094849"/>
            <a:ext cx="7860069" cy="3163451"/>
          </a:xfrm>
          <a:custGeom>
            <a:avLst/>
            <a:gdLst/>
            <a:ahLst/>
            <a:cxnLst/>
            <a:rect l="l" t="t" r="r" b="b"/>
            <a:pathLst>
              <a:path w="7860069" h="3163451">
                <a:moveTo>
                  <a:pt x="0" y="0"/>
                </a:moveTo>
                <a:lnTo>
                  <a:pt x="7860069" y="0"/>
                </a:lnTo>
                <a:lnTo>
                  <a:pt x="7860069" y="3163451"/>
                </a:lnTo>
                <a:lnTo>
                  <a:pt x="0" y="316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37" b="-443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45475" y="1028700"/>
            <a:ext cx="7792560" cy="3386139"/>
          </a:xfrm>
          <a:custGeom>
            <a:avLst/>
            <a:gdLst/>
            <a:ahLst/>
            <a:cxnLst/>
            <a:rect l="l" t="t" r="r" b="b"/>
            <a:pathLst>
              <a:path w="7792560" h="3386139">
                <a:moveTo>
                  <a:pt x="0" y="0"/>
                </a:moveTo>
                <a:lnTo>
                  <a:pt x="7792561" y="0"/>
                </a:lnTo>
                <a:lnTo>
                  <a:pt x="7792561" y="3386139"/>
                </a:lnTo>
                <a:lnTo>
                  <a:pt x="0" y="3386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58" b="-475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63751" y="6094849"/>
            <a:ext cx="7674285" cy="3900199"/>
          </a:xfrm>
          <a:custGeom>
            <a:avLst/>
            <a:gdLst/>
            <a:ahLst/>
            <a:cxnLst/>
            <a:rect l="l" t="t" r="r" b="b"/>
            <a:pathLst>
              <a:path w="7674285" h="3900199">
                <a:moveTo>
                  <a:pt x="0" y="0"/>
                </a:moveTo>
                <a:lnTo>
                  <a:pt x="7674285" y="0"/>
                </a:lnTo>
                <a:lnTo>
                  <a:pt x="7674285" y="3900198"/>
                </a:lnTo>
                <a:lnTo>
                  <a:pt x="0" y="390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926" b="-492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6199" y="41441"/>
            <a:ext cx="2209726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一、环境部署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6199" y="5378689"/>
            <a:ext cx="2209726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二、数据标准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8766" y="5378689"/>
            <a:ext cx="1959694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四、git协同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63751" y="282232"/>
            <a:ext cx="2209726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三、图表绘制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5588" y="1028700"/>
            <a:ext cx="7699358" cy="3709854"/>
          </a:xfrm>
          <a:custGeom>
            <a:avLst/>
            <a:gdLst/>
            <a:ahLst/>
            <a:cxnLst/>
            <a:rect l="l" t="t" r="r" b="b"/>
            <a:pathLst>
              <a:path w="7699358" h="3709854">
                <a:moveTo>
                  <a:pt x="0" y="0"/>
                </a:moveTo>
                <a:lnTo>
                  <a:pt x="7699358" y="0"/>
                </a:lnTo>
                <a:lnTo>
                  <a:pt x="7699358" y="3709854"/>
                </a:lnTo>
                <a:lnTo>
                  <a:pt x="0" y="37098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780" b="-378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5588" y="6418707"/>
            <a:ext cx="7852133" cy="2839593"/>
          </a:xfrm>
          <a:custGeom>
            <a:avLst/>
            <a:gdLst/>
            <a:ahLst/>
            <a:cxnLst/>
            <a:rect l="l" t="t" r="r" b="b"/>
            <a:pathLst>
              <a:path w="7852133" h="2839593">
                <a:moveTo>
                  <a:pt x="0" y="0"/>
                </a:moveTo>
                <a:lnTo>
                  <a:pt x="7852133" y="0"/>
                </a:lnTo>
                <a:lnTo>
                  <a:pt x="7852133" y="2839593"/>
                </a:lnTo>
                <a:lnTo>
                  <a:pt x="0" y="2839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42" b="-6342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8909632" y="1316437"/>
            <a:ext cx="8594309" cy="7654126"/>
            <a:chOff x="0" y="0"/>
            <a:chExt cx="2263522" cy="20159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3522" cy="2015902"/>
            </a:xfrm>
            <a:custGeom>
              <a:avLst/>
              <a:gdLst/>
              <a:ahLst/>
              <a:cxnLst/>
              <a:rect l="l" t="t" r="r" b="b"/>
              <a:pathLst>
                <a:path w="2263522" h="2015902">
                  <a:moveTo>
                    <a:pt x="0" y="0"/>
                  </a:moveTo>
                  <a:lnTo>
                    <a:pt x="2263522" y="0"/>
                  </a:lnTo>
                  <a:lnTo>
                    <a:pt x="2263522" y="2015902"/>
                  </a:lnTo>
                  <a:lnTo>
                    <a:pt x="0" y="2015902"/>
                  </a:lnTo>
                  <a:close/>
                </a:path>
              </a:pathLst>
            </a:custGeom>
            <a:solidFill>
              <a:srgbClr val="B7B9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63522" cy="2073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05121" y="1778794"/>
            <a:ext cx="7403330" cy="6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</a:t>
            </a: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环境前置检查 ：每次实训前完成 Docker、Python、Git 环境验证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·数据标准统一 ：统一字段、单位、时间粒度、编码和精度，确保跨组数据可对齐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·图表规范固化 ：封装通用绘图函数，统一样式参数，减少人工调整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·Git 协同规范 ：维护分支命名、提交顺序、目录结构和文件命名规范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·成果分类归档 ：按数据、模型、代码、图表、文档、日志、总结分类存储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4230"/>
              </a:lnSpc>
              <a:spcBef>
                <a:spcPct val="0"/>
              </a:spcBef>
            </a:pPr>
            <a:r>
              <a:rPr lang="en-US" sz="2520" u="none" strike="noStrike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·日志沉淀转化 ：已解决问题转化为环境配置说明、数据处理规范和操作指南</a:t>
            </a:r>
            <a:endParaRPr lang="en-US" sz="2520" u="none" strike="noStrike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6199" y="41441"/>
            <a:ext cx="2209726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五、归档规范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6199" y="5519371"/>
            <a:ext cx="2209726" cy="56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六、问题记录</a:t>
            </a:r>
            <a:endParaRPr lang="en-US" sz="2900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12999" y="105533"/>
            <a:ext cx="2387575" cy="92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5"/>
              </a:lnSpc>
              <a:spcBef>
                <a:spcPct val="0"/>
              </a:spcBef>
            </a:pPr>
            <a:r>
              <a:rPr lang="en-US" sz="4700" b="1">
                <a:solidFill>
                  <a:srgbClr val="595B65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优化措施</a:t>
            </a:r>
            <a:endParaRPr lang="en-US" sz="4700" b="1">
              <a:solidFill>
                <a:srgbClr val="595B65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  <p:transition spd="slow">
    <p:cover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88041">
            <a:off x="3277746" y="-1347331"/>
            <a:ext cx="12651711" cy="12981661"/>
          </a:xfrm>
          <a:custGeom>
            <a:avLst/>
            <a:gdLst/>
            <a:ahLst/>
            <a:cxnLst/>
            <a:rect l="l" t="t" r="r" b="b"/>
            <a:pathLst>
              <a:path w="12651711" h="12981661">
                <a:moveTo>
                  <a:pt x="0" y="0"/>
                </a:moveTo>
                <a:lnTo>
                  <a:pt x="12651711" y="0"/>
                </a:lnTo>
                <a:lnTo>
                  <a:pt x="12651711" y="12981662"/>
                </a:lnTo>
                <a:lnTo>
                  <a:pt x="0" y="129816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500422" y="6530259"/>
            <a:ext cx="3287156" cy="576476"/>
            <a:chOff x="0" y="0"/>
            <a:chExt cx="865753" cy="1518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5753" cy="151829"/>
            </a:xfrm>
            <a:custGeom>
              <a:avLst/>
              <a:gdLst/>
              <a:ahLst/>
              <a:cxnLst/>
              <a:rect l="l" t="t" r="r" b="b"/>
              <a:pathLst>
                <a:path w="865753" h="151829">
                  <a:moveTo>
                    <a:pt x="75915" y="0"/>
                  </a:moveTo>
                  <a:lnTo>
                    <a:pt x="789838" y="0"/>
                  </a:lnTo>
                  <a:cubicBezTo>
                    <a:pt x="809972" y="0"/>
                    <a:pt x="829281" y="7998"/>
                    <a:pt x="843518" y="22235"/>
                  </a:cubicBezTo>
                  <a:cubicBezTo>
                    <a:pt x="857755" y="36472"/>
                    <a:pt x="865753" y="55781"/>
                    <a:pt x="865753" y="75915"/>
                  </a:cubicBezTo>
                  <a:lnTo>
                    <a:pt x="865753" y="75915"/>
                  </a:lnTo>
                  <a:cubicBezTo>
                    <a:pt x="865753" y="117841"/>
                    <a:pt x="831765" y="151829"/>
                    <a:pt x="789838" y="151829"/>
                  </a:cubicBezTo>
                  <a:lnTo>
                    <a:pt x="75915" y="151829"/>
                  </a:lnTo>
                  <a:cubicBezTo>
                    <a:pt x="55781" y="151829"/>
                    <a:pt x="36472" y="143831"/>
                    <a:pt x="22235" y="129594"/>
                  </a:cubicBezTo>
                  <a:cubicBezTo>
                    <a:pt x="7998" y="115358"/>
                    <a:pt x="0" y="96048"/>
                    <a:pt x="0" y="75915"/>
                  </a:cubicBezTo>
                  <a:lnTo>
                    <a:pt x="0" y="75915"/>
                  </a:lnTo>
                  <a:cubicBezTo>
                    <a:pt x="0" y="55781"/>
                    <a:pt x="7998" y="36472"/>
                    <a:pt x="22235" y="22235"/>
                  </a:cubicBezTo>
                  <a:cubicBezTo>
                    <a:pt x="36472" y="7998"/>
                    <a:pt x="55781" y="0"/>
                    <a:pt x="75915" y="0"/>
                  </a:cubicBezTo>
                  <a:close/>
                </a:path>
              </a:pathLst>
            </a:custGeom>
            <a:solidFill>
              <a:srgbClr val="A1A4A7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5753" cy="199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9000254">
            <a:off x="-4032743" y="5335897"/>
            <a:ext cx="8335260" cy="8552639"/>
          </a:xfrm>
          <a:custGeom>
            <a:avLst/>
            <a:gdLst/>
            <a:ahLst/>
            <a:cxnLst/>
            <a:rect l="l" t="t" r="r" b="b"/>
            <a:pathLst>
              <a:path w="8335260" h="8552639">
                <a:moveTo>
                  <a:pt x="0" y="0"/>
                </a:moveTo>
                <a:lnTo>
                  <a:pt x="8335260" y="0"/>
                </a:lnTo>
                <a:lnTo>
                  <a:pt x="8335260" y="8552639"/>
                </a:lnTo>
                <a:lnTo>
                  <a:pt x="0" y="855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2276829">
            <a:off x="13543722" y="-3951270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103652">
            <a:off x="-3281716" y="-5965096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2" y="0"/>
                </a:lnTo>
                <a:lnTo>
                  <a:pt x="9026362" y="9261764"/>
                </a:lnTo>
                <a:lnTo>
                  <a:pt x="0" y="926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8010217" y="6611706"/>
            <a:ext cx="22675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490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主讲人：隋建炜</a:t>
            </a:r>
            <a:endParaRPr lang="en-US" sz="2490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</p:txBody>
      </p:sp>
      <p:sp>
        <p:nvSpPr>
          <p:cNvPr id="10" name="Freeform 10"/>
          <p:cNvSpPr/>
          <p:nvPr/>
        </p:nvSpPr>
        <p:spPr>
          <a:xfrm rot="-103652">
            <a:off x="13905973" y="6745658"/>
            <a:ext cx="9026361" cy="9261764"/>
          </a:xfrm>
          <a:custGeom>
            <a:avLst/>
            <a:gdLst/>
            <a:ahLst/>
            <a:cxnLst/>
            <a:rect l="l" t="t" r="r" b="b"/>
            <a:pathLst>
              <a:path w="9026361" h="9261764">
                <a:moveTo>
                  <a:pt x="0" y="0"/>
                </a:moveTo>
                <a:lnTo>
                  <a:pt x="9026361" y="0"/>
                </a:lnTo>
                <a:lnTo>
                  <a:pt x="9026361" y="9261765"/>
                </a:lnTo>
                <a:lnTo>
                  <a:pt x="0" y="926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3714841" y="3924300"/>
            <a:ext cx="10858318" cy="121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7500">
                <a:solidFill>
                  <a:srgbClr val="1E1E1E"/>
                </a:solidFill>
                <a:latin typeface="黄煜臣江西拙楷体" panose="02010600040101010101" charset="-122"/>
                <a:ea typeface="黄煜臣江西拙楷体" panose="020106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恳请老师批评指正</a:t>
            </a:r>
            <a:endParaRPr lang="en-US" sz="7500">
              <a:solidFill>
                <a:srgbClr val="1E1E1E"/>
              </a:solidFill>
              <a:latin typeface="黄煜臣江西拙楷体" panose="02010600040101010101" charset="-122"/>
              <a:ea typeface="黄煜臣江西拙楷体" panose="02010600040101010101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2510</Words>
  <Application>WPS 演示</Application>
  <PresentationFormat>On-screen Show (4:3)</PresentationFormat>
  <Paragraphs>151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思源黑体 2 Bold</vt:lpstr>
      <vt:lpstr>Akzidenz-Grotesk</vt:lpstr>
      <vt:lpstr>思源黑体 2 Medium</vt:lpstr>
      <vt:lpstr>Akzidenz-Grotesk Bold</vt:lpstr>
      <vt:lpstr>思源黑体 1 Bold</vt:lpstr>
      <vt:lpstr>思源黑体 2</vt:lpstr>
      <vt:lpstr>Arial</vt:lpstr>
      <vt:lpstr>字由点字典黑</vt:lpstr>
      <vt:lpstr>Calibri</vt:lpstr>
      <vt:lpstr>微软雅黑</vt:lpstr>
      <vt:lpstr>Arial Unicode MS</vt:lpstr>
      <vt:lpstr>黄煜臣江西拙楷体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科研B组总结汇报</dc:title>
  <dc:creator/>
  <cp:lastModifiedBy>Administrator</cp:lastModifiedBy>
  <cp:revision>2</cp:revision>
  <dcterms:created xsi:type="dcterms:W3CDTF">2006-08-16T00:00:00Z</dcterms:created>
  <dcterms:modified xsi:type="dcterms:W3CDTF">2026-07-02T03:38:39Z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{"Label":"1","ContentProducer":"001191110105MA01AN806X00000","ProduceID":"DAHOHTYnFeM","ReservedCode1":"","ContentPropagator":"001191110105MA01AN806X00000","PropagateID":"DAHOHTYnFeM","ReservedCode2":""}</vt:lpwstr>
  </property>
  <property fmtid="{D5CDD505-2E9C-101B-9397-08002B2CF9AE}" pid="3" name="ICV">
    <vt:lpwstr>9CD3A0EDF6094BA2AC3394910868D375_12</vt:lpwstr>
  </property>
  <property fmtid="{D5CDD505-2E9C-101B-9397-08002B2CF9AE}" pid="4" name="KSOProductBuildVer">
    <vt:lpwstr>2052-12.1.0.24034</vt:lpwstr>
  </property>
</Properties>
</file>