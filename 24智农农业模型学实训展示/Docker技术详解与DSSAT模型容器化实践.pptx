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7" r:id="rId12"/>
    <p:sldId id="268" r:id="rId13"/>
    <p:sldId id="270" r:id="rId14"/>
    <p:sldId id="271" r:id="rId15"/>
    <p:sldId id="269" r:id="rId16"/>
    <p:sldId id="272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740" autoAdjust="0"/>
    <p:restoredTop sz="69936" autoAdjust="0"/>
  </p:normalViewPr>
  <p:slideViewPr>
    <p:cSldViewPr snapToGrid="0">
      <p:cViewPr varScale="1">
        <p:scale>
          <a:sx n="78" d="100"/>
          <a:sy n="78" d="100"/>
        </p:scale>
        <p:origin x="1420" y="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02.07.2026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为大家分享Docker技术的核心概念，并结合我们项目的实践，展示如何使用Docker容器化DSSAT模型。本次分享将分为四个部分，首先我们会深入了解Docker是什么，它为什么如此重要；接着，我们会详细讲解如何构建一个高质量的Docker镜像；然后，我们将聚焦于如何将DSSAT模型打包成容器并运行；最后，会预留时间展示我们的实验结果。希望通过这次分享，能让大家对Docker在科学计算领域的应用有更深入的理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分享将围绕这四个核心部分展开。首先，我们会回顾Docker的基础知识，确保大家对容器化有一个清晰的认识。然后，我们将深入到实践层面，学习如何从零开始构建一个Docker镜像。第三部分是本次分享的重点，我们将手把手教大家如何将复杂的DSSAT模型容器化。最后，我们会预留出专门的时间来展示我们的工作成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现在，让我们进入第一部分，深入了解Docker的核心技术。我们将探讨Docker的诞生背景，它解决了什么问题，以及它的几个关键概念。这部分内容是理解后续实践操作的基础。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都听过“它在我机器上能跑”这句话，这背后反映的就是环境不一致的问题。Docker的核心作用就是解决这个问题。它通过容器化技术，将应用和它的所有依赖打包在一起，形成一个标准化的单元。这个单元，也就是容器，可以在任何支持Docker的环境中以完全相同的方式运行，真正实现了“一次构建，处处运行”的理念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Docker容器和我们熟悉的虚拟机有什么区别呢？这张图非常直观地展示了它们的架构差异。虚拟机是在硬件层面通过Hypervisor实现的，每个VM都包含一个完整的操作系统，因此非常重，启动慢。而Docker容器则共享宿主机的操作系统内核，它只是一个进程级的隔离，因此非常轻量，启动速度快，性能也更接近原生。这使得Docker在资源利用率和部署密度上远胜于虚拟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理解Docker需要掌握三个核心概念：镜像、容器和仓库。镜像，就像是一个软件的安装包，它是只读的模板。容器，则是镜像的运行实例，是真正执行任务的实体。而仓库，就是用来存放和分发这些镜像的地方，最著名的就是Docker Hub。这三者构成了Docker生态系统的基础。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了解了概念之后，我们来看看实际操作中最常用的一些Docker命令。比如docker pull用来下载镜像，docker build用来构建镜像，docker run用来启动容器。docker ps和docker images分别用来查看正在运行的容器和本地已有的镜像。掌握这些基本命令，就可以完成大部分日常的Docker操作了。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好的，了解了Docker的基础知识后，我们进入第二部分，学习如何构建自己的Docker镜像。这部分将详细讲解Dockerfile的编写技巧、如何通过多阶段构建优化镜像，以及如何将构建好的镜像上传到仓库。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构建镜像的核心是编写Dockerfile。这是一个文本文件，包含了构建镜像所需的所有指令。这里列出了一些最核心的指令，比如FROM指定基础镜像，RUN执行命令，COPY复制文件等。遵循一些最佳实践，比如使用轻量基础镜像、合并RUN指令，可以帮助我们构建出更小、更高效的镜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现在，我们进入最激动人心的部分：将理论付诸实践。在第三部分，我们将详细介绍如何使用Docker来运行DSSAT模型。我们会先简单介绍一下DSSAT，然后展示我们为它编写的Dockerfile，并给出具体的构建和运行命令。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DSSAT是一款功能强大的作物系统模型，但它的安装和配置过程相对复杂，对环境有特定要求。将其容器化带来了巨大的好处。首先，它实现了跨平台运行，无论你使用什么操作系统，都可以通过Docker一键启动。其次，它保证了环境的绝对一致性，这对于科学研究的可重复性至关重要。最后，打包好的镜像可以轻松地在团队内部分享，极大地简化了部署流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有了Dockerfile，构建和运行就非常简单了。我们可以通过docker build命令，并可选地使用--build-arg来指定想要构建的DSSAT版本。运行时，关键在于使用-v参数进行数据卷挂载。这个命令会将我们本地的工作目录挂载到容器内部，这样DSSAT就能读取我们的输入文件，并将结果输出回我们的本地目录。执行完命令后，输出文件就会出现在当前文件夹中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接下来是第四部分，结果展示。我的组员已经为我们绘制好了详细的实验结果图表，现在我将把时间交给他们，由他们来为大家展示和解读这些结果。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- 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种植后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23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天开花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- 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总生物量：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1804 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kg/ha- 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收获产量：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52 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kg/ha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为DSSAT编写的Dockerfile，它采用了刚才提到的多阶段构建。在构建阶段，我们基于Ubuntu镜像，安装了编译所需的所有工具，然后从GitHub克隆了DSSAT的源代码并进行编译。在运行阶段，我们使用一个干净的Ubuntu镜像，只安装了运行时必须的库，并从构建阶段复制了编译好的可执行文件。最后，我们将工作目录设置为/data，并将入口点设为dssat命令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感谢大家的聆听。我们的分享到此结束，现在是问答环节，欢迎大家提问交流。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2.jpe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.jpe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gi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1016000" y="2286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Docker技术详解与DSSAT模型容器化</a:t>
            </a:r>
            <a:r>
              <a:rPr lang="zh-CN" altLang="en-US" sz="4800" b="1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实践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1016000" y="3810000"/>
            <a:ext cx="1016000" cy="50800"/>
          </a:xfrm>
          <a:prstGeom prst="roundRect">
            <a:avLst>
              <a:gd name="adj" fmla="val 0"/>
            </a:avLst>
          </a:prstGeom>
          <a:solidFill>
            <a:srgbClr val="2496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4318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Build, Ship, and Run Any App, Anywhere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4297">
            <a:off x="1016004" y="5581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57785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 err="1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汇报人</a:t>
            </a:r>
            <a:r>
              <a:rPr lang="en-US" sz="16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：[</a:t>
            </a:r>
            <a:r>
              <a:rPr lang="zh-CN" altLang="en-US" sz="1600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保奇阳</a:t>
            </a:r>
            <a:r>
              <a:rPr lang="en-US" sz="16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]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6350000" y="57785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2026年7月2</a:t>
            </a:r>
            <a:r>
              <a:rPr lang="zh-CN" altLang="en-US" sz="16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日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2357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目录 CONTENTS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76200" cy="1714500"/>
          </a:xfrm>
          <a:prstGeom prst="roundRect">
            <a:avLst>
              <a:gd name="adj" fmla="val 0"/>
            </a:avLst>
          </a:prstGeom>
          <a:solidFill>
            <a:srgbClr val="2496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21590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2496ED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5365623">
            <a:off x="1397000" y="2851182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496ED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2222500" y="2184400"/>
            <a:ext cx="355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Docker核心技术详解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222500" y="2794000"/>
            <a:ext cx="355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深入解析Docker的核心作用与核心概念，掌握基本用法，并探讨其在实际项目中的广泛应用场景。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4191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762000" y="4191000"/>
            <a:ext cx="76200" cy="1714500"/>
          </a:xfrm>
          <a:prstGeom prst="roundRect">
            <a:avLst>
              <a:gd name="adj" fmla="val 0"/>
            </a:avLst>
          </a:prstGeom>
          <a:solidFill>
            <a:srgbClr val="2496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016000" y="43180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2496ED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5365623">
            <a:off x="1397000" y="5010182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496ED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2222500" y="4343400"/>
            <a:ext cx="355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Docker镜像构建全流程指南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2222500" y="4953000"/>
            <a:ext cx="355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从Dockerfile的基础编写规范入手，讲解多阶段构建优化技巧，以及镜像的上传与管理最佳实践。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2032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223000" y="2032000"/>
            <a:ext cx="76200" cy="1714500"/>
          </a:xfrm>
          <a:prstGeom prst="roundRect">
            <a:avLst>
              <a:gd name="adj" fmla="val 0"/>
            </a:avLst>
          </a:prstGeom>
          <a:solidFill>
            <a:srgbClr val="2496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477000" y="21590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2496ED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5365623">
            <a:off x="6858000" y="2851182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496ED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7658100" y="2184400"/>
            <a:ext cx="3873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0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如何</a:t>
            </a:r>
            <a:r>
              <a:rPr lang="en-US" sz="20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使用Docker运行DSSAT模型</a:t>
            </a:r>
            <a:endParaRPr lang="en-US" sz="1100" dirty="0"/>
          </a:p>
        </p:txBody>
      </p:sp>
      <p:sp>
        <p:nvSpPr>
          <p:cNvPr id="21" name="AutoShape 21"/>
          <p:cNvSpPr/>
          <p:nvPr/>
        </p:nvSpPr>
        <p:spPr>
          <a:xfrm>
            <a:off x="7683500" y="2794000"/>
            <a:ext cx="355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介绍DSSAT模型及其环境依赖，通过具体的Dockerfile示例，演示如何封装、构建并运行该农业模型。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223000" y="4191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6223000" y="4191000"/>
            <a:ext cx="76200" cy="1714500"/>
          </a:xfrm>
          <a:prstGeom prst="roundRect">
            <a:avLst>
              <a:gd name="adj" fmla="val 0"/>
            </a:avLst>
          </a:prstGeom>
          <a:solidFill>
            <a:srgbClr val="2496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6477000" y="43180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2496ED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5365623">
            <a:off x="6858000" y="5010182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496ED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7683500" y="4343400"/>
            <a:ext cx="355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结果展示与分析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683500" y="4953000"/>
            <a:ext cx="355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展示Docker化部署DSSAT模型后的实验结果，通过直观的图表对比分析，验证容器化方案的高效性与稳定性。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7200" b="1" i="0" u="none" strike="noStrike">
                <a:solidFill>
                  <a:srgbClr val="2496ED"/>
                </a:solidFill>
                <a:latin typeface="Noto Sans SC"/>
                <a:ea typeface="Noto Sans SC"/>
                <a:cs typeface="Noto Sans SC"/>
                <a:sym typeface="Noto Sans SC"/>
              </a:rPr>
              <a:t>PART 01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794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Docker核心技术详解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4191000"/>
            <a:ext cx="1016000" cy="50800"/>
          </a:xfrm>
          <a:prstGeom prst="roundRect">
            <a:avLst>
              <a:gd name="adj" fmla="val 0"/>
            </a:avLst>
          </a:prstGeom>
          <a:solidFill>
            <a:srgbClr val="2496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4699000"/>
            <a:ext cx="1066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从诞生背景到核心架构，深入剖析容器化技术的底层逻辑。我们将探讨Docker如何解决环境一致性难题，理解镜像、容器、仓库等关键概念，为后续的实践操作与架构设计夯实理论基础。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Docker的核心作用：解决“环境一致性”难题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在软件开发中，“它在我的机器上可以运行”是一个普遍的痛点。由于开发、测试和生产环境的操作系统、依赖库版本、环境变量等差异，软件部署往往充满不确定性，而Docker正是为解决这一问题而生。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30480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2496E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3048000"/>
            <a:ext cx="76200" cy="889000"/>
          </a:xfrm>
          <a:prstGeom prst="roundRect">
            <a:avLst>
              <a:gd name="adj" fmla="val 0"/>
            </a:avLst>
          </a:prstGeom>
          <a:solidFill>
            <a:srgbClr val="2496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31115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Docker通过</a:t>
            </a:r>
            <a:r>
              <a:rPr lang="en-US" sz="1600" b="1" i="0" u="none" strike="noStrike">
                <a:solidFill>
                  <a:srgbClr val="2496ED"/>
                </a:solidFill>
                <a:latin typeface="Noto Sans SC"/>
                <a:ea typeface="Noto Sans SC"/>
                <a:cs typeface="Noto Sans SC"/>
                <a:sym typeface="Noto Sans SC"/>
              </a:rPr>
              <a:t>容器化 (Containerization)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技术，将应用程序及其所有依赖项（代码、运行时、系统工具、系统库）打包到标准化的</a:t>
            </a: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容器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中，确保环境的一致性。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43815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496ED"/>
                </a:solidFill>
                <a:latin typeface="Noto Sans SC"/>
                <a:ea typeface="Noto Sans SC"/>
                <a:cs typeface="Noto Sans SC"/>
                <a:sym typeface="Noto Sans SC"/>
              </a:rPr>
              <a:t>“ Build, Ship, and Run Any App, Anywhere ”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4092">
            <a:off x="762004" y="507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496ED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762000" y="5334000"/>
            <a:ext cx="3429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496E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55245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460500" y="5461000"/>
            <a:ext cx="266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Build (构建)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在本地构建包含应用和所有依赖的镜像，封装完整的运行环境，从源头消除差异。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4381500" y="5334000"/>
            <a:ext cx="3429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496E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0" y="55245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080000" y="5461000"/>
            <a:ext cx="266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Ship (交付)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将构建好的镜像推送到私有仓库、Docker Hub或云平台，实现环境的无缝交付与共享。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8001000" y="5334000"/>
            <a:ext cx="3429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496E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91500" y="55245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699500" y="5461000"/>
            <a:ext cx="266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Run (运行)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在任何支持Docker的环境中，以完全一致的方式启动容器，确保应用运行结果的可预测性。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Docker容器 vs. 虚拟机 (Virtual Machine)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l="17911" r="17911"/>
          <a:stretch>
            <a:fillRect/>
          </a:stretch>
        </p:blipFill>
        <p:spPr>
          <a:xfrm>
            <a:off x="762000" y="1778000"/>
            <a:ext cx="5080000" cy="3302000"/>
          </a:xfrm>
          <a:prstGeom prst="rect">
            <a:avLst/>
          </a:prstGeom>
          <a:noFill/>
          <a:ln w="12700" cap="flat" cmpd="sng">
            <a:solidFill>
              <a:srgbClr val="2496ED">
                <a:alpha val="30000"/>
              </a:srgbClr>
            </a:solidFill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5334000"/>
            <a:ext cx="508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架构示意图直观展示了两者的核心差异：虚拟机通过Hypervisor实现硬件级虚拟化，而Docker容器则共享宿主机内核，仅在用户空间实现进程隔离，层级更精简。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5390177">
            <a:off x="4127500" y="3994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496ED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6604000" y="1778000"/>
            <a:ext cx="2540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496E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604000" y="1778000"/>
            <a:ext cx="50800" cy="1968500"/>
          </a:xfrm>
          <a:prstGeom prst="roundRect">
            <a:avLst>
              <a:gd name="adj" fmla="val 0"/>
            </a:avLst>
          </a:prstGeom>
          <a:solidFill>
            <a:srgbClr val="2496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94500" y="19304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175500" y="1930400"/>
            <a:ext cx="184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轻量极速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20221">
            <a:off x="6794519" y="24066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6794500" y="2540000"/>
            <a:ext cx="2222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容器仅MB级，秒级启动；虚拟机为GB级，启动需数分钟。Docker在资源占用上极具优势，可快速扩容。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334500" y="1778000"/>
            <a:ext cx="2540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496E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9334500" y="1778000"/>
            <a:ext cx="50800" cy="1968500"/>
          </a:xfrm>
          <a:prstGeom prst="roundRect">
            <a:avLst>
              <a:gd name="adj" fmla="val 0"/>
            </a:avLst>
          </a:prstGeom>
          <a:solidFill>
            <a:srgbClr val="2496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0" y="19304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9906000" y="1930400"/>
            <a:ext cx="184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原生性能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20834">
            <a:off x="9525019" y="24066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9525000" y="2540000"/>
            <a:ext cx="2222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容器无虚拟化开销，性能接近原生；虚拟机存在Hypervisor层损耗。容器实现进程级隔离，兼顾安全与效率。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604000" y="4127500"/>
            <a:ext cx="2540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496E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604000" y="4127500"/>
            <a:ext cx="50800" cy="1968500"/>
          </a:xfrm>
          <a:prstGeom prst="roundRect">
            <a:avLst>
              <a:gd name="adj" fmla="val 0"/>
            </a:avLst>
          </a:prstGeom>
          <a:solidFill>
            <a:srgbClr val="2496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94500" y="42799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175500" y="4279900"/>
            <a:ext cx="184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高密度部署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20221">
            <a:off x="6794519" y="47561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6794500" y="4889500"/>
            <a:ext cx="2222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单机可运行成百上千个容器，资源利用率极高；而虚拟机受限于硬件，数量通常在个位数到两位数之间。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334500" y="4127500"/>
            <a:ext cx="2540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496E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9334500" y="4127500"/>
            <a:ext cx="50800" cy="1968500"/>
          </a:xfrm>
          <a:prstGeom prst="roundRect">
            <a:avLst>
              <a:gd name="adj" fmla="val 0"/>
            </a:avLst>
          </a:prstGeom>
          <a:solidFill>
            <a:srgbClr val="2496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25000" y="4279900"/>
            <a:ext cx="304800" cy="3048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9906000" y="4279900"/>
            <a:ext cx="184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内核共享</a:t>
            </a:r>
            <a:endParaRPr lang="en-US" sz="1100"/>
          </a:p>
        </p:txBody>
      </p:sp>
      <p:cxnSp>
        <p:nvCxnSpPr>
          <p:cNvPr id="29" name="Connector 29"/>
          <p:cNvCxnSpPr/>
          <p:nvPr/>
        </p:nvCxnSpPr>
        <p:spPr>
          <a:xfrm rot="-20834">
            <a:off x="9525019" y="47561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" name="AutoShape 30"/>
          <p:cNvSpPr/>
          <p:nvPr/>
        </p:nvSpPr>
        <p:spPr>
          <a:xfrm>
            <a:off x="9525000" y="4889500"/>
            <a:ext cx="2222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容器共享宿主机OS内核，无需预装Guest OS，结构更简洁；虚拟机则包含完整的客户操作系统，层级复杂且冗余。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Docker核心概念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429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2496E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 t="7142" b="7142"/>
          <a:stretch>
            <a:fillRect/>
          </a:stretch>
        </p:blipFill>
        <p:spPr>
          <a:xfrm>
            <a:off x="1587500" y="2159000"/>
            <a:ext cx="1778000" cy="152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952500" y="3937000"/>
            <a:ext cx="3048000" cy="38100"/>
          </a:xfrm>
          <a:prstGeom prst="roundRect">
            <a:avLst>
              <a:gd name="adj" fmla="val 0"/>
            </a:avLst>
          </a:prstGeom>
          <a:solidFill>
            <a:srgbClr val="2496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952500" y="4191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496ED"/>
                </a:solidFill>
                <a:latin typeface="Noto Sans SC"/>
                <a:ea typeface="Noto Sans SC"/>
                <a:cs typeface="Noto Sans SC"/>
                <a:sym typeface="Noto Sans SC"/>
              </a:rPr>
              <a:t>01. 镜像 (Image)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4826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只读的软件模板，包含代码、运行时、库及配置。类比于软件的“安装包”或编程中的“类”，是静态的基石。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81500" y="1905000"/>
            <a:ext cx="3429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2496E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rcRect l="14932" r="14932"/>
          <a:stretch>
            <a:fillRect/>
          </a:stretch>
        </p:blipFill>
        <p:spPr>
          <a:xfrm>
            <a:off x="5207000" y="2159000"/>
            <a:ext cx="1778000" cy="152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4572000" y="3937000"/>
            <a:ext cx="3048000" cy="38100"/>
          </a:xfrm>
          <a:prstGeom prst="roundRect">
            <a:avLst>
              <a:gd name="adj" fmla="val 0"/>
            </a:avLst>
          </a:prstGeom>
          <a:solidFill>
            <a:srgbClr val="2496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572000" y="4191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496ED"/>
                </a:solidFill>
                <a:latin typeface="Noto Sans SC"/>
                <a:ea typeface="Noto Sans SC"/>
                <a:cs typeface="Noto Sans SC"/>
                <a:sym typeface="Noto Sans SC"/>
              </a:rPr>
              <a:t>02. 容器 (Container)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572000" y="4826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镜像的动态运行实例，在镜像之上增加了一个可写层。类比于操作系统中的“进程”或编程中的“对象实例”，是运行的实体。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01000" y="1905000"/>
            <a:ext cx="3429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2496E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4"/>
          <a:srcRect t="7142" b="7142"/>
          <a:stretch>
            <a:fillRect/>
          </a:stretch>
        </p:blipFill>
        <p:spPr>
          <a:xfrm>
            <a:off x="8826500" y="2159000"/>
            <a:ext cx="1778000" cy="152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AutoShape 16"/>
          <p:cNvSpPr/>
          <p:nvPr/>
        </p:nvSpPr>
        <p:spPr>
          <a:xfrm>
            <a:off x="8191500" y="3937000"/>
            <a:ext cx="3048000" cy="38100"/>
          </a:xfrm>
          <a:prstGeom prst="roundRect">
            <a:avLst>
              <a:gd name="adj" fmla="val 0"/>
            </a:avLst>
          </a:prstGeom>
          <a:solidFill>
            <a:srgbClr val="2496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191500" y="4191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496ED"/>
                </a:solidFill>
                <a:latin typeface="Noto Sans SC"/>
                <a:ea typeface="Noto Sans SC"/>
                <a:cs typeface="Noto Sans SC"/>
                <a:sym typeface="Noto Sans SC"/>
              </a:rPr>
              <a:t>03. 仓库 (Repository)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191500" y="4826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集中存储和分发镜像的服务端，分为公有和私有。类比于代码仓库（如GitHub）或手机应用商店，是镜像的集散地。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Docker基本用法与命令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39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496ED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778000"/>
            <a:ext cx="5207000" cy="8382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778000"/>
            <a:ext cx="76200" cy="838200"/>
          </a:xfrm>
          <a:prstGeom prst="roundRect">
            <a:avLst>
              <a:gd name="adj" fmla="val 0"/>
            </a:avLst>
          </a:prstGeom>
          <a:solidFill>
            <a:srgbClr val="2496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965200" y="1841500"/>
            <a:ext cx="4826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496ED"/>
                </a:solidFill>
                <a:latin typeface="Noto Sans SC"/>
                <a:ea typeface="Noto Sans SC"/>
                <a:cs typeface="Noto Sans SC"/>
                <a:sym typeface="Noto Sans SC"/>
              </a:rPr>
              <a:t>docker pull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从仓库拉取镜像到本地，是使用Docker的第一步。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示例：docker pull ubuntu:22.04</a:t>
            </a:r>
          </a:p>
        </p:txBody>
      </p:sp>
      <p:sp>
        <p:nvSpPr>
          <p:cNvPr id="8" name="AutoShape 8"/>
          <p:cNvSpPr/>
          <p:nvPr/>
        </p:nvSpPr>
        <p:spPr>
          <a:xfrm>
            <a:off x="762000" y="2806700"/>
            <a:ext cx="5207000" cy="8382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762000" y="2806700"/>
            <a:ext cx="76200" cy="838200"/>
          </a:xfrm>
          <a:prstGeom prst="roundRect">
            <a:avLst>
              <a:gd name="adj" fmla="val 0"/>
            </a:avLst>
          </a:prstGeom>
          <a:solidFill>
            <a:srgbClr val="2496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965200" y="2870200"/>
            <a:ext cx="4826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496ED"/>
                </a:solidFill>
                <a:latin typeface="Noto Sans SC"/>
                <a:ea typeface="Noto Sans SC"/>
                <a:cs typeface="Noto Sans SC"/>
                <a:sym typeface="Noto Sans SC"/>
              </a:rPr>
              <a:t>docker build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根据指定路径下的Dockerfile构建自定义镜像，-t参数用于打标签。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示例：docker build -t my-app:latest .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62000" y="3835400"/>
            <a:ext cx="5207000" cy="8382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762000" y="3835400"/>
            <a:ext cx="76200" cy="838200"/>
          </a:xfrm>
          <a:prstGeom prst="roundRect">
            <a:avLst>
              <a:gd name="adj" fmla="val 0"/>
            </a:avLst>
          </a:prstGeom>
          <a:solidFill>
            <a:srgbClr val="2496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965200" y="3898900"/>
            <a:ext cx="4826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496ED"/>
                </a:solidFill>
                <a:latin typeface="Noto Sans SC"/>
                <a:ea typeface="Noto Sans SC"/>
                <a:cs typeface="Noto Sans SC"/>
                <a:sym typeface="Noto Sans SC"/>
              </a:rPr>
              <a:t>docker images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列出本地Docker主机上已下载的所有镜像，包含镜像ID、标签、大小等信息。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示例：docker images</a:t>
            </a:r>
          </a:p>
        </p:txBody>
      </p:sp>
      <p:sp>
        <p:nvSpPr>
          <p:cNvPr id="14" name="AutoShape 14"/>
          <p:cNvSpPr/>
          <p:nvPr/>
        </p:nvSpPr>
        <p:spPr>
          <a:xfrm>
            <a:off x="762000" y="4864100"/>
            <a:ext cx="5207000" cy="8382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762000" y="4864100"/>
            <a:ext cx="76200" cy="838200"/>
          </a:xfrm>
          <a:prstGeom prst="roundRect">
            <a:avLst>
              <a:gd name="adj" fmla="val 0"/>
            </a:avLst>
          </a:prstGeom>
          <a:solidFill>
            <a:srgbClr val="2496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965200" y="4927600"/>
            <a:ext cx="4826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496ED"/>
                </a:solidFill>
                <a:latin typeface="Noto Sans SC"/>
                <a:ea typeface="Noto Sans SC"/>
                <a:cs typeface="Noto Sans SC"/>
                <a:sym typeface="Noto Sans SC"/>
              </a:rPr>
              <a:t>docker run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基于指定镜像创建并启动一个新容器，-it用于交互模式，--rm退出后自动删除。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示例：docker run -it --rm ubuntu:22.04 bash</a:t>
            </a:r>
          </a:p>
        </p:txBody>
      </p:sp>
      <p:sp>
        <p:nvSpPr>
          <p:cNvPr id="17" name="AutoShape 17"/>
          <p:cNvSpPr/>
          <p:nvPr/>
        </p:nvSpPr>
        <p:spPr>
          <a:xfrm>
            <a:off x="6350000" y="1778000"/>
            <a:ext cx="5207000" cy="8382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350000" y="1778000"/>
            <a:ext cx="76200" cy="838200"/>
          </a:xfrm>
          <a:prstGeom prst="roundRect">
            <a:avLst>
              <a:gd name="adj" fmla="val 0"/>
            </a:avLst>
          </a:prstGeom>
          <a:solidFill>
            <a:srgbClr val="2496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553200" y="1841500"/>
            <a:ext cx="4826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496ED"/>
                </a:solidFill>
                <a:latin typeface="Noto Sans SC"/>
                <a:ea typeface="Noto Sans SC"/>
                <a:cs typeface="Noto Sans SC"/>
                <a:sym typeface="Noto Sans SC"/>
              </a:rPr>
              <a:t>docker ps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列出当前正在运行的容器，-a参数可查看所有容器（包括已停止的）。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示例：docker ps 或 docker ps -a</a:t>
            </a:r>
          </a:p>
        </p:txBody>
      </p:sp>
      <p:sp>
        <p:nvSpPr>
          <p:cNvPr id="20" name="AutoShape 20"/>
          <p:cNvSpPr/>
          <p:nvPr/>
        </p:nvSpPr>
        <p:spPr>
          <a:xfrm>
            <a:off x="6350000" y="2806700"/>
            <a:ext cx="5207000" cy="8382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6350000" y="2806700"/>
            <a:ext cx="76200" cy="838200"/>
          </a:xfrm>
          <a:prstGeom prst="roundRect">
            <a:avLst>
              <a:gd name="adj" fmla="val 0"/>
            </a:avLst>
          </a:prstGeom>
          <a:solidFill>
            <a:srgbClr val="2496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6553200" y="2870200"/>
            <a:ext cx="4826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496ED"/>
                </a:solidFill>
                <a:latin typeface="Noto Sans SC"/>
                <a:ea typeface="Noto Sans SC"/>
                <a:cs typeface="Noto Sans SC"/>
                <a:sym typeface="Noto Sans SC"/>
              </a:rPr>
              <a:t>docker stop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向运行中的容器发送终止信号，使其优雅停止，需指定容器ID或名称。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示例：docker stop &lt;container_id&gt;</a:t>
            </a:r>
          </a:p>
        </p:txBody>
      </p:sp>
      <p:sp>
        <p:nvSpPr>
          <p:cNvPr id="23" name="AutoShape 23"/>
          <p:cNvSpPr/>
          <p:nvPr/>
        </p:nvSpPr>
        <p:spPr>
          <a:xfrm>
            <a:off x="6350000" y="3835400"/>
            <a:ext cx="5207000" cy="8382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6350000" y="3835400"/>
            <a:ext cx="76200" cy="838200"/>
          </a:xfrm>
          <a:prstGeom prst="roundRect">
            <a:avLst>
              <a:gd name="adj" fmla="val 0"/>
            </a:avLst>
          </a:prstGeom>
          <a:solidFill>
            <a:srgbClr val="2496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6553200" y="3898900"/>
            <a:ext cx="4826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496ED"/>
                </a:solidFill>
                <a:latin typeface="Noto Sans SC"/>
                <a:ea typeface="Noto Sans SC"/>
                <a:cs typeface="Noto Sans SC"/>
                <a:sym typeface="Noto Sans SC"/>
              </a:rPr>
              <a:t>docker rm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删除一个或多个已停止的容器，-f参数可强制删除运行中的容器。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示例：docker rm &lt;container_id&gt;</a:t>
            </a:r>
          </a:p>
        </p:txBody>
      </p:sp>
      <p:sp>
        <p:nvSpPr>
          <p:cNvPr id="26" name="AutoShape 26"/>
          <p:cNvSpPr/>
          <p:nvPr/>
        </p:nvSpPr>
        <p:spPr>
          <a:xfrm>
            <a:off x="6350000" y="4864100"/>
            <a:ext cx="5207000" cy="8382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6350000" y="4864100"/>
            <a:ext cx="76200" cy="838200"/>
          </a:xfrm>
          <a:prstGeom prst="roundRect">
            <a:avLst>
              <a:gd name="adj" fmla="val 0"/>
            </a:avLst>
          </a:prstGeom>
          <a:solidFill>
            <a:srgbClr val="2496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6553200" y="4927600"/>
            <a:ext cx="4826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496ED"/>
                </a:solidFill>
                <a:latin typeface="Noto Sans SC"/>
                <a:ea typeface="Noto Sans SC"/>
                <a:cs typeface="Noto Sans SC"/>
                <a:sym typeface="Noto Sans SC"/>
              </a:rPr>
              <a:t>docker rmi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删除本地一个或多个镜像，删除前需确保该镜像没有被容器引用。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示例：docker rmi &lt;image_id&gt;</a:t>
            </a:r>
          </a:p>
        </p:txBody>
      </p:sp>
      <p:sp>
        <p:nvSpPr>
          <p:cNvPr id="29" name="AutoShape 29"/>
          <p:cNvSpPr/>
          <p:nvPr/>
        </p:nvSpPr>
        <p:spPr>
          <a:xfrm>
            <a:off x="762000" y="5892800"/>
            <a:ext cx="5207000" cy="762000"/>
          </a:xfrm>
          <a:prstGeom prst="roundRect">
            <a:avLst>
              <a:gd name="adj" fmla="val 0"/>
            </a:avLst>
          </a:prstGeom>
          <a:solidFill>
            <a:srgbClr val="2496E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889000" y="5956300"/>
            <a:ext cx="495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2496ED"/>
                </a:solidFill>
                <a:latin typeface="Noto Sans SC"/>
                <a:ea typeface="Noto Sans SC"/>
                <a:cs typeface="Noto Sans SC"/>
                <a:sym typeface="Noto Sans SC"/>
              </a:rPr>
              <a:t>docker exec：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在运行中的容器内执行命令，常用于进入容器终端。示例：docker exec -it &lt;container_id&gt; bash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6350000" y="5892800"/>
            <a:ext cx="5207000" cy="762000"/>
          </a:xfrm>
          <a:prstGeom prst="roundRect">
            <a:avLst>
              <a:gd name="adj" fmla="val 0"/>
            </a:avLst>
          </a:prstGeom>
          <a:solidFill>
            <a:srgbClr val="2496E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6477000" y="5956300"/>
            <a:ext cx="495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2496ED"/>
                </a:solidFill>
                <a:latin typeface="Noto Sans SC"/>
                <a:ea typeface="Noto Sans SC"/>
                <a:cs typeface="Noto Sans SC"/>
                <a:sym typeface="Noto Sans SC"/>
              </a:rPr>
              <a:t>docker logs：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获取容器的日志输出，-f参数可实时跟踪日志。示例：docker logs -f &lt;container_id&gt;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2496ED"/>
                </a:solidFill>
                <a:latin typeface="Noto Sans SC"/>
                <a:ea typeface="Noto Sans SC"/>
                <a:cs typeface="Noto Sans SC"/>
                <a:sym typeface="Noto Sans SC"/>
              </a:rPr>
              <a:t>PART 02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794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Docker镜像构建全流程指南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4191000"/>
            <a:ext cx="1016000" cy="50800"/>
          </a:xfrm>
          <a:prstGeom prst="roundRect">
            <a:avLst>
              <a:gd name="adj" fmla="val 0"/>
            </a:avLst>
          </a:prstGeom>
          <a:solidFill>
            <a:srgbClr val="2496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48260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深入解析Dockerfile编写规范，掌握多阶段构建优化镜像体积的技巧，学习将构建产物推送到远程镜像仓库的完整工作流，构建高效、安全、可复用的容器镜像体系。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-171833"/>
            <a:ext cx="12192000" cy="8259114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926247"/>
            <a:ext cx="5080000" cy="1343898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496E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5" name="AutoShape 5"/>
          <p:cNvSpPr/>
          <p:nvPr/>
        </p:nvSpPr>
        <p:spPr>
          <a:xfrm>
            <a:off x="754926" y="926247"/>
            <a:ext cx="113790" cy="1343897"/>
          </a:xfrm>
          <a:prstGeom prst="roundRect">
            <a:avLst>
              <a:gd name="adj" fmla="val 0"/>
            </a:avLst>
          </a:prstGeom>
          <a:solidFill>
            <a:srgbClr val="2496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234165" y="926247"/>
            <a:ext cx="5080000" cy="230378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496E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20" name="AutoShape 20"/>
          <p:cNvSpPr/>
          <p:nvPr/>
        </p:nvSpPr>
        <p:spPr>
          <a:xfrm>
            <a:off x="6227602" y="926247"/>
            <a:ext cx="76200" cy="2303780"/>
          </a:xfrm>
          <a:prstGeom prst="roundRect">
            <a:avLst>
              <a:gd name="adj" fmla="val 0"/>
            </a:avLst>
          </a:prstGeom>
          <a:solidFill>
            <a:srgbClr val="2496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754926" y="2304666"/>
            <a:ext cx="5042410" cy="3675029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496E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23" name="AutoShape 23"/>
          <p:cNvSpPr/>
          <p:nvPr/>
        </p:nvSpPr>
        <p:spPr>
          <a:xfrm>
            <a:off x="754926" y="2304666"/>
            <a:ext cx="113789" cy="3675029"/>
          </a:xfrm>
          <a:prstGeom prst="roundRect">
            <a:avLst>
              <a:gd name="adj" fmla="val 0"/>
            </a:avLst>
          </a:prstGeom>
          <a:solidFill>
            <a:srgbClr val="2496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25" name="AutoShape 25"/>
          <p:cNvSpPr/>
          <p:nvPr/>
        </p:nvSpPr>
        <p:spPr>
          <a:xfrm>
            <a:off x="6242306" y="3470469"/>
            <a:ext cx="5080000" cy="2461284"/>
          </a:xfrm>
          <a:prstGeom prst="roundRect">
            <a:avLst>
              <a:gd name="adj" fmla="val 0"/>
            </a:avLst>
          </a:prstGeom>
          <a:solidFill>
            <a:srgbClr val="2496ED">
              <a:alpha val="10000"/>
            </a:srgbClr>
          </a:solidFill>
          <a:ln w="12700" cap="flat" cmpd="sng">
            <a:solidFill>
              <a:srgbClr val="2496ED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26" name="AutoShape 26"/>
          <p:cNvSpPr/>
          <p:nvPr/>
        </p:nvSpPr>
        <p:spPr>
          <a:xfrm>
            <a:off x="6227602" y="3470469"/>
            <a:ext cx="76200" cy="2461284"/>
          </a:xfrm>
          <a:prstGeom prst="roundRect">
            <a:avLst>
              <a:gd name="adj" fmla="val 0"/>
            </a:avLst>
          </a:prstGeom>
          <a:solidFill>
            <a:srgbClr val="2496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051DCC7-C392-91F2-DC3E-DAF82F74919B}"/>
              </a:ext>
            </a:extLst>
          </p:cNvPr>
          <p:cNvSpPr txBox="1"/>
          <p:nvPr/>
        </p:nvSpPr>
        <p:spPr>
          <a:xfrm>
            <a:off x="717336" y="267147"/>
            <a:ext cx="7975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在电脑本地安装</a:t>
            </a:r>
            <a:r>
              <a:rPr lang="en-US" altLang="zh-CN" dirty="0"/>
              <a:t> Docker </a:t>
            </a:r>
            <a:r>
              <a:rPr lang="zh-CN" altLang="zh-CN" dirty="0"/>
              <a:t>客户端，配置国内镜像加速器，解决镜像下载慢、拉取失败的问题。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17124B9-BA87-1963-99FA-BC0AB7D6966E}"/>
              </a:ext>
            </a:extLst>
          </p:cNvPr>
          <p:cNvSpPr txBox="1"/>
          <p:nvPr/>
        </p:nvSpPr>
        <p:spPr>
          <a:xfrm>
            <a:off x="900080" y="1068625"/>
            <a:ext cx="489725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zh-CN" b="1" dirty="0"/>
              <a:t>安装</a:t>
            </a:r>
            <a:r>
              <a:rPr lang="en-US" altLang="zh-CN" b="1" dirty="0"/>
              <a:t> Docker</a:t>
            </a:r>
            <a:r>
              <a:rPr lang="zh-CN" altLang="zh-CN" b="1" dirty="0"/>
              <a:t>： </a:t>
            </a:r>
            <a:endParaRPr lang="en-US" altLang="zh-CN" b="1" dirty="0"/>
          </a:p>
          <a:p>
            <a:pPr lvl="0"/>
            <a:endParaRPr lang="zh-CN" altLang="zh-CN" b="1" dirty="0"/>
          </a:p>
          <a:p>
            <a:r>
              <a:rPr lang="zh-CN" altLang="zh-CN" dirty="0"/>
              <a:t>下载网址：</a:t>
            </a:r>
            <a:r>
              <a:rPr lang="en-US" altLang="zh-CN" dirty="0"/>
              <a:t>https://www.docker.com/products/dockerdesktop/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7217A74-E29E-2295-9FC5-B3AB665271DB}"/>
              </a:ext>
            </a:extLst>
          </p:cNvPr>
          <p:cNvSpPr txBox="1"/>
          <p:nvPr/>
        </p:nvSpPr>
        <p:spPr>
          <a:xfrm>
            <a:off x="923375" y="2500682"/>
            <a:ext cx="30937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Docker </a:t>
            </a:r>
            <a:r>
              <a:rPr lang="zh-CN" altLang="zh-CN" b="1" dirty="0"/>
              <a:t>配置国内镜像加速完整步骤</a:t>
            </a:r>
            <a:r>
              <a:rPr lang="en-US" altLang="zh-CN" b="1" dirty="0"/>
              <a:t>:</a:t>
            </a:r>
            <a:endParaRPr lang="zh-CN" altLang="zh-CN" b="1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1AF5BBD-54FB-DDB3-3CB7-41F0AE515181}"/>
              </a:ext>
            </a:extLst>
          </p:cNvPr>
          <p:cNvSpPr txBox="1"/>
          <p:nvPr/>
        </p:nvSpPr>
        <p:spPr>
          <a:xfrm>
            <a:off x="923375" y="2979169"/>
            <a:ext cx="4819301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1.</a:t>
            </a:r>
            <a:r>
              <a:rPr lang="zh-CN" altLang="en-US" sz="1200" dirty="0"/>
              <a:t>打开 </a:t>
            </a:r>
            <a:r>
              <a:rPr lang="en-US" altLang="zh-CN" sz="1200" dirty="0"/>
              <a:t>Docker Desktop</a:t>
            </a:r>
            <a:r>
              <a:rPr lang="zh-CN" altLang="en-US" sz="1200" dirty="0"/>
              <a:t>，点击右上角设置图标 </a:t>
            </a:r>
            <a:r>
              <a:rPr lang="en-US" altLang="zh-CN" sz="1200" dirty="0"/>
              <a:t>Settings:</a:t>
            </a:r>
          </a:p>
          <a:p>
            <a:r>
              <a:rPr lang="en-US" altLang="zh-CN" sz="1200" dirty="0"/>
              <a:t>2.</a:t>
            </a:r>
            <a:r>
              <a:rPr lang="zh-CN" altLang="en-US" sz="1200" dirty="0"/>
              <a:t>在左侧菜单栏找到 </a:t>
            </a:r>
            <a:r>
              <a:rPr lang="en-US" altLang="zh-CN" sz="1200" dirty="0"/>
              <a:t>Docker Engine:</a:t>
            </a:r>
          </a:p>
          <a:p>
            <a:r>
              <a:rPr lang="en-US" altLang="zh-CN" sz="1200" dirty="0"/>
              <a:t>3.</a:t>
            </a:r>
            <a:r>
              <a:rPr lang="zh-CN" altLang="en-US" sz="1200" dirty="0"/>
              <a:t>在配置 </a:t>
            </a:r>
            <a:r>
              <a:rPr lang="en-US" altLang="zh-CN" sz="1200" dirty="0"/>
              <a:t>JSON </a:t>
            </a:r>
            <a:r>
              <a:rPr lang="zh-CN" altLang="en-US" sz="1200" dirty="0"/>
              <a:t>框内，在</a:t>
            </a:r>
            <a:r>
              <a:rPr lang="en-US" altLang="zh-CN" sz="1200" dirty="0"/>
              <a:t>registry-mirrors</a:t>
            </a:r>
            <a:r>
              <a:rPr lang="zh-CN" altLang="en-US" sz="1200" dirty="0"/>
              <a:t>数组中填入国内镜像地址</a:t>
            </a:r>
            <a:r>
              <a:rPr lang="en-US" altLang="zh-CN" sz="1200" dirty="0"/>
              <a:t>:</a:t>
            </a:r>
          </a:p>
          <a:p>
            <a:r>
              <a:rPr lang="en-US" altLang="zh-CN" sz="1200" dirty="0"/>
              <a:t>     {  </a:t>
            </a:r>
          </a:p>
          <a:p>
            <a:pPr lvl="1"/>
            <a:r>
              <a:rPr lang="en-US" altLang="zh-CN" sz="1200" dirty="0"/>
              <a:t>"registry-mirrors": [  </a:t>
            </a:r>
          </a:p>
          <a:p>
            <a:pPr lvl="1"/>
            <a:r>
              <a:rPr lang="en-US" altLang="zh-CN" sz="1200" dirty="0"/>
              <a:t>  "https://docker.m.daocloud.io",  </a:t>
            </a:r>
          </a:p>
          <a:p>
            <a:pPr lvl="1"/>
            <a:r>
              <a:rPr lang="en-US" altLang="zh-CN" sz="1200" dirty="0"/>
              <a:t>  "https://docker.1ms.run",  </a:t>
            </a:r>
          </a:p>
          <a:p>
            <a:pPr lvl="1"/>
            <a:r>
              <a:rPr lang="en-US" altLang="zh-CN" sz="1200" dirty="0"/>
              <a:t>  "https://hub-mirror.c.163.com" </a:t>
            </a:r>
          </a:p>
          <a:p>
            <a:r>
              <a:rPr lang="en-US" altLang="zh-CN" sz="1200" dirty="0"/>
              <a:t>       ]</a:t>
            </a:r>
          </a:p>
          <a:p>
            <a:r>
              <a:rPr lang="en-US" altLang="zh-CN" sz="1200" dirty="0"/>
              <a:t>     }</a:t>
            </a:r>
          </a:p>
          <a:p>
            <a:r>
              <a:rPr lang="en-US" altLang="zh-CN" sz="1200" dirty="0"/>
              <a:t>4.</a:t>
            </a:r>
            <a:r>
              <a:rPr lang="zh-CN" altLang="en-US" sz="1200" dirty="0"/>
              <a:t>点击右下角 </a:t>
            </a:r>
            <a:r>
              <a:rPr lang="en-US" altLang="zh-CN" sz="1200" dirty="0"/>
              <a:t>Apply &amp; Restart</a:t>
            </a:r>
            <a:r>
              <a:rPr lang="zh-CN" altLang="en-US" sz="1200" dirty="0"/>
              <a:t>，</a:t>
            </a:r>
            <a:r>
              <a:rPr lang="en-US" altLang="zh-CN" sz="1200" dirty="0"/>
              <a:t>Docker </a:t>
            </a:r>
            <a:r>
              <a:rPr lang="zh-CN" altLang="en-US" sz="1200" dirty="0"/>
              <a:t>会自动重启生效 </a:t>
            </a:r>
            <a:endParaRPr lang="en-US" altLang="zh-CN" sz="1200" dirty="0"/>
          </a:p>
          <a:p>
            <a:r>
              <a:rPr lang="en-US" altLang="zh-CN" sz="1200" dirty="0"/>
              <a:t>6</a:t>
            </a:r>
            <a:r>
              <a:rPr lang="zh-CN" altLang="en-US" sz="1200" dirty="0"/>
              <a:t>验证：打开终端输入 </a:t>
            </a:r>
            <a:r>
              <a:rPr lang="en-US" altLang="zh-CN" sz="1200" dirty="0"/>
              <a:t>docker info</a:t>
            </a:r>
            <a:r>
              <a:rPr lang="zh-CN" altLang="en-US" sz="1200" dirty="0"/>
              <a:t>，查看输出中 </a:t>
            </a:r>
            <a:r>
              <a:rPr lang="en-US" altLang="zh-CN" sz="1200" dirty="0"/>
              <a:t>Registry Mirrors</a:t>
            </a:r>
            <a:r>
              <a:rPr lang="zh-CN" altLang="en-US" sz="1200" dirty="0"/>
              <a:t>，显示刚配置的地址即成功</a:t>
            </a:r>
            <a:endParaRPr lang="en-US" altLang="zh-CN" sz="1200" dirty="0"/>
          </a:p>
          <a:p>
            <a:r>
              <a:rPr lang="en-US" altLang="zh-CN" sz="1200" dirty="0"/>
              <a:t>5</a:t>
            </a:r>
            <a:r>
              <a:rPr lang="zh-CN" altLang="en-US" sz="1200" dirty="0"/>
              <a:t>确定之后一定要重启程序，重启程序后才能完成配置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A0CE3330-5E66-DD16-AA21-E9E6597F9D08}"/>
              </a:ext>
            </a:extLst>
          </p:cNvPr>
          <p:cNvSpPr txBox="1"/>
          <p:nvPr/>
        </p:nvSpPr>
        <p:spPr>
          <a:xfrm>
            <a:off x="6548120" y="3554860"/>
            <a:ext cx="15798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b="1" dirty="0"/>
              <a:t>创建并启动容器</a:t>
            </a:r>
            <a:r>
              <a:rPr lang="zh-CN" altLang="en-US" b="1" dirty="0"/>
              <a:t>：</a:t>
            </a:r>
            <a:r>
              <a:rPr lang="zh-CN" altLang="zh-CN" dirty="0"/>
              <a:t> 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B77482E-EAFE-66B1-A8CD-CECE102851BA}"/>
              </a:ext>
            </a:extLst>
          </p:cNvPr>
          <p:cNvSpPr txBox="1"/>
          <p:nvPr/>
        </p:nvSpPr>
        <p:spPr>
          <a:xfrm>
            <a:off x="6526715" y="3899944"/>
            <a:ext cx="46138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首先构建镜像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zh-CN" altLang="en-US" dirty="0"/>
              <a:t>在项目文件下终端运行：</a:t>
            </a:r>
            <a:endParaRPr lang="en-US" altLang="zh-CN" dirty="0"/>
          </a:p>
          <a:p>
            <a:r>
              <a:rPr lang="en-US" altLang="zh-CN" dirty="0"/>
              <a:t>docker build . -f </a:t>
            </a:r>
            <a:r>
              <a:rPr lang="en-US" altLang="zh-CN" dirty="0" err="1"/>
              <a:t>dssat</a:t>
            </a:r>
            <a:r>
              <a:rPr lang="en-US" altLang="zh-CN" dirty="0"/>
              <a:t>-</a:t>
            </a:r>
            <a:r>
              <a:rPr lang="en-US" altLang="zh-CN" dirty="0" err="1"/>
              <a:t>docke</a:t>
            </a:r>
            <a:r>
              <a:rPr lang="en-US" altLang="zh-CN" dirty="0"/>
              <a:t>-master/</a:t>
            </a:r>
            <a:r>
              <a:rPr lang="en-US" altLang="zh-CN" dirty="0" err="1"/>
              <a:t>Dockerfile.minimal</a:t>
            </a:r>
            <a:r>
              <a:rPr lang="en-US" altLang="zh-CN" dirty="0"/>
              <a:t>-python -t dssat-strawberry-python-numba2</a:t>
            </a:r>
          </a:p>
          <a:p>
            <a:r>
              <a:rPr lang="zh-CN" altLang="en-US" dirty="0"/>
              <a:t>检查镜像是否存在：</a:t>
            </a:r>
            <a:endParaRPr lang="en-US" altLang="zh-CN" dirty="0"/>
          </a:p>
          <a:p>
            <a:r>
              <a:rPr lang="en-US" altLang="zh-CN" dirty="0"/>
              <a:t>docker images | grep dssat-strawberry-python-numba2</a:t>
            </a:r>
            <a:endParaRPr lang="zh-CN" altLang="en-US" dirty="0"/>
          </a:p>
          <a:p>
            <a:endParaRPr lang="zh-CN" altLang="zh-CN" dirty="0"/>
          </a:p>
          <a:p>
            <a:endParaRPr lang="zh-CN" altLang="en-US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7C45B20-6891-2BD3-38C4-1AD2484D0152}"/>
              </a:ext>
            </a:extLst>
          </p:cNvPr>
          <p:cNvSpPr txBox="1"/>
          <p:nvPr/>
        </p:nvSpPr>
        <p:spPr>
          <a:xfrm>
            <a:off x="6526715" y="990600"/>
            <a:ext cx="18349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b="1" dirty="0"/>
              <a:t>安装</a:t>
            </a:r>
            <a:r>
              <a:rPr lang="en-US" altLang="zh-CN" b="1" dirty="0" err="1"/>
              <a:t>wsl</a:t>
            </a:r>
            <a:r>
              <a:rPr lang="en-US" altLang="zh-CN" b="1" dirty="0"/>
              <a:t>:</a:t>
            </a:r>
            <a:endParaRPr lang="zh-CN" altLang="en-US" b="1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6BB82FC-1920-ECB0-6399-7D7006B17BE2}"/>
              </a:ext>
            </a:extLst>
          </p:cNvPr>
          <p:cNvSpPr txBox="1"/>
          <p:nvPr/>
        </p:nvSpPr>
        <p:spPr>
          <a:xfrm>
            <a:off x="6548119" y="1335683"/>
            <a:ext cx="4720505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WSL </a:t>
            </a:r>
            <a:r>
              <a:rPr lang="zh-CN" altLang="zh-CN" sz="1200" dirty="0"/>
              <a:t>就是</a:t>
            </a:r>
            <a:r>
              <a:rPr lang="en-US" altLang="zh-CN" sz="1200" dirty="0"/>
              <a:t> Windows </a:t>
            </a:r>
            <a:r>
              <a:rPr lang="zh-CN" altLang="zh-CN" sz="1200" dirty="0"/>
              <a:t>自带的迷你</a:t>
            </a:r>
            <a:r>
              <a:rPr lang="en-US" altLang="zh-CN" sz="1200" dirty="0"/>
              <a:t> Linux </a:t>
            </a:r>
            <a:r>
              <a:rPr lang="zh-CN" altLang="zh-CN" sz="1200" dirty="0"/>
              <a:t>系统，装完它电脑里才有</a:t>
            </a:r>
            <a:r>
              <a:rPr lang="en-US" altLang="zh-CN" sz="1200" dirty="0"/>
              <a:t> Linux </a:t>
            </a:r>
            <a:r>
              <a:rPr lang="zh-CN" altLang="zh-CN" sz="1200" dirty="0"/>
              <a:t>环境，</a:t>
            </a:r>
            <a:r>
              <a:rPr lang="en-US" altLang="zh-CN" sz="1200" dirty="0"/>
              <a:t>Docker </a:t>
            </a:r>
            <a:r>
              <a:rPr lang="zh-CN" altLang="zh-CN" sz="1200" dirty="0"/>
              <a:t>才能正常干活。不装</a:t>
            </a:r>
            <a:r>
              <a:rPr lang="en-US" altLang="zh-CN" sz="1200" dirty="0"/>
              <a:t> WSL </a:t>
            </a:r>
            <a:r>
              <a:rPr lang="zh-CN" altLang="zh-CN" sz="1200" dirty="0"/>
              <a:t>的话，</a:t>
            </a:r>
            <a:r>
              <a:rPr lang="en-US" altLang="zh-CN" sz="1200" dirty="0"/>
              <a:t>Docker Desktop </a:t>
            </a:r>
            <a:r>
              <a:rPr lang="zh-CN" altLang="zh-CN" sz="1200" dirty="0"/>
              <a:t>根本打不开，</a:t>
            </a:r>
            <a:r>
              <a:rPr lang="en-US" altLang="zh-CN" sz="1200" dirty="0"/>
              <a:t>docker build </a:t>
            </a:r>
            <a:r>
              <a:rPr lang="zh-CN" altLang="zh-CN" sz="1200" dirty="0"/>
              <a:t>打包镜像的命令直接用不了。</a:t>
            </a:r>
            <a:endParaRPr lang="en-US" altLang="zh-CN" sz="1200" dirty="0"/>
          </a:p>
          <a:p>
            <a:endParaRPr lang="en-US" altLang="zh-CN" sz="1200" dirty="0"/>
          </a:p>
          <a:p>
            <a:r>
              <a:rPr lang="zh-CN" altLang="zh-CN" sz="1200" dirty="0"/>
              <a:t>安装方法：</a:t>
            </a:r>
            <a:r>
              <a:rPr lang="en-US" altLang="zh-CN" sz="1200" dirty="0" err="1"/>
              <a:t>win+x</a:t>
            </a:r>
            <a:r>
              <a:rPr lang="en-US" altLang="zh-CN" sz="1200" dirty="0"/>
              <a:t>,</a:t>
            </a:r>
            <a:r>
              <a:rPr lang="zh-CN" altLang="zh-CN" sz="1200" dirty="0"/>
              <a:t>选择终端，输入</a:t>
            </a:r>
            <a:r>
              <a:rPr lang="en-US" altLang="zh-CN" sz="1200" dirty="0" err="1"/>
              <a:t>wsl</a:t>
            </a:r>
            <a:r>
              <a:rPr lang="en-US" altLang="zh-CN" sz="1200" dirty="0"/>
              <a:t> –install</a:t>
            </a:r>
            <a:r>
              <a:rPr lang="zh-CN" altLang="zh-CN" sz="1200" dirty="0"/>
              <a:t>，就会自动下载</a:t>
            </a:r>
          </a:p>
          <a:p>
            <a:endParaRPr lang="zh-CN" altLang="zh-C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1905000"/>
            <a:ext cx="762000" cy="76200"/>
          </a:xfrm>
          <a:prstGeom prst="roundRect">
            <a:avLst>
              <a:gd name="adj" fmla="val 0"/>
            </a:avLst>
          </a:prstGeom>
          <a:solidFill>
            <a:srgbClr val="2496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22225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496ED"/>
                </a:solidFill>
                <a:latin typeface="Noto Sans SC"/>
                <a:ea typeface="Noto Sans SC"/>
                <a:cs typeface="Noto Sans SC"/>
                <a:sym typeface="Noto Sans SC"/>
              </a:rPr>
              <a:t>PART 03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794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使用Docker运行DSSAT模型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4092">
            <a:off x="762004" y="405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496ED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762000" y="4572000"/>
            <a:ext cx="5270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762000" y="4572000"/>
            <a:ext cx="76200" cy="1397000"/>
          </a:xfrm>
          <a:prstGeom prst="roundRect">
            <a:avLst>
              <a:gd name="adj" fmla="val 0"/>
            </a:avLst>
          </a:prstGeom>
          <a:solidFill>
            <a:srgbClr val="2496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016000" y="4699000"/>
            <a:ext cx="4762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核心概念与准备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首先概览DSSAT模型的核心架构，解析其运行依赖环境的复杂性。我们将展示如何通过Docker容器化技术，封装所有依赖，消除环境配置的“地狱”。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286500" y="4572000"/>
            <a:ext cx="5270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286500" y="4572000"/>
            <a:ext cx="76200" cy="1397000"/>
          </a:xfrm>
          <a:prstGeom prst="roundRect">
            <a:avLst>
              <a:gd name="adj" fmla="val 0"/>
            </a:avLst>
          </a:prstGeom>
          <a:solidFill>
            <a:srgbClr val="2496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540500" y="4699000"/>
            <a:ext cx="4762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构建与运行实战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深入剖析定制化Dockerfile的编写逻辑，从基础镜像选择到环境变量配置。并提供完整的docker build与docker run命令示例，实现模型的一键部署与运行。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DSSAT模型简介与容器化优势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t="12146" b="12146"/>
          <a:stretch>
            <a:fillRect/>
          </a:stretch>
        </p:blipFill>
        <p:spPr>
          <a:xfrm>
            <a:off x="762000" y="1778000"/>
            <a:ext cx="3556000" cy="3048000"/>
          </a:xfrm>
          <a:prstGeom prst="rect">
            <a:avLst/>
          </a:prstGeom>
          <a:noFill/>
          <a:ln w="12700" cap="flat" cmpd="sng">
            <a:solidFill>
              <a:srgbClr val="2496ED">
                <a:alpha val="30000"/>
              </a:srgbClr>
            </a:solidFill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5080000"/>
            <a:ext cx="3556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889000" y="5207000"/>
            <a:ext cx="330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DSSAT是一款经典的作物系统模型，可模拟多种作物在不同土壤、气候和管理措施下的生长发育过程。其复杂的模块化结构使其成为农业科研的重要工具，但也带来了环境配置的挑战。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5390450">
            <a:off x="2540000" y="4057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496ED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5207000" y="1778000"/>
            <a:ext cx="6223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5207000" y="1778000"/>
            <a:ext cx="76200" cy="1333500"/>
          </a:xfrm>
          <a:prstGeom prst="roundRect">
            <a:avLst>
              <a:gd name="adj" fmla="val 0"/>
            </a:avLst>
          </a:prstGeom>
          <a:solidFill>
            <a:srgbClr val="2496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61000" y="1968500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096000" y="1905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跨平台无缝运行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8594">
            <a:off x="6096008" y="23431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096000" y="2438400"/>
            <a:ext cx="508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基于Docker容器化技术，彻底打破Windows、macOS、Linux系统壁垒，用户无需适配底层环境，实现“一次打包，随处运行”。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207000" y="3365500"/>
            <a:ext cx="6223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5207000" y="3365500"/>
            <a:ext cx="76200" cy="1333500"/>
          </a:xfrm>
          <a:prstGeom prst="roundRect">
            <a:avLst>
              <a:gd name="adj" fmla="val 0"/>
            </a:avLst>
          </a:prstGeom>
          <a:solidFill>
            <a:srgbClr val="2496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61000" y="3556000"/>
            <a:ext cx="457200" cy="4572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096000" y="3492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科研环境绝对一致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8594">
            <a:off x="6096008" y="39306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6096000" y="4025900"/>
            <a:ext cx="508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封装完整的依赖库与软件版本，确保所有模拟实验在完全相同的环境中执行，从根源上消除因系统配置差异导致的模拟结果不一致问题。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5207000" y="4953000"/>
            <a:ext cx="6223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5207000" y="4953000"/>
            <a:ext cx="76200" cy="1333500"/>
          </a:xfrm>
          <a:prstGeom prst="roundRect">
            <a:avLst>
              <a:gd name="adj" fmla="val 0"/>
            </a:avLst>
          </a:prstGeom>
          <a:solidFill>
            <a:srgbClr val="2496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61000" y="5143500"/>
            <a:ext cx="457200" cy="4572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6096000" y="5080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高效分发与快速部署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8594">
            <a:off x="6096008" y="55181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6096000" y="5613400"/>
            <a:ext cx="508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标准化的镜像文件可在团队和研究机构间自由共享，接收方无需繁琐配置，一键加载即可复现研究成果，大幅降低协作与部署成本。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构建与运行命令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705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2496E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76200" cy="3048000"/>
          </a:xfrm>
          <a:prstGeom prst="roundRect">
            <a:avLst>
              <a:gd name="adj" fmla="val 0"/>
            </a:avLst>
          </a:prstGeom>
          <a:solidFill>
            <a:srgbClr val="2496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7" name="Connector 7"/>
          <p:cNvCxnSpPr/>
          <p:nvPr/>
        </p:nvCxnSpPr>
        <p:spPr>
          <a:xfrm rot="-9167">
            <a:off x="1016008" y="2470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496ED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6286499" y="1747795"/>
            <a:ext cx="52705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2496E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286500" y="1778000"/>
            <a:ext cx="76200" cy="3048000"/>
          </a:xfrm>
          <a:prstGeom prst="roundRect">
            <a:avLst>
              <a:gd name="adj" fmla="val 0"/>
            </a:avLst>
          </a:prstGeom>
          <a:solidFill>
            <a:srgbClr val="2496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540499" y="18923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2496ED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800" b="1" i="0" u="none" strike="noStrike" dirty="0" err="1">
                <a:solidFill>
                  <a:srgbClr val="2496ED"/>
                </a:solidFill>
                <a:latin typeface="Noto Sans SC"/>
                <a:ea typeface="Noto Sans SC"/>
                <a:cs typeface="Noto Sans SC"/>
                <a:sym typeface="Noto Sans SC"/>
              </a:rPr>
              <a:t>运行</a:t>
            </a:r>
            <a:r>
              <a:rPr lang="en-US" sz="1800" b="1" i="0" u="none" strike="noStrike" dirty="0">
                <a:solidFill>
                  <a:srgbClr val="2496ED"/>
                </a:solidFill>
                <a:latin typeface="Noto Sans SC"/>
                <a:ea typeface="Noto Sans SC"/>
                <a:cs typeface="Noto Sans SC"/>
                <a:sym typeface="Noto Sans SC"/>
              </a:rPr>
              <a:t> DSSAT </a:t>
            </a:r>
            <a:r>
              <a:rPr lang="en-US" sz="1800" b="1" i="0" u="none" strike="noStrike" dirty="0" err="1">
                <a:solidFill>
                  <a:srgbClr val="2496ED"/>
                </a:solidFill>
                <a:latin typeface="Noto Sans SC"/>
                <a:ea typeface="Noto Sans SC"/>
                <a:cs typeface="Noto Sans SC"/>
                <a:sym typeface="Noto Sans SC"/>
              </a:rPr>
              <a:t>容器</a:t>
            </a:r>
            <a:endParaRPr lang="en-US" sz="1100" dirty="0"/>
          </a:p>
        </p:txBody>
      </p:sp>
      <p:cxnSp>
        <p:nvCxnSpPr>
          <p:cNvPr id="12" name="Connector 12"/>
          <p:cNvCxnSpPr/>
          <p:nvPr/>
        </p:nvCxnSpPr>
        <p:spPr>
          <a:xfrm rot="-9167">
            <a:off x="6540508" y="2470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496ED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540499" y="2552700"/>
            <a:ext cx="47625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en-US" sz="1200" dirty="0" err="1">
                <a:sym typeface="Roboto Mono"/>
              </a:rPr>
              <a:t>运行单个实验</a:t>
            </a:r>
            <a:r>
              <a:rPr lang="en-US" sz="1200" dirty="0">
                <a:sym typeface="Roboto Mono"/>
              </a:rPr>
              <a:t> (</a:t>
            </a:r>
            <a:r>
              <a:rPr lang="zh-CN" altLang="en-US" sz="1200" dirty="0">
                <a:sym typeface="Roboto Mono"/>
              </a:rPr>
              <a:t>以</a:t>
            </a:r>
            <a:r>
              <a:rPr lang="en-US" altLang="zh-CN" sz="1200" dirty="0">
                <a:sym typeface="Roboto Mono"/>
              </a:rPr>
              <a:t>2014</a:t>
            </a:r>
            <a:r>
              <a:rPr lang="zh-CN" altLang="en-US" sz="1200" dirty="0">
                <a:sym typeface="Roboto Mono"/>
              </a:rPr>
              <a:t>实验实验为例</a:t>
            </a:r>
            <a:r>
              <a:rPr lang="en-US" sz="1200" dirty="0">
                <a:sym typeface="Roboto Mono"/>
              </a:rPr>
              <a:t>)</a:t>
            </a:r>
            <a:br>
              <a:rPr lang="en-US" sz="1200" dirty="0">
                <a:sym typeface="Roboto Mono"/>
              </a:rPr>
            </a:br>
            <a:r>
              <a:rPr lang="zh-CN" altLang="zh-CN" dirty="0"/>
              <a:t>docker run --rm -v ${PWD}:/data -w /data dssat-strawberry-python-numba2:latest /app/dssat/dscsm048 A UFBA1401.SRX</a:t>
            </a:r>
          </a:p>
          <a:p>
            <a:pPr>
              <a:defRPr/>
            </a:pPr>
            <a:r>
              <a:rPr lang="en-US" sz="1200" dirty="0" err="1">
                <a:sym typeface="Roboto Mono"/>
              </a:rPr>
              <a:t>运行批处理文件</a:t>
            </a:r>
            <a:r>
              <a:rPr lang="en-US" sz="1200" dirty="0">
                <a:sym typeface="Roboto Mono"/>
              </a:rPr>
              <a:t> (</a:t>
            </a:r>
            <a:r>
              <a:rPr lang="en-US" sz="1200" dirty="0" err="1">
                <a:sym typeface="Roboto Mono"/>
              </a:rPr>
              <a:t>文件</a:t>
            </a:r>
            <a:r>
              <a:rPr lang="en-US" sz="1200" dirty="0">
                <a:sym typeface="Roboto Mono"/>
              </a:rPr>
              <a:t> MYBATCH.BCH)</a:t>
            </a:r>
            <a:br>
              <a:rPr lang="en-US" sz="1200" dirty="0">
                <a:sym typeface="Roboto Mono"/>
              </a:rPr>
            </a:br>
            <a:r>
              <a:rPr lang="zh-CN" altLang="zh-CN" dirty="0"/>
              <a:t>docker run --rm -v ${PWD}:/data -w /data dssat-strawberry-python-numba2:latest bash -c "sed 's|C:\\\\DSSAT48\\\\Strawberry\\\\|/data/Strawberry/|g' /app/dssat/BatchFiles/Strawberry.v48 &gt; /data/dssat-csm-data-develop/StrawberryDockerCreate1.v48"</a:t>
            </a:r>
          </a:p>
          <a:p>
            <a:pPr indent="0">
              <a:defRPr/>
            </a:pPr>
            <a:endParaRPr lang="en-US" sz="1200" dirty="0"/>
          </a:p>
        </p:txBody>
      </p:sp>
      <p:sp>
        <p:nvSpPr>
          <p:cNvPr id="14" name="AutoShape 14"/>
          <p:cNvSpPr/>
          <p:nvPr/>
        </p:nvSpPr>
        <p:spPr>
          <a:xfrm>
            <a:off x="762000" y="5207000"/>
            <a:ext cx="5270500" cy="1206500"/>
          </a:xfrm>
          <a:prstGeom prst="roundRect">
            <a:avLst>
              <a:gd name="adj" fmla="val 0"/>
            </a:avLst>
          </a:prstGeom>
          <a:solidFill>
            <a:srgbClr val="2496ED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53975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397000" y="5359400"/>
            <a:ext cx="444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--rm 容器自动清理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容器运行结束并退出后，自动删除该容器实例，避免系统中堆积大量停止的容器，节省磁盘空间。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86500" y="5207000"/>
            <a:ext cx="5270500" cy="1206500"/>
          </a:xfrm>
          <a:prstGeom prst="roundRect">
            <a:avLst>
              <a:gd name="adj" fmla="val 0"/>
            </a:avLst>
          </a:prstGeom>
          <a:solidFill>
            <a:srgbClr val="2496ED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5397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921500" y="5359400"/>
            <a:ext cx="444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-v 本地目录挂载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将当前工作目录 (${PWD}) 挂载到容器内的 /data 目录，实现本地文件与容器的数据互通，让DSSAT直接读写本地输入输出文件。</a:t>
            </a:r>
            <a:endParaRPr lang="en-US" sz="110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AD853FB-D0B6-1235-AD36-DFAF64471A6B}"/>
              </a:ext>
            </a:extLst>
          </p:cNvPr>
          <p:cNvSpPr txBox="1"/>
          <p:nvPr/>
        </p:nvSpPr>
        <p:spPr>
          <a:xfrm>
            <a:off x="1104900" y="1955800"/>
            <a:ext cx="2614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1" dirty="0">
                <a:solidFill>
                  <a:srgbClr val="2496ED"/>
                </a:solidFill>
                <a:latin typeface="Noto Sans SC"/>
                <a:ea typeface="Noto Sans SC"/>
              </a:rPr>
              <a:t>环境构建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5B5FB14-97A1-21F2-B641-D17B0E28FD0C}"/>
              </a:ext>
            </a:extLst>
          </p:cNvPr>
          <p:cNvSpPr txBox="1"/>
          <p:nvPr/>
        </p:nvSpPr>
        <p:spPr>
          <a:xfrm>
            <a:off x="1104900" y="2552700"/>
            <a:ext cx="376160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安装</a:t>
            </a:r>
            <a:r>
              <a:rPr lang="en-US" altLang="zh-CN" dirty="0"/>
              <a:t>python</a:t>
            </a:r>
            <a:r>
              <a:rPr lang="zh-CN" altLang="en-US" dirty="0"/>
              <a:t>依赖</a:t>
            </a:r>
            <a:endParaRPr lang="en-US" altLang="zh-CN" dirty="0"/>
          </a:p>
          <a:p>
            <a:r>
              <a:rPr lang="en-US" altLang="zh-CN" sz="1200" dirty="0"/>
              <a:t>Pip install –r requirement</a:t>
            </a:r>
            <a:r>
              <a:rPr lang="zh-CN" altLang="en-US" sz="1200" dirty="0"/>
              <a:t>。</a:t>
            </a:r>
            <a:r>
              <a:rPr lang="en-US" altLang="zh-CN" sz="1200" dirty="0"/>
              <a:t>Txt</a:t>
            </a:r>
          </a:p>
          <a:p>
            <a:endParaRPr lang="en-US" altLang="zh-CN" sz="1200" dirty="0"/>
          </a:p>
          <a:p>
            <a:r>
              <a:rPr lang="zh-CN" altLang="en-US" sz="1200" dirty="0"/>
              <a:t>导航到草莓数据目录</a:t>
            </a:r>
            <a:endParaRPr lang="en-US" altLang="zh-CN" sz="1200" dirty="0"/>
          </a:p>
          <a:p>
            <a:r>
              <a:rPr lang="en-US" altLang="zh-CN" sz="1200" dirty="0"/>
              <a:t>cd </a:t>
            </a:r>
            <a:r>
              <a:rPr lang="en-US" altLang="zh-CN" sz="1200" dirty="0" err="1"/>
              <a:t>dssat</a:t>
            </a:r>
            <a:r>
              <a:rPr lang="en-US" altLang="zh-CN" sz="1200" dirty="0"/>
              <a:t>-</a:t>
            </a:r>
            <a:r>
              <a:rPr lang="en-US" altLang="zh-CN" sz="1200" dirty="0" err="1"/>
              <a:t>csm</a:t>
            </a:r>
            <a:r>
              <a:rPr lang="en-US" altLang="zh-CN" sz="1200" dirty="0"/>
              <a:t>-data-develop/Strawberry</a:t>
            </a:r>
          </a:p>
          <a:p>
            <a:endParaRPr lang="en-US" altLang="zh-CN" sz="1200" dirty="0"/>
          </a:p>
          <a:p>
            <a:r>
              <a:rPr lang="zh-CN" altLang="en-US" sz="1200" dirty="0"/>
              <a:t>确认文件存在</a:t>
            </a:r>
            <a:endParaRPr lang="en-US" altLang="zh-CN" sz="1200" dirty="0"/>
          </a:p>
          <a:p>
            <a:r>
              <a:rPr lang="en-US" altLang="zh-CN" sz="1200" dirty="0" err="1"/>
              <a:t>dir</a:t>
            </a:r>
            <a:r>
              <a:rPr lang="en-US" altLang="zh-CN" sz="1200" dirty="0"/>
              <a:t> UFBA1401.SRX</a:t>
            </a:r>
            <a:endParaRPr lang="zh-CN" alt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508000" y="275791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04 </a:t>
            </a:r>
            <a:r>
              <a:rPr lang="en-US" sz="32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结果展示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2031999"/>
            <a:ext cx="10668000" cy="4471095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496E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0B8C8FB-DA2F-1D18-6E20-F3DA44A3BACD}"/>
              </a:ext>
            </a:extLst>
          </p:cNvPr>
          <p:cNvSpPr txBox="1"/>
          <p:nvPr/>
        </p:nvSpPr>
        <p:spPr>
          <a:xfrm>
            <a:off x="576649" y="1001916"/>
            <a:ext cx="1926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1" dirty="0"/>
              <a:t>以</a:t>
            </a:r>
            <a:r>
              <a:rPr lang="en-US" altLang="zh-CN" sz="1800" b="1" dirty="0"/>
              <a:t>2014</a:t>
            </a:r>
            <a:r>
              <a:rPr lang="zh-CN" altLang="en-US" sz="1800" b="1" dirty="0"/>
              <a:t>实验为例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D0AB875-6DE5-E0BE-54DF-B8B75ADD4259}"/>
              </a:ext>
            </a:extLst>
          </p:cNvPr>
          <p:cNvSpPr/>
          <p:nvPr/>
        </p:nvSpPr>
        <p:spPr>
          <a:xfrm>
            <a:off x="3240217" y="280764"/>
            <a:ext cx="7843795" cy="145913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C09E5FC-C67C-8CA3-5D96-CDE600518B2D}"/>
              </a:ext>
            </a:extLst>
          </p:cNvPr>
          <p:cNvSpPr txBox="1"/>
          <p:nvPr/>
        </p:nvSpPr>
        <p:spPr>
          <a:xfrm>
            <a:off x="3264930" y="354905"/>
            <a:ext cx="816507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PS D:\project\CN-strawberryDSSAT-main\dssat-csm-data-develop\Strawberry&gt; docker run --rm -v ${PWD}:/data -w /data dssat-strawberry-python-numba2:latest /app/</a:t>
            </a:r>
            <a:r>
              <a:rPr lang="en-US" altLang="zh-CN" dirty="0" err="1">
                <a:solidFill>
                  <a:schemeClr val="bg1"/>
                </a:solidFill>
              </a:rPr>
              <a:t>dssat</a:t>
            </a:r>
            <a:r>
              <a:rPr lang="en-US" altLang="zh-CN" dirty="0">
                <a:solidFill>
                  <a:schemeClr val="bg1"/>
                </a:solidFill>
              </a:rPr>
              <a:t>/dscsm048 A UFBA1401.SRX</a:t>
            </a:r>
          </a:p>
          <a:p>
            <a:r>
              <a:rPr lang="en-US" altLang="zh-CN" dirty="0">
                <a:solidFill>
                  <a:schemeClr val="bg1"/>
                </a:solidFill>
              </a:rPr>
              <a:t>RUN    TRT FLO MAT TOPWT HARWT  RAIN  TIRR   CET  PESW  TNUP  TNLF   TSON TSOC</a:t>
            </a:r>
          </a:p>
          <a:p>
            <a:r>
              <a:rPr lang="en-US" altLang="zh-CN" dirty="0">
                <a:solidFill>
                  <a:schemeClr val="bg1"/>
                </a:solidFill>
              </a:rPr>
              <a:t>           dap </a:t>
            </a:r>
            <a:r>
              <a:rPr lang="en-US" altLang="zh-CN" dirty="0" err="1">
                <a:solidFill>
                  <a:schemeClr val="bg1"/>
                </a:solidFill>
              </a:rPr>
              <a:t>dap</a:t>
            </a:r>
            <a:r>
              <a:rPr lang="en-US" altLang="zh-CN" dirty="0">
                <a:solidFill>
                  <a:schemeClr val="bg1"/>
                </a:solidFill>
              </a:rPr>
              <a:t> kg/ha kg/ha    mm    </a:t>
            </a:r>
            <a:r>
              <a:rPr lang="en-US" altLang="zh-CN" dirty="0" err="1">
                <a:solidFill>
                  <a:schemeClr val="bg1"/>
                </a:solidFill>
              </a:rPr>
              <a:t>mm</a:t>
            </a:r>
            <a:r>
              <a:rPr lang="en-US" altLang="zh-CN" dirty="0">
                <a:solidFill>
                  <a:schemeClr val="bg1"/>
                </a:solidFill>
              </a:rPr>
              <a:t>    </a:t>
            </a:r>
            <a:r>
              <a:rPr lang="en-US" altLang="zh-CN" dirty="0" err="1">
                <a:solidFill>
                  <a:schemeClr val="bg1"/>
                </a:solidFill>
              </a:rPr>
              <a:t>mm</a:t>
            </a:r>
            <a:r>
              <a:rPr lang="en-US" altLang="zh-CN" dirty="0">
                <a:solidFill>
                  <a:schemeClr val="bg1"/>
                </a:solidFill>
              </a:rPr>
              <a:t>    </a:t>
            </a:r>
            <a:r>
              <a:rPr lang="en-US" altLang="zh-CN" dirty="0" err="1">
                <a:solidFill>
                  <a:schemeClr val="bg1"/>
                </a:solidFill>
              </a:rPr>
              <a:t>mm</a:t>
            </a:r>
            <a:r>
              <a:rPr lang="en-US" altLang="zh-CN" dirty="0">
                <a:solidFill>
                  <a:schemeClr val="bg1"/>
                </a:solidFill>
              </a:rPr>
              <a:t> kg/ha kg/ha  kg/ha t/ha</a:t>
            </a:r>
          </a:p>
          <a:p>
            <a:r>
              <a:rPr lang="en-US" altLang="zh-CN" dirty="0">
                <a:solidFill>
                  <a:schemeClr val="bg1"/>
                </a:solidFill>
              </a:rPr>
              <a:t>  1 SR   1  23 -99  1804    52   -99     0   -99   -99     0   -99      0   26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3F2B3E1A-25AB-FE40-B1A9-694C91F519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368" y="2161096"/>
            <a:ext cx="3215573" cy="4106867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5852AB94-90E2-4957-55DF-D14E645742A1}"/>
              </a:ext>
            </a:extLst>
          </p:cNvPr>
          <p:cNvSpPr txBox="1"/>
          <p:nvPr/>
        </p:nvSpPr>
        <p:spPr>
          <a:xfrm>
            <a:off x="4400310" y="2158656"/>
            <a:ext cx="3788469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关键结果解读 </a:t>
            </a:r>
            <a:endParaRPr lang="en-US" altLang="zh-CN" b="1" dirty="0"/>
          </a:p>
          <a:p>
            <a:r>
              <a:rPr lang="zh-CN" altLang="en-US" dirty="0"/>
              <a:t>🍓 </a:t>
            </a:r>
            <a:r>
              <a:rPr lang="zh-CN" altLang="en-US" sz="1200" dirty="0"/>
              <a:t>生长指标</a:t>
            </a:r>
            <a:endParaRPr lang="en-US" altLang="zh-CN" sz="1200" dirty="0"/>
          </a:p>
          <a:p>
            <a:pPr marL="285750" indent="-285750">
              <a:buFontTx/>
              <a:buChar char="-"/>
            </a:pPr>
            <a:r>
              <a:rPr lang="zh-CN" altLang="en-US" sz="1200" dirty="0"/>
              <a:t>开花天数（</a:t>
            </a:r>
            <a:r>
              <a:rPr lang="en-US" altLang="zh-CN" sz="1200" dirty="0"/>
              <a:t>FLO</a:t>
            </a:r>
            <a:r>
              <a:rPr lang="zh-CN" altLang="en-US" sz="1200" dirty="0"/>
              <a:t>）</a:t>
            </a:r>
            <a:r>
              <a:rPr lang="en-US" altLang="zh-CN" sz="1200" dirty="0"/>
              <a:t>= 23</a:t>
            </a:r>
            <a:r>
              <a:rPr lang="zh-CN" altLang="en-US" sz="1200" dirty="0"/>
              <a:t>天 ：草莓在种植后第</a:t>
            </a:r>
            <a:r>
              <a:rPr lang="en-US" altLang="zh-CN" sz="1200" dirty="0"/>
              <a:t>23</a:t>
            </a:r>
            <a:r>
              <a:rPr lang="zh-CN" altLang="en-US" sz="1200" dirty="0"/>
              <a:t>天开花</a:t>
            </a:r>
            <a:endParaRPr lang="en-US" altLang="zh-CN" sz="1200" dirty="0"/>
          </a:p>
          <a:p>
            <a:pPr marL="285750" indent="-285750">
              <a:buFontTx/>
              <a:buChar char="-"/>
            </a:pPr>
            <a:r>
              <a:rPr lang="zh-CN" altLang="en-US" sz="1200" dirty="0"/>
              <a:t>成熟天数（</a:t>
            </a:r>
            <a:r>
              <a:rPr lang="en-US" altLang="zh-CN" sz="1200" dirty="0"/>
              <a:t>MAT</a:t>
            </a:r>
            <a:r>
              <a:rPr lang="zh-CN" altLang="en-US" sz="1200" dirty="0"/>
              <a:t>）</a:t>
            </a:r>
            <a:r>
              <a:rPr lang="en-US" altLang="zh-CN" sz="1200" dirty="0"/>
              <a:t>= -99 </a:t>
            </a:r>
            <a:r>
              <a:rPr lang="zh-CN" altLang="en-US" sz="1200" dirty="0"/>
              <a:t>：模型未计算到成熟期（可能模拟时长不够）</a:t>
            </a:r>
            <a:endParaRPr lang="en-US" altLang="zh-CN" sz="1200" dirty="0"/>
          </a:p>
          <a:p>
            <a:pPr marL="285750" indent="-285750">
              <a:buFontTx/>
              <a:buChar char="-"/>
            </a:pPr>
            <a:r>
              <a:rPr lang="zh-CN" altLang="en-US" sz="1200" dirty="0"/>
              <a:t>地上部总生物量（</a:t>
            </a:r>
            <a:r>
              <a:rPr lang="en-US" altLang="zh-CN" sz="1200" dirty="0"/>
              <a:t>TOPWT</a:t>
            </a:r>
            <a:r>
              <a:rPr lang="zh-CN" altLang="en-US" sz="1200" dirty="0"/>
              <a:t>）</a:t>
            </a:r>
            <a:r>
              <a:rPr lang="en-US" altLang="zh-CN" sz="1200" dirty="0"/>
              <a:t>= 1804 kg/ha </a:t>
            </a:r>
            <a:r>
              <a:rPr lang="zh-CN" altLang="en-US" sz="1200" dirty="0"/>
              <a:t>：草莓植株的地上部分总重量</a:t>
            </a:r>
            <a:endParaRPr lang="en-US" altLang="zh-CN" sz="1200" dirty="0"/>
          </a:p>
          <a:p>
            <a:pPr marL="285750" indent="-285750">
              <a:buFontTx/>
              <a:buChar char="-"/>
            </a:pPr>
            <a:r>
              <a:rPr lang="zh-CN" altLang="en-US" sz="1200" dirty="0"/>
              <a:t>收获重量（</a:t>
            </a:r>
            <a:r>
              <a:rPr lang="en-US" altLang="zh-CN" sz="1200" dirty="0"/>
              <a:t>HARWT</a:t>
            </a:r>
            <a:r>
              <a:rPr lang="zh-CN" altLang="en-US" sz="1200" dirty="0"/>
              <a:t>）</a:t>
            </a:r>
            <a:r>
              <a:rPr lang="en-US" altLang="zh-CN" sz="1200" dirty="0"/>
              <a:t>= 52 kg/ha </a:t>
            </a:r>
            <a:r>
              <a:rPr lang="zh-CN" altLang="en-US" sz="1200" dirty="0"/>
              <a:t>：草莓果实的收获产量 </a:t>
            </a:r>
            <a:endParaRPr lang="en-US" altLang="zh-CN" sz="1200" dirty="0"/>
          </a:p>
          <a:p>
            <a:r>
              <a:rPr lang="zh-CN" altLang="en-US" sz="1200" dirty="0"/>
              <a:t>💧 水分指标</a:t>
            </a:r>
            <a:endParaRPr lang="en-US" altLang="zh-CN" sz="1200" dirty="0"/>
          </a:p>
          <a:p>
            <a:pPr marL="285750" indent="-285750">
              <a:buFontTx/>
              <a:buChar char="-"/>
            </a:pPr>
            <a:r>
              <a:rPr lang="zh-CN" altLang="en-US" sz="1200" dirty="0"/>
              <a:t>灌溉量（</a:t>
            </a:r>
            <a:r>
              <a:rPr lang="en-US" altLang="zh-CN" sz="1200" dirty="0"/>
              <a:t>TIRR</a:t>
            </a:r>
            <a:r>
              <a:rPr lang="zh-CN" altLang="en-US" sz="1200" dirty="0"/>
              <a:t>）</a:t>
            </a:r>
            <a:r>
              <a:rPr lang="en-US" altLang="zh-CN" sz="1200" dirty="0"/>
              <a:t>= 0 mm </a:t>
            </a:r>
            <a:r>
              <a:rPr lang="zh-CN" altLang="en-US" sz="1200" dirty="0"/>
              <a:t>：本次模拟未进行灌溉</a:t>
            </a:r>
            <a:endParaRPr lang="en-US" altLang="zh-CN" sz="1200" dirty="0"/>
          </a:p>
          <a:p>
            <a:pPr marL="285750" indent="-285750">
              <a:buFontTx/>
              <a:buChar char="-"/>
            </a:pPr>
            <a:r>
              <a:rPr lang="zh-CN" altLang="en-US" sz="1200" dirty="0"/>
              <a:t>降雨量（</a:t>
            </a:r>
            <a:r>
              <a:rPr lang="en-US" altLang="zh-CN" sz="1200" dirty="0"/>
              <a:t>RAIN</a:t>
            </a:r>
            <a:r>
              <a:rPr lang="zh-CN" altLang="en-US" sz="1200" dirty="0"/>
              <a:t>）</a:t>
            </a:r>
            <a:r>
              <a:rPr lang="en-US" altLang="zh-CN" sz="1200" dirty="0"/>
              <a:t>= -99 </a:t>
            </a:r>
            <a:r>
              <a:rPr lang="zh-CN" altLang="en-US" sz="1200" dirty="0"/>
              <a:t>：未使用降雨数据或未计算 </a:t>
            </a:r>
            <a:endParaRPr lang="en-US" altLang="zh-CN" sz="1200" dirty="0"/>
          </a:p>
          <a:p>
            <a:r>
              <a:rPr lang="zh-CN" altLang="en-US" sz="1200" dirty="0"/>
              <a:t>🌾 养分指标</a:t>
            </a:r>
            <a:endParaRPr lang="en-US" altLang="zh-CN" sz="1200" dirty="0"/>
          </a:p>
          <a:p>
            <a:pPr marL="285750" indent="-285750">
              <a:buFontTx/>
              <a:buChar char="-"/>
            </a:pPr>
            <a:r>
              <a:rPr lang="zh-CN" altLang="en-US" sz="1200" dirty="0"/>
              <a:t>总氮吸收量（</a:t>
            </a:r>
            <a:r>
              <a:rPr lang="en-US" altLang="zh-CN" sz="1200" dirty="0"/>
              <a:t>TNUP</a:t>
            </a:r>
            <a:r>
              <a:rPr lang="zh-CN" altLang="en-US" sz="1200" dirty="0"/>
              <a:t>）</a:t>
            </a:r>
            <a:r>
              <a:rPr lang="en-US" altLang="zh-CN" sz="1200" dirty="0"/>
              <a:t>= 0 kg/ha </a:t>
            </a:r>
            <a:r>
              <a:rPr lang="zh-CN" altLang="en-US" sz="1200" dirty="0"/>
              <a:t>：植物吸收的氮素总量</a:t>
            </a:r>
            <a:endParaRPr lang="en-US" altLang="zh-CN" sz="1200" dirty="0"/>
          </a:p>
          <a:p>
            <a:pPr marL="285750" indent="-285750">
              <a:buFontTx/>
              <a:buChar char="-"/>
            </a:pPr>
            <a:r>
              <a:rPr lang="zh-CN" altLang="en-US" sz="1200" dirty="0"/>
              <a:t>土壤有机氮（</a:t>
            </a:r>
            <a:r>
              <a:rPr lang="en-US" altLang="zh-CN" sz="1200" dirty="0"/>
              <a:t>TSON</a:t>
            </a:r>
            <a:r>
              <a:rPr lang="zh-CN" altLang="en-US" sz="1200" dirty="0"/>
              <a:t>）</a:t>
            </a:r>
            <a:r>
              <a:rPr lang="en-US" altLang="zh-CN" sz="1200" dirty="0"/>
              <a:t>= 0 kg/ha </a:t>
            </a:r>
            <a:r>
              <a:rPr lang="zh-CN" altLang="en-US" sz="1200" dirty="0"/>
              <a:t>：土壤中有机态氮含量</a:t>
            </a:r>
            <a:endParaRPr lang="en-US" altLang="zh-CN" sz="1200" dirty="0"/>
          </a:p>
          <a:p>
            <a:pPr marL="285750" indent="-285750">
              <a:buFontTx/>
              <a:buChar char="-"/>
            </a:pPr>
            <a:r>
              <a:rPr lang="zh-CN" altLang="en-US" sz="1200" dirty="0"/>
              <a:t>土壤有机碳（</a:t>
            </a:r>
            <a:r>
              <a:rPr lang="en-US" altLang="zh-CN" sz="1200" dirty="0"/>
              <a:t>TSOC</a:t>
            </a:r>
            <a:r>
              <a:rPr lang="zh-CN" altLang="en-US" sz="1200" dirty="0"/>
              <a:t>）</a:t>
            </a:r>
            <a:r>
              <a:rPr lang="en-US" altLang="zh-CN" sz="1200" dirty="0"/>
              <a:t>= 26 t/ha </a:t>
            </a:r>
            <a:r>
              <a:rPr lang="zh-CN" altLang="en-US" sz="1200" dirty="0"/>
              <a:t>：土壤中有机碳含量</a:t>
            </a:r>
          </a:p>
        </p:txBody>
      </p:sp>
      <p:sp>
        <p:nvSpPr>
          <p:cNvPr id="23" name="AutoShape 14">
            <a:extLst>
              <a:ext uri="{FF2B5EF4-FFF2-40B4-BE49-F238E27FC236}">
                <a16:creationId xmlns:a16="http://schemas.microsoft.com/office/drawing/2014/main" id="{D5250C8D-6CC8-1C38-4A00-6504032A2961}"/>
              </a:ext>
            </a:extLst>
          </p:cNvPr>
          <p:cNvSpPr/>
          <p:nvPr/>
        </p:nvSpPr>
        <p:spPr>
          <a:xfrm>
            <a:off x="4440681" y="2158655"/>
            <a:ext cx="3959467" cy="4109307"/>
          </a:xfrm>
          <a:prstGeom prst="roundRect">
            <a:avLst>
              <a:gd name="adj" fmla="val 0"/>
            </a:avLst>
          </a:prstGeom>
          <a:solidFill>
            <a:srgbClr val="2496ED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25" name="AutoShape 14">
            <a:extLst>
              <a:ext uri="{FF2B5EF4-FFF2-40B4-BE49-F238E27FC236}">
                <a16:creationId xmlns:a16="http://schemas.microsoft.com/office/drawing/2014/main" id="{5F914265-A9E1-1CBC-08F8-40D27F2406D3}"/>
              </a:ext>
            </a:extLst>
          </p:cNvPr>
          <p:cNvSpPr/>
          <p:nvPr/>
        </p:nvSpPr>
        <p:spPr>
          <a:xfrm>
            <a:off x="8794750" y="2158654"/>
            <a:ext cx="2381250" cy="4109307"/>
          </a:xfrm>
          <a:prstGeom prst="roundRect">
            <a:avLst>
              <a:gd name="adj" fmla="val 0"/>
            </a:avLst>
          </a:prstGeom>
          <a:solidFill>
            <a:srgbClr val="2496ED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30FC620-9D94-5ACF-938C-0E1CF15F246A}"/>
              </a:ext>
            </a:extLst>
          </p:cNvPr>
          <p:cNvSpPr txBox="1"/>
          <p:nvPr/>
        </p:nvSpPr>
        <p:spPr>
          <a:xfrm>
            <a:off x="8822873" y="2158654"/>
            <a:ext cx="199208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结果分析：</a:t>
            </a:r>
            <a:endParaRPr lang="en-US" altLang="zh-CN" b="1" dirty="0"/>
          </a:p>
          <a:p>
            <a:endParaRPr lang="en-US" altLang="zh-CN" dirty="0"/>
          </a:p>
          <a:p>
            <a:r>
              <a:rPr lang="zh-CN" altLang="en-US" dirty="0"/>
              <a:t>种植后</a:t>
            </a:r>
            <a:r>
              <a:rPr lang="en-US" altLang="zh-CN" dirty="0"/>
              <a:t>23</a:t>
            </a:r>
            <a:r>
              <a:rPr lang="zh-CN" altLang="en-US" dirty="0"/>
              <a:t>天开花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总生物量：</a:t>
            </a:r>
            <a:r>
              <a:rPr lang="en-US" altLang="zh-CN" dirty="0"/>
              <a:t>1804 kg/ha</a:t>
            </a:r>
          </a:p>
          <a:p>
            <a:endParaRPr lang="en-US" altLang="zh-CN" dirty="0"/>
          </a:p>
          <a:p>
            <a:r>
              <a:rPr lang="zh-CN" altLang="en-US" dirty="0"/>
              <a:t>收获产量：</a:t>
            </a:r>
            <a:r>
              <a:rPr lang="en-US" altLang="zh-CN" dirty="0"/>
              <a:t>52 kg/ha</a:t>
            </a:r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0" name="Connector 10"/>
          <p:cNvCxnSpPr/>
          <p:nvPr/>
        </p:nvCxnSpPr>
        <p:spPr>
          <a:xfrm rot="5390708">
            <a:off x="4381500" y="4121159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496ED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5" name="Connector 15"/>
          <p:cNvCxnSpPr/>
          <p:nvPr/>
        </p:nvCxnSpPr>
        <p:spPr>
          <a:xfrm rot="-22178">
            <a:off x="7112020" y="4756150"/>
            <a:ext cx="1968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496ED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Connector 20"/>
          <p:cNvCxnSpPr/>
          <p:nvPr/>
        </p:nvCxnSpPr>
        <p:spPr>
          <a:xfrm rot="-22178">
            <a:off x="9461520" y="4756150"/>
            <a:ext cx="1968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496ED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Shape 7">
            <a:extLst>
              <a:ext uri="{FF2B5EF4-FFF2-40B4-BE49-F238E27FC236}">
                <a16:creationId xmlns:a16="http://schemas.microsoft.com/office/drawing/2014/main" id="{69FE8B85-5513-4FA2-D83A-608E9D31A505}"/>
              </a:ext>
            </a:extLst>
          </p:cNvPr>
          <p:cNvSpPr/>
          <p:nvPr/>
        </p:nvSpPr>
        <p:spPr>
          <a:xfrm>
            <a:off x="566928" y="1225296"/>
            <a:ext cx="3703320" cy="4892040"/>
          </a:xfrm>
          <a:prstGeom prst="roundRect">
            <a:avLst>
              <a:gd name="adj" fmla="val 3210"/>
            </a:avLst>
          </a:prstGeom>
          <a:solidFill>
            <a:srgbClr val="FFFFFF"/>
          </a:solidFill>
          <a:ln w="8255">
            <a:solidFill>
              <a:srgbClr val="BDECF4"/>
            </a:solidFill>
            <a:prstDash val="solid"/>
          </a:ln>
          <a:effectLst>
            <a:outerShdw blurRad="15240" dist="50800" dir="2700000" algn="bl" rotWithShape="0">
              <a:srgbClr val="B6DCE4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5" name="图片 32">
            <a:extLst>
              <a:ext uri="{FF2B5EF4-FFF2-40B4-BE49-F238E27FC236}">
                <a16:creationId xmlns:a16="http://schemas.microsoft.com/office/drawing/2014/main" id="{4A84A2E1-129B-554E-B2FA-F269BC7970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269" y="1335987"/>
            <a:ext cx="3537675" cy="4415589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999BDC61-FBE6-93D9-1565-0D222DC834AC}"/>
              </a:ext>
            </a:extLst>
          </p:cNvPr>
          <p:cNvSpPr txBox="1"/>
          <p:nvPr/>
        </p:nvSpPr>
        <p:spPr>
          <a:xfrm>
            <a:off x="1643449" y="5751576"/>
            <a:ext cx="11608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164E63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动态演示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30" name="Shape 10">
            <a:extLst>
              <a:ext uri="{FF2B5EF4-FFF2-40B4-BE49-F238E27FC236}">
                <a16:creationId xmlns:a16="http://schemas.microsoft.com/office/drawing/2014/main" id="{DB5E07CF-DCBA-176E-8537-F9B49877CA2C}"/>
              </a:ext>
            </a:extLst>
          </p:cNvPr>
          <p:cNvSpPr/>
          <p:nvPr/>
        </p:nvSpPr>
        <p:spPr>
          <a:xfrm>
            <a:off x="4526280" y="1225296"/>
            <a:ext cx="3364992" cy="2221992"/>
          </a:xfrm>
          <a:prstGeom prst="roundRect">
            <a:avLst>
              <a:gd name="adj" fmla="val 5350"/>
            </a:avLst>
          </a:prstGeom>
          <a:solidFill>
            <a:srgbClr val="FFFFFF"/>
          </a:solidFill>
          <a:ln w="8255">
            <a:solidFill>
              <a:srgbClr val="BDECF4"/>
            </a:solidFill>
            <a:prstDash val="solid"/>
          </a:ln>
          <a:effectLst>
            <a:outerShdw blurRad="15240" dist="50800" dir="2700000" algn="bl" rotWithShape="0">
              <a:srgbClr val="B6DCE4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2" name="Image 1" descr="c:\Users\R9000P\.trae-cn\attachments\6a44a72a3863ec4f600976df\cf0e74f9-5bd6-4ddd-8cc0-ec2812b86175_UFBA1401_根系深度变化.png">
            <a:extLst>
              <a:ext uri="{FF2B5EF4-FFF2-40B4-BE49-F238E27FC236}">
                <a16:creationId xmlns:a16="http://schemas.microsoft.com/office/drawing/2014/main" id="{DF740078-DAD7-5B37-6A80-50074C9591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599432" y="1298448"/>
            <a:ext cx="3218688" cy="1830629"/>
          </a:xfrm>
          <a:prstGeom prst="rect">
            <a:avLst/>
          </a:prstGeom>
        </p:spPr>
      </p:pic>
      <p:sp>
        <p:nvSpPr>
          <p:cNvPr id="34" name="Text 12">
            <a:extLst>
              <a:ext uri="{FF2B5EF4-FFF2-40B4-BE49-F238E27FC236}">
                <a16:creationId xmlns:a16="http://schemas.microsoft.com/office/drawing/2014/main" id="{0AC60372-A62E-6C40-726D-1D774ACE82E9}"/>
              </a:ext>
            </a:extLst>
          </p:cNvPr>
          <p:cNvSpPr/>
          <p:nvPr/>
        </p:nvSpPr>
        <p:spPr>
          <a:xfrm>
            <a:off x="4672584" y="3172968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根系深度变化</a:t>
            </a:r>
            <a:endParaRPr lang="en-US" sz="950" dirty="0"/>
          </a:p>
        </p:txBody>
      </p:sp>
      <p:sp>
        <p:nvSpPr>
          <p:cNvPr id="36" name="Shape 16">
            <a:extLst>
              <a:ext uri="{FF2B5EF4-FFF2-40B4-BE49-F238E27FC236}">
                <a16:creationId xmlns:a16="http://schemas.microsoft.com/office/drawing/2014/main" id="{4C8603CF-E2B1-22A6-8611-0DD1D5B4DC81}"/>
              </a:ext>
            </a:extLst>
          </p:cNvPr>
          <p:cNvSpPr/>
          <p:nvPr/>
        </p:nvSpPr>
        <p:spPr>
          <a:xfrm>
            <a:off x="4526280" y="3895344"/>
            <a:ext cx="3364992" cy="2221992"/>
          </a:xfrm>
          <a:prstGeom prst="roundRect">
            <a:avLst>
              <a:gd name="adj" fmla="val 5350"/>
            </a:avLst>
          </a:prstGeom>
          <a:solidFill>
            <a:srgbClr val="FFFFFF"/>
          </a:solidFill>
          <a:ln w="8255">
            <a:solidFill>
              <a:srgbClr val="BDECF4"/>
            </a:solidFill>
            <a:prstDash val="solid"/>
          </a:ln>
          <a:effectLst>
            <a:outerShdw blurRad="15240" dist="50800" dir="2700000" algn="bl" rotWithShape="0">
              <a:srgbClr val="B6DCE4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8" name="Image 3" descr="c:\Users\R9000P\.trae-cn\attachments\6a44a72a3863ec4f600976df\d17388bc-b3ed-4881-86bf-c0e060f14931_UFBA1401_生物量变化.png">
            <a:extLst>
              <a:ext uri="{FF2B5EF4-FFF2-40B4-BE49-F238E27FC236}">
                <a16:creationId xmlns:a16="http://schemas.microsoft.com/office/drawing/2014/main" id="{95C09D29-7F7C-F133-0737-87D64BEBEFE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599432" y="3968496"/>
            <a:ext cx="3218688" cy="1830629"/>
          </a:xfrm>
          <a:prstGeom prst="rect">
            <a:avLst/>
          </a:prstGeom>
        </p:spPr>
      </p:pic>
      <p:sp>
        <p:nvSpPr>
          <p:cNvPr id="40" name="Text 18">
            <a:extLst>
              <a:ext uri="{FF2B5EF4-FFF2-40B4-BE49-F238E27FC236}">
                <a16:creationId xmlns:a16="http://schemas.microsoft.com/office/drawing/2014/main" id="{7935F90A-6C90-CCCA-A562-C17E6466FB7C}"/>
              </a:ext>
            </a:extLst>
          </p:cNvPr>
          <p:cNvSpPr/>
          <p:nvPr/>
        </p:nvSpPr>
        <p:spPr>
          <a:xfrm>
            <a:off x="4672584" y="5843016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生物量变化</a:t>
            </a:r>
            <a:endParaRPr lang="en-US" sz="950" dirty="0"/>
          </a:p>
        </p:txBody>
      </p:sp>
      <p:sp>
        <p:nvSpPr>
          <p:cNvPr id="42" name="Shape 13">
            <a:extLst>
              <a:ext uri="{FF2B5EF4-FFF2-40B4-BE49-F238E27FC236}">
                <a16:creationId xmlns:a16="http://schemas.microsoft.com/office/drawing/2014/main" id="{3883A917-E2DC-21FB-9FBA-1E75393ECE4A}"/>
              </a:ext>
            </a:extLst>
          </p:cNvPr>
          <p:cNvSpPr/>
          <p:nvPr/>
        </p:nvSpPr>
        <p:spPr>
          <a:xfrm>
            <a:off x="8183880" y="1225296"/>
            <a:ext cx="3364992" cy="2221992"/>
          </a:xfrm>
          <a:prstGeom prst="roundRect">
            <a:avLst>
              <a:gd name="adj" fmla="val 5350"/>
            </a:avLst>
          </a:prstGeom>
          <a:solidFill>
            <a:srgbClr val="FFFFFF"/>
          </a:solidFill>
          <a:ln w="8255">
            <a:solidFill>
              <a:srgbClr val="BDECF4"/>
            </a:solidFill>
            <a:prstDash val="solid"/>
          </a:ln>
          <a:effectLst>
            <a:outerShdw blurRad="15240" dist="50800" dir="2700000" algn="bl" rotWithShape="0">
              <a:srgbClr val="B6DCE4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44" name="Image 2" descr="c:\Users\R9000P\.trae-cn\attachments\6a44a72a3863ec4f600976df\1d1aef3e-069a-4ed1-9fbc-9bd9a6d3e54a_UFBA1401_光合速率变化.png">
            <a:extLst>
              <a:ext uri="{FF2B5EF4-FFF2-40B4-BE49-F238E27FC236}">
                <a16:creationId xmlns:a16="http://schemas.microsoft.com/office/drawing/2014/main" id="{EEF2C10B-2391-C5EB-E79C-AD88F4C6847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257032" y="1298448"/>
            <a:ext cx="3218688" cy="1830629"/>
          </a:xfrm>
          <a:prstGeom prst="rect">
            <a:avLst/>
          </a:prstGeom>
        </p:spPr>
      </p:pic>
      <p:sp>
        <p:nvSpPr>
          <p:cNvPr id="46" name="Text 15">
            <a:extLst>
              <a:ext uri="{FF2B5EF4-FFF2-40B4-BE49-F238E27FC236}">
                <a16:creationId xmlns:a16="http://schemas.microsoft.com/office/drawing/2014/main" id="{402C548C-D7C3-FB85-DC0F-5FF9C1130200}"/>
              </a:ext>
            </a:extLst>
          </p:cNvPr>
          <p:cNvSpPr/>
          <p:nvPr/>
        </p:nvSpPr>
        <p:spPr>
          <a:xfrm>
            <a:off x="8330184" y="3172968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光合速率变化</a:t>
            </a:r>
            <a:endParaRPr lang="en-US" sz="950" dirty="0"/>
          </a:p>
        </p:txBody>
      </p:sp>
      <p:sp>
        <p:nvSpPr>
          <p:cNvPr id="48" name="Shape 19">
            <a:extLst>
              <a:ext uri="{FF2B5EF4-FFF2-40B4-BE49-F238E27FC236}">
                <a16:creationId xmlns:a16="http://schemas.microsoft.com/office/drawing/2014/main" id="{99B64CFF-E30C-D8AD-19C8-16017D05773E}"/>
              </a:ext>
            </a:extLst>
          </p:cNvPr>
          <p:cNvSpPr/>
          <p:nvPr/>
        </p:nvSpPr>
        <p:spPr>
          <a:xfrm>
            <a:off x="8183880" y="3895344"/>
            <a:ext cx="3364992" cy="2221992"/>
          </a:xfrm>
          <a:prstGeom prst="roundRect">
            <a:avLst>
              <a:gd name="adj" fmla="val 5350"/>
            </a:avLst>
          </a:prstGeom>
          <a:solidFill>
            <a:srgbClr val="FFFFFF"/>
          </a:solidFill>
          <a:ln w="8255">
            <a:solidFill>
              <a:srgbClr val="BDECF4"/>
            </a:solidFill>
            <a:prstDash val="solid"/>
          </a:ln>
          <a:effectLst>
            <a:outerShdw blurRad="15240" dist="50800" dir="2700000" algn="bl" rotWithShape="0">
              <a:srgbClr val="B6DCE4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0" name="Image 4" descr="c:\Users\R9000P\.trae-cn\attachments\6a44a72a3863ec4f600976df\f63c40d2-f270-467b-b7c4-968e44008c5a_UFBA1401_叶面积指数变化.png">
            <a:extLst>
              <a:ext uri="{FF2B5EF4-FFF2-40B4-BE49-F238E27FC236}">
                <a16:creationId xmlns:a16="http://schemas.microsoft.com/office/drawing/2014/main" id="{C4838DD5-8F0B-9C1D-1817-0C76711C0B3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257032" y="3968496"/>
            <a:ext cx="3218688" cy="1830629"/>
          </a:xfrm>
          <a:prstGeom prst="rect">
            <a:avLst/>
          </a:prstGeom>
        </p:spPr>
      </p:pic>
      <p:sp>
        <p:nvSpPr>
          <p:cNvPr id="52" name="Text 21">
            <a:extLst>
              <a:ext uri="{FF2B5EF4-FFF2-40B4-BE49-F238E27FC236}">
                <a16:creationId xmlns:a16="http://schemas.microsoft.com/office/drawing/2014/main" id="{2F9CB54D-0A78-E189-93EB-75D83A635E4A}"/>
              </a:ext>
            </a:extLst>
          </p:cNvPr>
          <p:cNvSpPr/>
          <p:nvPr/>
        </p:nvSpPr>
        <p:spPr>
          <a:xfrm>
            <a:off x="8330184" y="5843016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叶面积指数变化</a:t>
            </a:r>
            <a:endParaRPr lang="en-US" sz="950" dirty="0"/>
          </a:p>
        </p:txBody>
      </p:sp>
      <p:sp>
        <p:nvSpPr>
          <p:cNvPr id="54" name="Text 4">
            <a:extLst>
              <a:ext uri="{FF2B5EF4-FFF2-40B4-BE49-F238E27FC236}">
                <a16:creationId xmlns:a16="http://schemas.microsoft.com/office/drawing/2014/main" id="{018D01CC-3C21-906A-2690-601BA4D97FF4}"/>
              </a:ext>
            </a:extLst>
          </p:cNvPr>
          <p:cNvSpPr/>
          <p:nvPr/>
        </p:nvSpPr>
        <p:spPr>
          <a:xfrm>
            <a:off x="502920" y="256032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UFBA1401</a:t>
            </a:r>
            <a:endParaRPr lang="en-US" sz="2500" dirty="0"/>
          </a:p>
        </p:txBody>
      </p:sp>
      <p:sp>
        <p:nvSpPr>
          <p:cNvPr id="56" name="Text 5">
            <a:extLst>
              <a:ext uri="{FF2B5EF4-FFF2-40B4-BE49-F238E27FC236}">
                <a16:creationId xmlns:a16="http://schemas.microsoft.com/office/drawing/2014/main" id="{17AB4D16-0D7C-627C-5944-D02C50201831}"/>
              </a:ext>
            </a:extLst>
          </p:cNvPr>
          <p:cNvSpPr/>
          <p:nvPr/>
        </p:nvSpPr>
        <p:spPr>
          <a:xfrm>
            <a:off x="530352" y="749808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动态演示与指标变化</a:t>
            </a:r>
            <a:endParaRPr lang="en-US" sz="850" dirty="0"/>
          </a:p>
        </p:txBody>
      </p:sp>
      <p:sp>
        <p:nvSpPr>
          <p:cNvPr id="58" name="Shape 6">
            <a:extLst>
              <a:ext uri="{FF2B5EF4-FFF2-40B4-BE49-F238E27FC236}">
                <a16:creationId xmlns:a16="http://schemas.microsoft.com/office/drawing/2014/main" id="{018351E9-E82A-25AA-1645-BCF44ADFF2BE}"/>
              </a:ext>
            </a:extLst>
          </p:cNvPr>
          <p:cNvSpPr/>
          <p:nvPr/>
        </p:nvSpPr>
        <p:spPr>
          <a:xfrm>
            <a:off x="530352" y="1024128"/>
            <a:ext cx="123444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5080000" y="5080000"/>
            <a:ext cx="660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Q&amp;A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0000" y="5969000"/>
            <a:ext cx="660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2496ED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 · 欢迎提问交流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1889</Words>
  <Application>Microsoft Office PowerPoint</Application>
  <PresentationFormat>宽屏</PresentationFormat>
  <Paragraphs>206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1" baseType="lpstr">
      <vt:lpstr>Noto Sans SC</vt:lpstr>
      <vt:lpstr>Microsoft YaHei</vt:lpstr>
      <vt:lpstr>Arial</vt:lpstr>
      <vt:lpstr>Roboto Mono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奇阳 保</cp:lastModifiedBy>
  <cp:revision>6</cp:revision>
  <dcterms:modified xsi:type="dcterms:W3CDTF">2026-07-02T01:07:19Z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{"Label":"1","ContentProducer":"001191110102MACQD9K64010000","ProduceID":"7657457952249301969","ReservedCode1":"","ContentPropagator":"","PropagateID":"","ReservedCode2":""}</vt:lpwstr>
  </property>
</Properties>
</file>